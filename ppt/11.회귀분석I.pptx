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5" r:id="rId39"/>
    <p:sldId id="293" r:id="rId40"/>
    <p:sldId id="294" r:id="rId4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EF9C2-1EBB-40DE-88AC-53E7813EF6E9}" type="datetimeFigureOut">
              <a:rPr lang="ko-KR" altLang="en-US" smtClean="0"/>
              <a:t>2016-06-01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AF296-F700-419A-9105-8C5AF70DF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3746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EF9C2-1EBB-40DE-88AC-53E7813EF6E9}" type="datetimeFigureOut">
              <a:rPr lang="ko-KR" altLang="en-US" smtClean="0"/>
              <a:t>2016-06-01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AF296-F700-419A-9105-8C5AF70DF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7257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EF9C2-1EBB-40DE-88AC-53E7813EF6E9}" type="datetimeFigureOut">
              <a:rPr lang="ko-KR" altLang="en-US" smtClean="0"/>
              <a:t>2016-06-01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AF296-F700-419A-9105-8C5AF70DF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700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EF9C2-1EBB-40DE-88AC-53E7813EF6E9}" type="datetimeFigureOut">
              <a:rPr lang="ko-KR" altLang="en-US" smtClean="0"/>
              <a:t>2016-06-01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AF296-F700-419A-9105-8C5AF70DF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165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EF9C2-1EBB-40DE-88AC-53E7813EF6E9}" type="datetimeFigureOut">
              <a:rPr lang="ko-KR" altLang="en-US" smtClean="0"/>
              <a:t>2016-06-01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AF296-F700-419A-9105-8C5AF70DF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762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EF9C2-1EBB-40DE-88AC-53E7813EF6E9}" type="datetimeFigureOut">
              <a:rPr lang="ko-KR" altLang="en-US" smtClean="0"/>
              <a:t>2016-06-01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AF296-F700-419A-9105-8C5AF70DF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0295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EF9C2-1EBB-40DE-88AC-53E7813EF6E9}" type="datetimeFigureOut">
              <a:rPr lang="ko-KR" altLang="en-US" smtClean="0"/>
              <a:t>2016-06-01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AF296-F700-419A-9105-8C5AF70DF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594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EF9C2-1EBB-40DE-88AC-53E7813EF6E9}" type="datetimeFigureOut">
              <a:rPr lang="ko-KR" altLang="en-US" smtClean="0"/>
              <a:t>2016-06-01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AF296-F700-419A-9105-8C5AF70DF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7878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EF9C2-1EBB-40DE-88AC-53E7813EF6E9}" type="datetimeFigureOut">
              <a:rPr lang="ko-KR" altLang="en-US" smtClean="0"/>
              <a:t>2016-06-01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AF296-F700-419A-9105-8C5AF70DF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000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EF9C2-1EBB-40DE-88AC-53E7813EF6E9}" type="datetimeFigureOut">
              <a:rPr lang="ko-KR" altLang="en-US" smtClean="0"/>
              <a:t>2016-06-01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AF296-F700-419A-9105-8C5AF70DF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0455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EF9C2-1EBB-40DE-88AC-53E7813EF6E9}" type="datetimeFigureOut">
              <a:rPr lang="ko-KR" altLang="en-US" smtClean="0"/>
              <a:t>2016-06-01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AF296-F700-419A-9105-8C5AF70DF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8262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0EF9C2-1EBB-40DE-88AC-53E7813EF6E9}" type="datetimeFigureOut">
              <a:rPr lang="ko-KR" altLang="en-US" smtClean="0"/>
              <a:t>2016-06-01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EAF296-F700-419A-9105-8C5AF70DF3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765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11. </a:t>
            </a:r>
            <a:r>
              <a:rPr lang="ko-KR" altLang="en-US" dirty="0" smtClean="0"/>
              <a:t>회귀분석 </a:t>
            </a:r>
            <a:r>
              <a:rPr lang="en-US" altLang="ko-KR" dirty="0" smtClean="0"/>
              <a:t>I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단순선형회귀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8556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서론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두 개 이상의 변수를 관측할 때</a:t>
            </a:r>
            <a:endParaRPr lang="en-US" altLang="ko-KR" dirty="0" smtClean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dirty="0" smtClean="0"/>
              <a:t>변수들이 서로 관계가 있는가</a:t>
            </a:r>
            <a:r>
              <a:rPr lang="en-US" altLang="ko-KR" dirty="0" smtClean="0"/>
              <a:t>?</a:t>
            </a:r>
          </a:p>
          <a:p>
            <a:pPr marL="914400" lvl="1" indent="-457200">
              <a:buFont typeface="+mj-lt"/>
              <a:buAutoNum type="arabicPeriod"/>
            </a:pPr>
            <a:r>
              <a:rPr lang="ko-KR" altLang="en-US" dirty="0" smtClean="0"/>
              <a:t>관계가 있다면 얼마나 밀접한 관계인가</a:t>
            </a:r>
            <a:r>
              <a:rPr lang="en-US" altLang="ko-KR" dirty="0" smtClean="0"/>
              <a:t>?</a:t>
            </a:r>
          </a:p>
          <a:p>
            <a:pPr marL="914400" lvl="1" indent="-457200">
              <a:buFont typeface="+mj-lt"/>
              <a:buAutoNum type="arabicPeriod"/>
            </a:pPr>
            <a:r>
              <a:rPr lang="ko-KR" altLang="en-US" dirty="0" smtClean="0"/>
              <a:t>관심이 있는 하나의 변수가 다른 변수들의 </a:t>
            </a:r>
            <a:r>
              <a:rPr lang="ko-KR" altLang="en-US" dirty="0" err="1" smtClean="0"/>
              <a:t>관측값에</a:t>
            </a:r>
            <a:r>
              <a:rPr lang="ko-KR" altLang="en-US" dirty="0" smtClean="0"/>
              <a:t> 의해 예측될 수 있는가</a:t>
            </a:r>
            <a:r>
              <a:rPr lang="en-US" altLang="ko-KR" dirty="0" smtClean="0"/>
              <a:t>?</a:t>
            </a:r>
          </a:p>
          <a:p>
            <a:r>
              <a:rPr lang="ko-KR" altLang="en-US" b="1" dirty="0" smtClean="0"/>
              <a:t>회귀분석</a:t>
            </a:r>
            <a:r>
              <a:rPr lang="en-US" altLang="ko-KR" dirty="0" smtClean="0"/>
              <a:t>(regression analysis)</a:t>
            </a:r>
            <a:r>
              <a:rPr lang="ko-KR" altLang="en-US" dirty="0" smtClean="0"/>
              <a:t>의 목적은 예측과 여러 가지 통계적 추론에 필요한 모형을 설정하기 위하여 수치적 변수 사이에 관계를 연구하는 것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2517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예제</a:t>
            </a:r>
            <a:r>
              <a:rPr lang="en-US" altLang="ko-KR" dirty="0" smtClean="0"/>
              <a:t>: </a:t>
            </a:r>
            <a:r>
              <a:rPr lang="ko-KR" altLang="en-US" dirty="0" smtClean="0"/>
              <a:t>불규칙 확률에 의한 직선모형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상품의 생산 비용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dirty="0" smtClean="0"/>
                  <a:t>와 상품 크기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 smtClean="0"/>
                  <a:t>의 관계</a:t>
                </a:r>
                <a:endParaRPr lang="en-US" altLang="ko-KR" dirty="0" smtClean="0"/>
              </a:p>
              <a:p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ko-KR" dirty="0" smtClean="0"/>
                  <a:t> : </a:t>
                </a:r>
                <a:r>
                  <a:rPr lang="ko-KR" altLang="en-US" dirty="0" smtClean="0"/>
                  <a:t>고정비용</a:t>
                </a:r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건물 사용료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관리자 급여 등 상품 크기에 관계 없는 공정비용</a:t>
                </a:r>
                <a:endParaRPr lang="en-US" altLang="ko-KR" dirty="0" smtClean="0"/>
              </a:p>
              <a:p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ko-KR" dirty="0" smtClean="0"/>
                  <a:t> </a:t>
                </a:r>
              </a:p>
              <a:p>
                <a:pPr lvl="1"/>
                <a:r>
                  <a:rPr lang="en-US" altLang="ko-KR" dirty="0" smtClean="0"/>
                  <a:t>1</a:t>
                </a:r>
                <a:r>
                  <a:rPr lang="ko-KR" altLang="en-US" dirty="0" smtClean="0"/>
                  <a:t>개의 상품에 관계되는 비용</a:t>
                </a:r>
                <a:endParaRPr lang="en-US" altLang="ko-KR" dirty="0" smtClean="0"/>
              </a:p>
              <a:p>
                <a:r>
                  <a:rPr lang="ko-KR" altLang="en-US" dirty="0"/>
                  <a:t>생</a:t>
                </a:r>
                <a14:m>
                  <m:oMath xmlns:m="http://schemas.openxmlformats.org/officeDocument/2006/math"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산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비</m:t>
                    </m:r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용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은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다</m:t>
                    </m:r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음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과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같</m:t>
                    </m:r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이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표</m:t>
                    </m:r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시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수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있</m:t>
                    </m:r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다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altLang="ko-KR" b="0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altLang="ko-KR" b="0" i="1" dirty="0" smtClean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altLang="ko-KR" i="1" dirty="0" err="1" smtClean="0">
                        <a:latin typeface="Cambria Math" panose="02040503050406030204" pitchFamily="18" charset="0"/>
                      </a:rPr>
                      <m:t>𝐶𝑥</m:t>
                    </m:r>
                  </m:oMath>
                </a14:m>
                <a:endParaRPr lang="en-US" altLang="ko-KR" dirty="0" smtClean="0"/>
              </a:p>
              <a:p>
                <a:r>
                  <a:rPr lang="ko-KR" altLang="en-US" dirty="0" smtClean="0"/>
                  <a:t>실제로는 예기치 못한 요소들이 생산 비용에 영향을 미침</a:t>
                </a:r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실험 자료의 통계적 분석을 통해서 조사</a:t>
                </a:r>
                <a:endParaRPr lang="en-US" altLang="ko-KR" dirty="0" smtClean="0"/>
              </a:p>
              <a:p>
                <a:endParaRPr lang="en-US" altLang="ko-KR" dirty="0" smtClean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7884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300" dirty="0" smtClean="0"/>
              <a:t>예제</a:t>
            </a:r>
            <a:r>
              <a:rPr lang="en-US" altLang="ko-KR" spc="-300" dirty="0" smtClean="0"/>
              <a:t>: </a:t>
            </a:r>
            <a:r>
              <a:rPr lang="ko-KR" altLang="en-US" spc="-300" dirty="0" smtClean="0"/>
              <a:t>증가관계는 기대하나 직선이 아닌 경우</a:t>
            </a:r>
            <a:endParaRPr lang="ko-KR" altLang="en-US" spc="-3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어떤 비료의 사용량과 토마토 수확량의 관계를 연구</a:t>
            </a:r>
            <a:endParaRPr lang="en-US" altLang="ko-KR" dirty="0" smtClean="0"/>
          </a:p>
          <a:p>
            <a:r>
              <a:rPr lang="ko-KR" altLang="en-US" dirty="0" smtClean="0"/>
              <a:t>토지의 비옥도나 배수 등 수확량에 미치는 기타의 환경이 비교적 동일한 몇 군데 경작지를 선정하여 조사</a:t>
            </a:r>
            <a:endParaRPr lang="en-US" altLang="ko-KR" dirty="0" smtClean="0"/>
          </a:p>
          <a:p>
            <a:r>
              <a:rPr lang="ko-KR" altLang="en-US" dirty="0" smtClean="0"/>
              <a:t>비료의 사용량에 따라 수확량이 다르지만 수학적 공식처럼 명확하지는 않음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466892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300" dirty="0" smtClean="0"/>
              <a:t>예제</a:t>
            </a:r>
            <a:r>
              <a:rPr lang="en-US" altLang="ko-KR" spc="-300" dirty="0" smtClean="0"/>
              <a:t>: </a:t>
            </a:r>
            <a:r>
              <a:rPr lang="ko-KR" altLang="en-US" spc="-300" dirty="0" err="1" smtClean="0"/>
              <a:t>산점도가</a:t>
            </a:r>
            <a:r>
              <a:rPr lang="ko-KR" altLang="en-US" spc="-300" dirty="0" smtClean="0"/>
              <a:t> 경험적 관계를 나타내는 경우</a:t>
            </a:r>
            <a:endParaRPr lang="ko-KR" altLang="en-US" spc="-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훈련을 받은 사람의 기능은 훈련 기간과 훈련 프로그램에 따라 다름</a:t>
                </a:r>
                <a:endParaRPr lang="en-US" altLang="ko-KR" dirty="0" smtClean="0"/>
              </a:p>
              <a:p>
                <a:r>
                  <a:rPr lang="ko-KR" altLang="en-US" dirty="0" smtClean="0"/>
                  <a:t>훈련 프로그램의 효용성을 알기 위해 작업 성취도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dirty="0" smtClean="0"/>
                  <a:t>와 훈련기간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 smtClean="0"/>
                  <a:t>의 관계에 대해 실험을 통해 알아야 함</a:t>
                </a:r>
                <a:endParaRPr lang="en-US" altLang="ko-KR" dirty="0" smtClean="0"/>
              </a:p>
              <a:p>
                <a:r>
                  <a:rPr lang="ko-KR" altLang="en-US" dirty="0" smtClean="0"/>
                  <a:t>개인차를 무시할 수는 없으므로 그 관계를 명확히 인지하는 것은 어려움</a:t>
                </a:r>
                <a:endParaRPr lang="en-US" altLang="ko-KR" dirty="0" smtClean="0"/>
              </a:p>
              <a:p>
                <a:r>
                  <a:rPr lang="ko-KR" altLang="en-US" dirty="0" smtClean="0"/>
                  <a:t>그러나 두 변수에 대한 데이터를 분석함으로써 관계의 본질에 접근하고 훈련 프로그램을 개선할 수 있음</a:t>
                </a:r>
                <a:r>
                  <a:rPr lang="en-US" altLang="ko-KR" dirty="0" smtClean="0"/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 r="-11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7009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단일 예측변수를 가지는 회귀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두 변수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 smtClean="0"/>
                  <a:t>와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dirty="0" smtClean="0"/>
                  <a:t>사이의 관계를 연구하여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 smtClean="0"/>
                  <a:t>로부터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dirty="0" smtClean="0"/>
                  <a:t>를 예측하는데 사용</a:t>
                </a:r>
                <a:endParaRPr lang="en-US" altLang="ko-KR" dirty="0" smtClean="0"/>
              </a:p>
              <a:p>
                <a:r>
                  <a:rPr lang="ko-KR" altLang="en-US" dirty="0" smtClean="0"/>
                  <a:t>변수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 smtClean="0"/>
                  <a:t>는 독립변수의 역할을 하며 </a:t>
                </a:r>
                <a:r>
                  <a:rPr lang="ko-KR" altLang="en-US" dirty="0" err="1" smtClean="0"/>
                  <a:t>실험자에</a:t>
                </a:r>
                <a:r>
                  <a:rPr lang="ko-KR" altLang="en-US" dirty="0" smtClean="0"/>
                  <a:t> 의해 정해지는 값</a:t>
                </a:r>
                <a:endParaRPr lang="en-US" altLang="ko-KR" dirty="0" smtClean="0"/>
              </a:p>
              <a:p>
                <a:r>
                  <a:rPr lang="ko-KR" altLang="en-US" dirty="0" smtClean="0"/>
                  <a:t>변수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dirty="0" smtClean="0"/>
                  <a:t>는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 smtClean="0"/>
                  <a:t>에 종속하고 설명할 수 없는 변동과 오차를 포함</a:t>
                </a:r>
                <a:endParaRPr lang="en-US" altLang="ko-KR" dirty="0" smtClean="0"/>
              </a:p>
              <a:p>
                <a:endParaRPr lang="en-US" altLang="ko-KR" dirty="0"/>
              </a:p>
              <a:p>
                <a:r>
                  <a:rPr lang="ko-KR" altLang="en-US" dirty="0" smtClean="0"/>
                  <a:t>기호</a:t>
                </a:r>
                <a:endParaRPr lang="en-US" altLang="ko-KR" dirty="0" smtClean="0"/>
              </a:p>
              <a:p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dirty="0" smtClean="0"/>
                  <a:t> : </a:t>
                </a:r>
                <a:r>
                  <a:rPr lang="ko-KR" altLang="en-US" dirty="0" smtClean="0"/>
                  <a:t>독립변수</a:t>
                </a:r>
                <a:r>
                  <a:rPr lang="en-US" altLang="ko-KR" dirty="0" smtClean="0"/>
                  <a:t>(independent variable), </a:t>
                </a:r>
                <a:r>
                  <a:rPr lang="ko-KR" altLang="en-US" dirty="0" smtClean="0"/>
                  <a:t>예측변수</a:t>
                </a:r>
                <a:r>
                  <a:rPr lang="en-US" altLang="ko-KR" dirty="0" smtClean="0"/>
                  <a:t>(predictor variable), </a:t>
                </a:r>
                <a:r>
                  <a:rPr lang="ko-KR" altLang="en-US" dirty="0" smtClean="0"/>
                  <a:t>입력변수</a:t>
                </a:r>
                <a:r>
                  <a:rPr lang="en-US" altLang="ko-KR" dirty="0" smtClean="0"/>
                  <a:t>(input variable)</a:t>
                </a:r>
              </a:p>
              <a:p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dirty="0" smtClean="0"/>
                  <a:t> : </a:t>
                </a:r>
                <a:r>
                  <a:rPr lang="ko-KR" altLang="en-US" dirty="0" smtClean="0"/>
                  <a:t>종속변수</a:t>
                </a:r>
                <a:r>
                  <a:rPr lang="en-US" altLang="ko-KR" dirty="0" smtClean="0"/>
                  <a:t>(dependent variable), </a:t>
                </a:r>
                <a:r>
                  <a:rPr lang="ko-KR" altLang="en-US" dirty="0" smtClean="0"/>
                  <a:t>반응변수</a:t>
                </a:r>
                <a:r>
                  <a:rPr lang="en-US" altLang="ko-KR" dirty="0" smtClean="0"/>
                  <a:t>(response variable)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 r="-116" b="-29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8787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예제</a:t>
            </a:r>
            <a:r>
              <a:rPr lang="en-US" altLang="ko-KR" dirty="0" smtClean="0"/>
              <a:t>: </a:t>
            </a:r>
            <a:r>
              <a:rPr lang="ko-KR" altLang="en-US" dirty="0" smtClean="0"/>
              <a:t>복용량 알레르기의 증상 완화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727852" cy="4351338"/>
          </a:xfrm>
        </p:spPr>
        <p:txBody>
          <a:bodyPr>
            <a:normAutofit/>
          </a:bodyPr>
          <a:lstStyle/>
          <a:p>
            <a:r>
              <a:rPr lang="ko-KR" altLang="en-US" sz="2400" spc="-150" dirty="0" smtClean="0"/>
              <a:t>알레르기 약의 복용량 정도가 알레르기 증상의 경감 기간에 미치는 영향</a:t>
            </a:r>
            <a:endParaRPr lang="en-US" altLang="ko-KR" sz="2400" spc="-150" dirty="0" smtClean="0"/>
          </a:p>
          <a:p>
            <a:endParaRPr lang="en-US" altLang="ko-KR" sz="2400" spc="-150" dirty="0"/>
          </a:p>
          <a:p>
            <a:pPr marL="0" indent="0">
              <a:buNone/>
            </a:pPr>
            <a:endParaRPr lang="en-US" altLang="ko-KR" sz="2400" spc="-150" dirty="0" smtClean="0"/>
          </a:p>
          <a:p>
            <a:r>
              <a:rPr lang="en-US" altLang="ko-KR" sz="2400" spc="-150" dirty="0" smtClean="0"/>
              <a:t>x</a:t>
            </a:r>
            <a:r>
              <a:rPr lang="ko-KR" altLang="en-US" sz="2400" spc="-150" dirty="0" smtClean="0"/>
              <a:t>가 증가함에 따라 </a:t>
            </a:r>
            <a:r>
              <a:rPr lang="en-US" altLang="ko-KR" sz="2400" spc="-150" dirty="0" smtClean="0"/>
              <a:t>y</a:t>
            </a:r>
            <a:r>
              <a:rPr lang="ko-KR" altLang="en-US" sz="2400" spc="-150" dirty="0" smtClean="0"/>
              <a:t>도 일반적으로 증가하는 것을 알 수 있지만</a:t>
            </a:r>
            <a:r>
              <a:rPr lang="en-US" altLang="ko-KR" sz="2400" spc="-150" dirty="0" smtClean="0"/>
              <a:t>, x</a:t>
            </a:r>
            <a:r>
              <a:rPr lang="ko-KR" altLang="en-US" sz="2400" spc="-150" dirty="0" smtClean="0"/>
              <a:t>와 </a:t>
            </a:r>
            <a:r>
              <a:rPr lang="en-US" altLang="ko-KR" sz="2400" spc="-150" dirty="0" smtClean="0"/>
              <a:t>y</a:t>
            </a:r>
            <a:r>
              <a:rPr lang="ko-KR" altLang="en-US" sz="2400" spc="-150" dirty="0" smtClean="0"/>
              <a:t>의 관계에 대한 정보를 더 알아낼 필요가 있다</a:t>
            </a:r>
            <a:r>
              <a:rPr lang="en-US" altLang="ko-KR" sz="2400" spc="-150" dirty="0" smtClean="0"/>
              <a:t>.</a:t>
            </a:r>
            <a:endParaRPr lang="ko-KR" altLang="en-US" sz="2400" spc="-150" dirty="0"/>
          </a:p>
        </p:txBody>
      </p:sp>
      <p:sp>
        <p:nvSpPr>
          <p:cNvPr id="5" name="내용 개체 틀 4"/>
          <p:cNvSpPr>
            <a:spLocks noGrp="1"/>
          </p:cNvSpPr>
          <p:nvPr>
            <p:ph sz="half" idx="2"/>
          </p:nvPr>
        </p:nvSpPr>
        <p:spPr>
          <a:xfrm>
            <a:off x="7566052" y="1825625"/>
            <a:ext cx="378774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 smtClean="0"/>
              <a:t> 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065289"/>
              </p:ext>
            </p:extLst>
          </p:nvPr>
        </p:nvGraphicFramePr>
        <p:xfrm>
          <a:off x="7753070" y="2025489"/>
          <a:ext cx="3033614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6807"/>
                <a:gridCol w="1516807"/>
              </a:tblGrid>
              <a:tr h="2303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복용량 </a:t>
                      </a:r>
                      <a:r>
                        <a:rPr lang="en-US" altLang="ko-KR" sz="1400" dirty="0" smtClean="0"/>
                        <a:t>x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경감기간 </a:t>
                      </a:r>
                      <a:r>
                        <a:rPr lang="en-US" altLang="ko-KR" sz="1400" dirty="0" smtClean="0"/>
                        <a:t>y</a:t>
                      </a:r>
                      <a:endParaRPr lang="ko-KR" altLang="en-US" sz="1400" dirty="0"/>
                    </a:p>
                  </a:txBody>
                  <a:tcPr/>
                </a:tc>
              </a:tr>
              <a:tr h="2303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9</a:t>
                      </a:r>
                      <a:endParaRPr lang="ko-KR" altLang="en-US" sz="1400" dirty="0"/>
                    </a:p>
                  </a:txBody>
                  <a:tcPr/>
                </a:tc>
              </a:tr>
              <a:tr h="2303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5</a:t>
                      </a:r>
                      <a:endParaRPr lang="ko-KR" altLang="en-US" sz="1400" dirty="0"/>
                    </a:p>
                  </a:txBody>
                  <a:tcPr/>
                </a:tc>
              </a:tr>
              <a:tr h="2303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12</a:t>
                      </a:r>
                      <a:endParaRPr lang="ko-KR" altLang="en-US" sz="1400" dirty="0"/>
                    </a:p>
                  </a:txBody>
                  <a:tcPr/>
                </a:tc>
              </a:tr>
              <a:tr h="2303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9</a:t>
                      </a:r>
                      <a:endParaRPr lang="ko-KR" altLang="en-US" sz="1400" dirty="0"/>
                    </a:p>
                  </a:txBody>
                  <a:tcPr/>
                </a:tc>
              </a:tr>
              <a:tr h="2303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14</a:t>
                      </a:r>
                      <a:endParaRPr lang="ko-KR" altLang="en-US" sz="1400" dirty="0"/>
                    </a:p>
                  </a:txBody>
                  <a:tcPr/>
                </a:tc>
              </a:tr>
              <a:tr h="2303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16</a:t>
                      </a:r>
                      <a:endParaRPr lang="ko-KR" altLang="en-US" sz="1400" dirty="0"/>
                    </a:p>
                  </a:txBody>
                  <a:tcPr/>
                </a:tc>
              </a:tr>
              <a:tr h="2303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22</a:t>
                      </a:r>
                      <a:endParaRPr lang="ko-KR" altLang="en-US" sz="1400" dirty="0"/>
                    </a:p>
                  </a:txBody>
                  <a:tcPr/>
                </a:tc>
              </a:tr>
              <a:tr h="2303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8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18</a:t>
                      </a:r>
                      <a:endParaRPr lang="ko-KR" altLang="en-US" sz="1400" dirty="0"/>
                    </a:p>
                  </a:txBody>
                  <a:tcPr/>
                </a:tc>
              </a:tr>
              <a:tr h="2303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8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24</a:t>
                      </a:r>
                      <a:endParaRPr lang="ko-KR" altLang="en-US" sz="1400" dirty="0"/>
                    </a:p>
                  </a:txBody>
                  <a:tcPr/>
                </a:tc>
              </a:tr>
              <a:tr h="2303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9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22</a:t>
                      </a:r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0925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산점도를</a:t>
            </a:r>
            <a:r>
              <a:rPr lang="ko-KR" altLang="en-US" dirty="0" smtClean="0"/>
              <a:t> 이용한 패턴 파악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5"/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6361162" cy="4351338"/>
              </a:xfrm>
            </p:spPr>
            <p:txBody>
              <a:bodyPr/>
              <a:lstStyle/>
              <a:p>
                <a:r>
                  <a:rPr lang="ko-KR" altLang="en-US" dirty="0" smtClean="0"/>
                  <a:t>표본크기 또는 실험의 시행횟수를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dirty="0" smtClean="0"/>
                  <a:t>으로 표현</a:t>
                </a:r>
                <a:endParaRPr lang="en-US" altLang="ko-KR" dirty="0" smtClean="0"/>
              </a:p>
              <a:p>
                <a:r>
                  <a:rPr lang="ko-KR" altLang="en-US" dirty="0" smtClean="0"/>
                  <a:t>각 실험에서는 독립변수 </a:t>
                </a:r>
                <a:r>
                  <a:rPr lang="en-US" altLang="ko-KR" dirty="0" smtClean="0"/>
                  <a:t>x</a:t>
                </a:r>
                <a:r>
                  <a:rPr lang="ko-KR" altLang="en-US" dirty="0" smtClean="0"/>
                  <a:t>와 대응되는 반응변수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dirty="0" smtClean="0"/>
                  <a:t>의 쌍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 dirty="0" err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 smtClean="0"/>
                  <a:t>가 관측됨</a:t>
                </a:r>
                <a:endParaRPr lang="en-US" altLang="ko-KR" dirty="0" smtClean="0"/>
              </a:p>
              <a:p>
                <a:r>
                  <a:rPr lang="ko-KR" altLang="en-US" dirty="0" smtClean="0"/>
                  <a:t>분석의 제 </a:t>
                </a:r>
                <a:r>
                  <a:rPr lang="en-US" altLang="ko-KR" dirty="0" smtClean="0"/>
                  <a:t>1</a:t>
                </a:r>
                <a:r>
                  <a:rPr lang="ko-KR" altLang="en-US" dirty="0" smtClean="0"/>
                  <a:t>단계</a:t>
                </a:r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분석하기 전 데이터의 패턴이 곡선인지 직선인지 알아보기 위해 </a:t>
                </a:r>
                <a:r>
                  <a:rPr lang="ko-KR" altLang="en-US" b="1" dirty="0" err="1" smtClean="0"/>
                  <a:t>산점도</a:t>
                </a:r>
                <a:r>
                  <a:rPr lang="ko-KR" altLang="en-US" dirty="0" smtClean="0"/>
                  <a:t> 작성</a:t>
                </a:r>
                <a:endParaRPr lang="en-US" altLang="ko-KR" dirty="0" smtClean="0"/>
              </a:p>
              <a:p>
                <a:r>
                  <a:rPr lang="ko-KR" altLang="en-US" sz="2400" dirty="0" smtClean="0"/>
                  <a:t>선형이 아닌 경우 종종 변수를 적당히 변환하여 선형관계가 되도록 할 수 있음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6" name="내용 개체 틀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6361162" cy="4351338"/>
              </a:xfrm>
              <a:blipFill rotWithShape="0">
                <a:blip r:embed="rId2"/>
                <a:stretch>
                  <a:fillRect l="-1726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내용 개체 틀 8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199362" y="2375323"/>
            <a:ext cx="3881916" cy="2722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524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직선회귀모형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5"/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7011074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ko-KR" altLang="en-US" dirty="0" smtClean="0"/>
                  <a:t>만약 </a:t>
                </a:r>
                <a:r>
                  <a:rPr lang="en-US" altLang="ko-KR" dirty="0" smtClean="0"/>
                  <a:t>x</a:t>
                </a:r>
                <a:r>
                  <a:rPr lang="ko-KR" altLang="en-US" dirty="0" smtClean="0"/>
                  <a:t>와 </a:t>
                </a:r>
                <a:r>
                  <a:rPr lang="en-US" altLang="ko-KR" dirty="0" smtClean="0"/>
                  <a:t>y</a:t>
                </a:r>
                <a:r>
                  <a:rPr lang="ko-KR" altLang="en-US" dirty="0"/>
                  <a:t> </a:t>
                </a:r>
                <a:r>
                  <a:rPr lang="ko-KR" altLang="en-US" dirty="0" smtClean="0"/>
                  <a:t>사이에 정확하게 직선관계가 있다면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두 변수는 다음과 같이 나타남</a:t>
                </a:r>
                <a:r>
                  <a:rPr lang="en-US" altLang="ko-KR" dirty="0" smtClean="0"/>
                  <a:t>:</a:t>
                </a:r>
                <a:br>
                  <a:rPr lang="en-US" altLang="ko-KR" dirty="0" smtClean="0"/>
                </a:b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ko-KR" dirty="0" smtClean="0"/>
              </a:p>
              <a:p>
                <a:endParaRPr lang="en-US" altLang="ko-KR" dirty="0" smtClean="0"/>
              </a:p>
              <a:p>
                <a:r>
                  <a:rPr lang="ko-KR" altLang="en-US" dirty="0" err="1" smtClean="0"/>
                  <a:t>산점도의</a:t>
                </a:r>
                <a:r>
                  <a:rPr lang="ko-KR" altLang="en-US" dirty="0" smtClean="0"/>
                  <a:t> 점들이 정확히 직선이 아닌 경우 변수 사이의 관계를 연구하기 위해 통계적 개념 도입</a:t>
                </a:r>
                <a:endParaRPr lang="en-US" altLang="ko-KR" dirty="0" smtClean="0"/>
              </a:p>
              <a:p>
                <a:endParaRPr lang="en-US" altLang="ko-KR" dirty="0" smtClean="0"/>
              </a:p>
              <a:p>
                <a:r>
                  <a:rPr lang="ko-KR" altLang="en-US" dirty="0" err="1" smtClean="0"/>
                  <a:t>무작위성이나</a:t>
                </a:r>
                <a:r>
                  <a:rPr lang="ko-KR" altLang="en-US" dirty="0" smtClean="0"/>
                  <a:t> 실험적 오류를 내포하는 선형관계에 있는 변수들의 </a:t>
                </a:r>
                <a:r>
                  <a:rPr lang="ko-KR" altLang="en-US" dirty="0" err="1" smtClean="0"/>
                  <a:t>관측값으로</a:t>
                </a:r>
                <a:r>
                  <a:rPr lang="ko-KR" altLang="en-US" dirty="0" smtClean="0"/>
                  <a:t> 간주</a:t>
                </a:r>
              </a:p>
              <a:p>
                <a:endParaRPr lang="en-US" altLang="ko-KR" dirty="0" smtClean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6" name="내용 개체 틀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7011074" cy="4351338"/>
              </a:xfrm>
              <a:blipFill rotWithShape="0">
                <a:blip r:embed="rId2"/>
                <a:stretch>
                  <a:fillRect l="-1565" t="-3361" r="-10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내용 개체 틀 8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646431" y="3018312"/>
            <a:ext cx="3139446" cy="196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360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직선회귀에 대한 통계적 모형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sz="2400" dirty="0" smtClean="0"/>
                  <a:t>반응변수 </a:t>
                </a:r>
                <a:r>
                  <a:rPr lang="en-US" altLang="ko-KR" sz="2400" dirty="0" smtClean="0"/>
                  <a:t>Y</a:t>
                </a:r>
                <a:r>
                  <a:rPr lang="ko-KR" altLang="en-US" sz="2400" dirty="0" smtClean="0"/>
                  <a:t>는 다음과 같이 입력변수 </a:t>
                </a:r>
                <a:r>
                  <a:rPr lang="en-US" altLang="ko-KR" sz="2400" dirty="0" smtClean="0"/>
                  <a:t>x</a:t>
                </a:r>
                <a:r>
                  <a:rPr lang="ko-KR" altLang="en-US" sz="2400" dirty="0" smtClean="0"/>
                  <a:t>와 관련되어 있는 </a:t>
                </a:r>
                <a:r>
                  <a:rPr lang="ko-KR" altLang="en-US" sz="2400" dirty="0" err="1" smtClean="0"/>
                  <a:t>확류변수로</a:t>
                </a:r>
                <a:r>
                  <a:rPr lang="ko-KR" altLang="en-US" sz="2400" dirty="0" smtClean="0"/>
                  <a:t> 가정</a:t>
                </a: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=1,⋯,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ko-KR" sz="2400" dirty="0" smtClean="0"/>
              </a:p>
              <a:p>
                <a:r>
                  <a:rPr lang="ko-KR" altLang="en-US" sz="2400" dirty="0" smtClean="0"/>
                  <a:t>여기서</a:t>
                </a:r>
                <a:endParaRPr lang="en-US" altLang="ko-KR" sz="2400" dirty="0" smtClean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ko-KR" sz="24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ko-KR" altLang="en-US" sz="2400" i="1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ko-KR" altLang="en-US" sz="2400" dirty="0" smtClean="0"/>
                  <a:t> 입력변수 </a:t>
                </a:r>
                <a:r>
                  <a:rPr lang="en-US" altLang="ko-KR" sz="2400" dirty="0" smtClean="0"/>
                  <a:t>x</a:t>
                </a:r>
                <a:r>
                  <a:rPr lang="ko-KR" altLang="en-US" sz="2400" dirty="0" smtClean="0"/>
                  <a:t>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ko-KR" altLang="en-US" sz="2400" i="1">
                        <a:latin typeface="Cambria Math" panose="02040503050406030204" pitchFamily="18" charset="0"/>
                      </a:rPr>
                      <m:t>로</m:t>
                    </m:r>
                  </m:oMath>
                </a14:m>
                <a:r>
                  <a:rPr lang="ko-KR" altLang="en-US" sz="2400" dirty="0" smtClean="0"/>
                  <a:t> 주어지는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ko-KR" altLang="en-US" sz="2400" dirty="0" smtClean="0"/>
                  <a:t>번째 실험에서 얻어지는 반응변수를 나타냄</a:t>
                </a:r>
                <a:endParaRPr lang="en-US" altLang="ko-KR" sz="2400" dirty="0" smtClean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ko-KR" sz="24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sz="2400" dirty="0" smtClean="0"/>
                  <a:t>은 실제 선형관계에 첨가되는 미지의 </a:t>
                </a:r>
                <a:r>
                  <a:rPr lang="ko-KR" altLang="en-US" sz="2400" dirty="0" err="1" smtClean="0"/>
                  <a:t>오차항</a:t>
                </a:r>
                <a:endParaRPr lang="en-US" altLang="ko-KR" sz="2400" dirty="0" smtClean="0"/>
              </a:p>
              <a:p>
                <a:pPr lvl="1"/>
                <a:r>
                  <a:rPr lang="ko-KR" altLang="en-US" sz="2000" dirty="0" err="1" smtClean="0"/>
                  <a:t>오차항은</a:t>
                </a:r>
                <a:r>
                  <a:rPr lang="ko-KR" altLang="en-US" sz="2000" dirty="0" smtClean="0"/>
                  <a:t> 관측할 수 없는 확률변수로 서로 독립이며 평균이 </a:t>
                </a:r>
                <a:r>
                  <a:rPr lang="en-US" altLang="ko-KR" sz="2000" dirty="0" smtClean="0"/>
                  <a:t>0</a:t>
                </a:r>
                <a:r>
                  <a:rPr lang="ko-KR" altLang="en-US" sz="2000" dirty="0" smtClean="0"/>
                  <a:t>이고 미지의 표준편차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ko-KR" altLang="en-US" sz="2000" dirty="0" smtClean="0"/>
                  <a:t>를 가지는 정규분포를 따른다고 가정</a:t>
                </a:r>
                <a:endParaRPr lang="en-US" altLang="ko-KR" sz="2000" dirty="0" smtClean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ko-KR" sz="24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400" dirty="0" smtClean="0"/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ko-KR" altLang="en-US" sz="2400" i="1">
                        <a:latin typeface="Cambria Math" panose="02040503050406030204" pitchFamily="18" charset="0"/>
                      </a:rPr>
                      <m:t>은</m:t>
                    </m:r>
                  </m:oMath>
                </a14:m>
                <a:r>
                  <a:rPr lang="ko-KR" altLang="en-US" sz="2400" dirty="0" smtClean="0"/>
                  <a:t> 각각 직선의 절편과 기울기를 나타내는 미지의 </a:t>
                </a:r>
                <a:r>
                  <a:rPr lang="ko-KR" altLang="en-US" sz="2400" dirty="0" err="1" smtClean="0"/>
                  <a:t>모수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101" t="-19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6656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직선회귀에 대한 통계적 모형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독립변수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dirty="0" smtClean="0"/>
                  <a:t> 수준에 대응되는 반응변수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dirty="0" smtClean="0"/>
                  <a:t>는</a:t>
                </a:r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평균은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dirty="0" smtClean="0"/>
                  <a:t>고 표준편차가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ko-KR" altLang="en-US" dirty="0" smtClean="0"/>
                  <a:t>인 정규분포로부터 얻어진 </a:t>
                </a:r>
                <a:r>
                  <a:rPr lang="ko-KR" altLang="en-US" dirty="0" err="1" smtClean="0"/>
                  <a:t>관측값</a:t>
                </a:r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직선 상의 참값을 관측하기 위해서는 이 양에 확률오차 </a:t>
                </a:r>
                <a:r>
                  <a:rPr lang="en-US" altLang="ko-KR" dirty="0" smtClean="0"/>
                  <a:t>e</a:t>
                </a:r>
                <a:r>
                  <a:rPr lang="ko-KR" altLang="en-US" dirty="0" smtClean="0"/>
                  <a:t>를 더함</a:t>
                </a:r>
                <a:endParaRPr lang="en-US" altLang="ko-KR" dirty="0" smtClean="0"/>
              </a:p>
              <a:p>
                <a:pPr lvl="1"/>
                <a:endParaRPr lang="en-US" altLang="ko-KR" dirty="0" smtClean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079" y="3372962"/>
            <a:ext cx="6169681" cy="233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934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최소제곱법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err="1" smtClean="0"/>
                  <a:t>회귀모수</a:t>
                </a:r>
                <a:r>
                  <a:rPr lang="ko-KR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dirty="0" smtClean="0"/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dirty="0" smtClean="0"/>
                  <a:t> 추정문제는 가장 바람직한 직선을 </a:t>
                </a:r>
                <a:r>
                  <a:rPr lang="ko-KR" altLang="en-US" dirty="0" err="1" smtClean="0"/>
                  <a:t>산점도에</a:t>
                </a:r>
                <a:r>
                  <a:rPr lang="ko-KR" altLang="en-US" dirty="0" smtClean="0"/>
                  <a:t> </a:t>
                </a:r>
                <a:r>
                  <a:rPr lang="ko-KR" altLang="en-US" dirty="0" err="1" smtClean="0"/>
                  <a:t>적합시키는</a:t>
                </a:r>
                <a:r>
                  <a:rPr lang="ko-KR" altLang="en-US" dirty="0" smtClean="0"/>
                  <a:t> 문제로 생각 가능</a:t>
                </a:r>
                <a:endParaRPr lang="en-US" altLang="ko-KR" dirty="0" smtClean="0"/>
              </a:p>
              <a:p>
                <a:r>
                  <a:rPr lang="ko-KR" altLang="en-US" b="1" dirty="0" err="1" smtClean="0"/>
                  <a:t>최소제곱법</a:t>
                </a:r>
                <a:r>
                  <a:rPr lang="en-US" altLang="ko-KR" dirty="0" smtClean="0"/>
                  <a:t>(method of least squares)</a:t>
                </a:r>
                <a:r>
                  <a:rPr lang="ko-KR" altLang="en-US" dirty="0" smtClean="0"/>
                  <a:t>은 가장 잘 </a:t>
                </a:r>
                <a:r>
                  <a:rPr lang="ko-KR" altLang="en-US" dirty="0" err="1" smtClean="0"/>
                  <a:t>적합되는</a:t>
                </a:r>
                <a:r>
                  <a:rPr lang="ko-KR" altLang="en-US" dirty="0" smtClean="0"/>
                  <a:t> 직선을 결정하는 객관적이고 유용한 방법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793" y="3569660"/>
            <a:ext cx="4474322" cy="319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355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최소제곱법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6784144" cy="4351338"/>
              </a:xfrm>
            </p:spPr>
            <p:txBody>
              <a:bodyPr>
                <a:normAutofit/>
              </a:bodyPr>
              <a:lstStyle/>
              <a:p>
                <a:r>
                  <a:rPr lang="ko-KR" altLang="en-US" sz="2400" dirty="0" smtClean="0"/>
                  <a:t>임의의 어느 직선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sz="2400" dirty="0" smtClean="0"/>
                  <a:t>가 </a:t>
                </a:r>
                <a:r>
                  <a:rPr lang="ko-KR" altLang="en-US" sz="2400" dirty="0" err="1" smtClean="0"/>
                  <a:t>산점도</a:t>
                </a:r>
                <a:r>
                  <a:rPr lang="ko-KR" altLang="en-US" sz="2400" dirty="0" smtClean="0"/>
                  <a:t> 위에 있다고 할 때</a:t>
                </a:r>
                <a:endParaRPr lang="en-US" altLang="ko-KR" sz="2400" dirty="0" smtClean="0"/>
              </a:p>
              <a:p>
                <a:r>
                  <a:rPr lang="ko-KR" altLang="en-US" sz="2400" dirty="0" smtClean="0"/>
                  <a:t>독립변수의 값이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ko-KR" altLang="en-US" sz="2400" i="1">
                        <a:latin typeface="Cambria Math" panose="02040503050406030204" pitchFamily="18" charset="0"/>
                      </a:rPr>
                      <m:t>일</m:t>
                    </m:r>
                  </m:oMath>
                </a14:m>
                <a:r>
                  <a:rPr lang="ko-KR" altLang="en-US" sz="2400" dirty="0" smtClean="0"/>
                  <a:t> 때 실제로 관측된 값은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ko-KR" altLang="en-US" sz="2400" i="1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sz="2400" dirty="0" smtClean="0"/>
                  <a:t>지만</a:t>
                </a:r>
                <a:r>
                  <a:rPr lang="en-US" altLang="ko-KR" sz="2400" dirty="0" smtClean="0"/>
                  <a:t>, </a:t>
                </a:r>
                <a:r>
                  <a:rPr lang="ko-KR" altLang="en-US" sz="2400" dirty="0" smtClean="0"/>
                  <a:t>이 직선에 의해 예측된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sz="2400" dirty="0" smtClean="0"/>
                  <a:t>의 값은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2400" dirty="0" smtClean="0"/>
                  <a:t>이다</a:t>
                </a:r>
                <a:r>
                  <a:rPr lang="en-US" altLang="ko-KR" sz="2400" dirty="0" smtClean="0"/>
                  <a:t>.</a:t>
                </a:r>
              </a:p>
              <a:p>
                <a:r>
                  <a:rPr lang="ko-KR" altLang="en-US" sz="2400" dirty="0" smtClean="0"/>
                  <a:t>관측된 값과 </a:t>
                </a:r>
                <a:r>
                  <a:rPr lang="ko-KR" altLang="en-US" sz="2400" dirty="0" err="1" smtClean="0"/>
                  <a:t>예측값</a:t>
                </a:r>
                <a:r>
                  <a:rPr lang="ko-KR" alt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sz="2400" dirty="0" smtClean="0"/>
                  <a:t>사이의 편차는</a:t>
                </a: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ko-KR" sz="2400" dirty="0" smtClean="0"/>
              </a:p>
              <a:p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sz="2400" dirty="0" smtClean="0"/>
                  <a:t>개의 </a:t>
                </a:r>
                <a:r>
                  <a:rPr lang="ko-KR" altLang="en-US" sz="2400" dirty="0" err="1" smtClean="0"/>
                  <a:t>관측값</a:t>
                </a:r>
                <a:r>
                  <a:rPr lang="ko-KR" altLang="en-US" sz="2400" dirty="0" smtClean="0"/>
                  <a:t> 각각에 대한 편차 </a:t>
                </a:r>
                <a:r>
                  <a:rPr lang="ko-KR" altLang="en-US" sz="2400" dirty="0" err="1" smtClean="0"/>
                  <a:t>제곱합</a:t>
                </a: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altLang="ko-KR" dirty="0" smtClean="0"/>
              </a:p>
              <a:p>
                <a:r>
                  <a:rPr lang="ko-KR" altLang="en-US" sz="2400" dirty="0" smtClean="0"/>
                  <a:t>좋은 적합은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ko-KR" altLang="en-US" sz="2400" dirty="0" smtClean="0"/>
                  <a:t>의 크기를 최소화하는 것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6784144" cy="4351338"/>
              </a:xfrm>
              <a:blipFill rotWithShape="0">
                <a:blip r:embed="rId2"/>
                <a:stretch>
                  <a:fillRect l="-1259" t="-1961" b="-22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내용 개체 틀 4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622344" y="2280052"/>
            <a:ext cx="4143475" cy="3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288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최소제곱법의 원리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최소제곱법은 편차들의 측도인</a:t>
                </a: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관</m:t>
                                </m:r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측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값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예</m:t>
                                </m:r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측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값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:r>
                  <a:rPr lang="ko-KR" altLang="en-US" dirty="0" smtClean="0"/>
                  <a:t>을 최소가 되도록 하는 </a:t>
                </a:r>
                <a:r>
                  <a:rPr lang="ko-KR" altLang="en-US" dirty="0" err="1" smtClean="0"/>
                  <a:t>모수의</a:t>
                </a:r>
                <a:r>
                  <a:rPr lang="ko-KR" altLang="en-US" dirty="0" smtClean="0"/>
                  <a:t> 값을 결정하는 것</a:t>
                </a:r>
                <a:r>
                  <a:rPr lang="en-US" altLang="ko-KR" dirty="0" smtClean="0"/>
                  <a:t>.</a:t>
                </a:r>
              </a:p>
              <a:p>
                <a:endParaRPr lang="en-US" altLang="ko-KR" dirty="0"/>
              </a:p>
              <a:p>
                <a:r>
                  <a:rPr lang="ko-KR" altLang="en-US" dirty="0" smtClean="0"/>
                  <a:t>이렇게 결정된 </a:t>
                </a:r>
                <a:r>
                  <a:rPr lang="ko-KR" altLang="en-US" dirty="0" err="1" smtClean="0"/>
                  <a:t>모수의</a:t>
                </a:r>
                <a:r>
                  <a:rPr lang="ko-KR" altLang="en-US" dirty="0" smtClean="0"/>
                  <a:t> 값을 </a:t>
                </a:r>
                <a:r>
                  <a:rPr lang="ko-KR" altLang="en-US" b="1" dirty="0" smtClean="0"/>
                  <a:t>최소제곱 </a:t>
                </a:r>
                <a:r>
                  <a:rPr lang="ko-KR" altLang="en-US" b="1" dirty="0" err="1" smtClean="0"/>
                  <a:t>추정법</a:t>
                </a:r>
                <a:r>
                  <a:rPr lang="en-US" altLang="ko-KR" dirty="0" smtClean="0"/>
                  <a:t>(least square estimate)</a:t>
                </a:r>
                <a:r>
                  <a:rPr lang="ko-KR" altLang="en-US" dirty="0" smtClean="0"/>
                  <a:t>이라 한다</a:t>
                </a:r>
                <a:r>
                  <a:rPr lang="en-US" altLang="ko-KR" dirty="0" smtClean="0"/>
                  <a:t>.</a:t>
                </a:r>
              </a:p>
            </p:txBody>
          </p:sp>
        </mc:Choice>
        <mc:Fallback xmlns="">
          <p:sp>
            <p:nvSpPr>
              <p:cNvPr id="6" name="내용 개체 틀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9247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직선 모형에 대한 최소제곱의 원리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sz="2400" dirty="0" smtClean="0"/>
                  <a:t>다음을 최소화하는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400" dirty="0" smtClean="0"/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400" dirty="0" smtClean="0"/>
                  <a:t>을 결정하는 것</a:t>
                </a: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altLang="ko-KR" sz="2400" dirty="0" smtClean="0"/>
              </a:p>
              <a:p>
                <a:r>
                  <a:rPr lang="ko-KR" altLang="en-US" sz="2400" dirty="0" smtClean="0"/>
                  <a:t>이렇게 결정된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400" dirty="0" smtClean="0"/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400" dirty="0" smtClean="0"/>
                  <a:t>을 각각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ko-KR" altLang="en-US" sz="2400" dirty="0" smtClean="0"/>
                  <a:t>과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ko-KR" altLang="en-US" sz="2400" dirty="0" smtClean="0"/>
                  <a:t>으로 나타내며</a:t>
                </a:r>
                <a:r>
                  <a:rPr lang="en-US" altLang="ko-KR" sz="2400" dirty="0" smtClean="0"/>
                  <a:t>, </a:t>
                </a:r>
                <a:r>
                  <a:rPr lang="ko-KR" altLang="en-US" sz="2400" dirty="0" err="1" smtClean="0"/>
                  <a:t>모수</a:t>
                </a:r>
                <a:r>
                  <a:rPr lang="ko-KR" altLang="en-US" sz="2400" dirty="0" smtClean="0"/>
                  <a:t> 위의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/>
                    </m:acc>
                  </m:oMath>
                </a14:m>
                <a:r>
                  <a:rPr lang="ko-KR" altLang="en-US" sz="2400" dirty="0" smtClean="0"/>
                  <a:t>은 </a:t>
                </a:r>
                <a:r>
                  <a:rPr lang="ko-KR" altLang="en-US" sz="2400" dirty="0" err="1" smtClean="0"/>
                  <a:t>모수의</a:t>
                </a:r>
                <a:r>
                  <a:rPr lang="ko-KR" altLang="en-US" sz="2400" dirty="0" smtClean="0"/>
                  <a:t> </a:t>
                </a:r>
                <a:r>
                  <a:rPr lang="ko-KR" altLang="en-US" sz="2400" dirty="0" err="1" smtClean="0"/>
                  <a:t>추정값임을</a:t>
                </a:r>
                <a:r>
                  <a:rPr lang="ko-KR" altLang="en-US" sz="2400" dirty="0" smtClean="0"/>
                  <a:t> 의미</a:t>
                </a:r>
                <a:endParaRPr lang="en-US" altLang="ko-KR" sz="2400" dirty="0" smtClean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ko-KR" altLang="en-US" sz="2400" dirty="0" smtClean="0"/>
                  <a:t>과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ko-KR" altLang="en-US" sz="2400" dirty="0" smtClean="0"/>
                  <a:t>을 </a:t>
                </a:r>
                <a:r>
                  <a:rPr lang="ko-KR" altLang="en-US" sz="2400" dirty="0" err="1" smtClean="0"/>
                  <a:t>회귀모수</a:t>
                </a:r>
                <a:r>
                  <a:rPr lang="ko-KR" altLang="en-US" sz="24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400" dirty="0" smtClean="0"/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400" dirty="0" smtClean="0"/>
                  <a:t>의 </a:t>
                </a:r>
                <a:r>
                  <a:rPr lang="ko-KR" altLang="en-US" sz="2400" b="1" dirty="0" smtClean="0"/>
                  <a:t>최소제곱 </a:t>
                </a:r>
                <a:r>
                  <a:rPr lang="ko-KR" altLang="en-US" sz="2400" b="1" dirty="0" err="1" smtClean="0"/>
                  <a:t>추정값</a:t>
                </a:r>
                <a:r>
                  <a:rPr lang="ko-KR" altLang="en-US" sz="2400" dirty="0" err="1" smtClean="0"/>
                  <a:t>이라</a:t>
                </a:r>
                <a:r>
                  <a:rPr lang="ko-KR" altLang="en-US" sz="2400" dirty="0" smtClean="0"/>
                  <a:t> 한다</a:t>
                </a:r>
                <a:r>
                  <a:rPr lang="en-US" altLang="ko-KR" sz="2400" dirty="0" smtClean="0"/>
                  <a:t>.</a:t>
                </a:r>
              </a:p>
              <a:p>
                <a:r>
                  <a:rPr lang="ko-KR" altLang="en-US" sz="2400" dirty="0" smtClean="0"/>
                  <a:t>그러므로 가장 잘 </a:t>
                </a:r>
                <a:r>
                  <a:rPr lang="ko-KR" altLang="en-US" sz="2400" dirty="0" err="1" smtClean="0"/>
                  <a:t>적합된</a:t>
                </a:r>
                <a:r>
                  <a:rPr lang="ko-KR" altLang="en-US" sz="2400" dirty="0" smtClean="0"/>
                  <a:t> 직선은</a:t>
                </a: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2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4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en-US" altLang="ko-KR" sz="2400" b="1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ko-KR" altLang="en-US" sz="2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e>
                    </m:acc>
                    <m:r>
                      <a:rPr lang="en-US" altLang="ko-KR" sz="2400" b="1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ko-KR" altLang="en-US" sz="2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  <m:r>
                      <a:rPr lang="en-US" altLang="ko-KR" sz="24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altLang="ko-KR" sz="2400" b="1" dirty="0" smtClean="0"/>
              </a:p>
              <a:p>
                <a:pPr lvl="1"/>
                <a:r>
                  <a:rPr lang="ko-KR" altLang="en-US" sz="2000" dirty="0" smtClean="0"/>
                  <a:t>여기서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ko-KR" altLang="en-US" sz="2000" i="1">
                        <a:latin typeface="Cambria Math" panose="02040503050406030204" pitchFamily="18" charset="0"/>
                      </a:rPr>
                      <m:t>은</m:t>
                    </m:r>
                  </m:oMath>
                </a14:m>
                <a:r>
                  <a:rPr lang="ko-KR" altLang="en-US" sz="2000" dirty="0" smtClean="0"/>
                  <a:t> </a:t>
                </a:r>
                <a:r>
                  <a:rPr lang="ko-KR" altLang="en-US" sz="2000" dirty="0" err="1" smtClean="0"/>
                  <a:t>추정값임을</a:t>
                </a:r>
                <a:r>
                  <a:rPr lang="ko-KR" altLang="en-US" sz="2000" dirty="0" smtClean="0"/>
                  <a:t> 의미</a:t>
                </a:r>
                <a:endParaRPr lang="ko-KR" altLang="en-US" sz="20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2" t="-1961" r="-348" b="-5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8652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최소제곱 </a:t>
            </a:r>
            <a:r>
              <a:rPr lang="ko-KR" altLang="en-US" dirty="0" err="1" smtClean="0"/>
              <a:t>추정량에</a:t>
            </a:r>
            <a:r>
              <a:rPr lang="ko-KR" altLang="en-US" dirty="0" smtClean="0"/>
              <a:t> 대한 공식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                           </m:t>
                    </m:r>
                    <m:acc>
                      <m:accPr>
                        <m:chr m:val="̅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nary>
                  </m:oMath>
                </a14:m>
                <a:endParaRPr lang="en-US" altLang="ko-KR" b="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𝑥𝑥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altLang="ko-KR" b="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𝑦𝑦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altLang="ko-KR" b="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e>
                        </m:nary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)(</m:t>
                                </m:r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nary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nary>
                  </m:oMath>
                </a14:m>
                <a:endParaRPr lang="en-US" altLang="ko-KR" b="0" dirty="0" smtClean="0"/>
              </a:p>
              <a:p>
                <a:endParaRPr lang="en-US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b="0" dirty="0" smtClean="0"/>
                  <a:t>의 최소제곱 </a:t>
                </a:r>
                <a:r>
                  <a:rPr lang="ko-KR" altLang="en-US" b="0" dirty="0" err="1" smtClean="0"/>
                  <a:t>추정량</a:t>
                </a:r>
                <a:r>
                  <a:rPr lang="ko-KR" altLang="en-US" b="0" dirty="0" smtClean="0"/>
                  <a:t> </a:t>
                </a:r>
                <a:r>
                  <a:rPr lang="en-US" altLang="ko-KR" b="0" dirty="0" smtClean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acc>
                      <m:accPr>
                        <m:chr m:val="̅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en-US" altLang="ko-KR" b="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b="0" dirty="0" smtClean="0"/>
                  <a:t> </a:t>
                </a:r>
                <a:r>
                  <a:rPr lang="ko-KR" altLang="en-US" b="0" dirty="0" smtClean="0"/>
                  <a:t>최소제곱 </a:t>
                </a:r>
                <a:r>
                  <a:rPr lang="ko-KR" altLang="en-US" b="0" dirty="0" err="1" smtClean="0"/>
                  <a:t>추정량</a:t>
                </a:r>
                <a:r>
                  <a:rPr lang="ko-KR" altLang="en-US" b="0" dirty="0" smtClean="0"/>
                  <a:t> </a:t>
                </a:r>
                <a:r>
                  <a:rPr lang="en-US" altLang="ko-KR" b="0" dirty="0" smtClean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𝑥𝑥</m:t>
                            </m:r>
                          </m:sub>
                        </m:sSub>
                      </m:den>
                    </m:f>
                  </m:oMath>
                </a14:m>
                <a:endParaRPr lang="en-US" altLang="ko-KR" b="0" dirty="0" smtClean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7355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잔차와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잔차제곱합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ko-KR" altLang="en-US" dirty="0" smtClean="0"/>
                  <a:t>잔차</a:t>
                </a:r>
                <a:r>
                  <a:rPr lang="en-US" altLang="ko-KR" dirty="0" smtClean="0"/>
                  <a:t>(residual) 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endParaRPr lang="en-US" altLang="ko-KR" dirty="0" smtClean="0"/>
              </a:p>
              <a:p>
                <a:pPr lvl="1"/>
                <a:r>
                  <a:rPr lang="ko-KR" altLang="en-US" dirty="0" err="1" smtClean="0"/>
                  <a:t>관측값</a:t>
                </a:r>
                <a:r>
                  <a:rPr lang="ko-KR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dirty="0" smtClean="0"/>
                  <a:t>와 </a:t>
                </a:r>
                <a:r>
                  <a:rPr lang="ko-KR" altLang="en-US" dirty="0" err="1" smtClean="0"/>
                  <a:t>적합된</a:t>
                </a:r>
                <a:r>
                  <a:rPr lang="ko-KR" altLang="en-US" dirty="0" smtClean="0"/>
                  <a:t> 값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altLang="ko-KR" b="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altLang="ko-KR" b="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dirty="0" smtClean="0"/>
                  <a:t>의 차이</a:t>
                </a: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:r>
                  <a:rPr lang="en-US" altLang="ko-KR" dirty="0"/>
                  <a:t/>
                </a:r>
                <a:br>
                  <a:rPr lang="en-US" altLang="ko-KR" dirty="0"/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=1,⋯,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ko-KR" dirty="0" smtClean="0"/>
              </a:p>
              <a:p>
                <a:r>
                  <a:rPr lang="ko-KR" altLang="en-US" dirty="0" err="1" smtClean="0"/>
                  <a:t>잔차제곱합</a:t>
                </a:r>
                <a:r>
                  <a:rPr lang="en-US" altLang="ko-KR" dirty="0" smtClean="0"/>
                  <a:t>(residual sum of squares) </a:t>
                </a:r>
                <a:r>
                  <a:rPr lang="ko-KR" altLang="en-US" dirty="0" smtClean="0"/>
                  <a:t>혹은 오차에 의한 </a:t>
                </a:r>
                <a:r>
                  <a:rPr lang="ko-KR" altLang="en-US" dirty="0" err="1" smtClean="0"/>
                  <a:t>제곱합</a:t>
                </a:r>
                <a:r>
                  <a:rPr lang="en-US" altLang="ko-KR" dirty="0" smtClean="0"/>
                  <a:t>(sum of square due to error)</a:t>
                </a:r>
              </a:p>
              <a:p>
                <a:pPr lvl="1"/>
                <a:r>
                  <a:rPr lang="en-US" altLang="ko-KR" dirty="0" smtClean="0"/>
                  <a:t>SSE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𝑦𝑦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𝑥𝑥</m:t>
                            </m:r>
                          </m:sub>
                        </m:sSub>
                      </m:den>
                    </m:f>
                  </m:oMath>
                </a14:m>
                <a:endParaRPr lang="en-US" altLang="ko-KR" b="0" dirty="0" smtClean="0"/>
              </a:p>
              <a:p>
                <a:r>
                  <a:rPr lang="ko-KR" altLang="en-US" dirty="0" smtClean="0"/>
                  <a:t>오차항의 분산의 추정</a:t>
                </a:r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오차항의 분산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dirty="0" smtClean="0"/>
                  <a:t>의 </a:t>
                </a:r>
                <a:r>
                  <a:rPr lang="ko-KR" altLang="en-US" dirty="0" err="1" smtClean="0"/>
                  <a:t>추정량은</a:t>
                </a:r>
                <a:r>
                  <a:rPr lang="ko-KR" altLang="en-US" dirty="0" smtClean="0"/>
                  <a:t> 다음과 같다</a:t>
                </a:r>
                <a:r>
                  <a:rPr lang="en-US" altLang="ko-KR" dirty="0" smtClean="0"/>
                  <a:t>.</a:t>
                </a:r>
                <a:br>
                  <a:rPr lang="en-US" altLang="ko-KR" dirty="0" smtClean="0"/>
                </a:b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𝑆𝑆𝐸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den>
                    </m:f>
                  </m:oMath>
                </a14:m>
                <a:endParaRPr lang="en-US" altLang="ko-KR" dirty="0"/>
              </a:p>
              <a:p>
                <a:pPr lvl="1"/>
                <a:endParaRPr lang="ko-KR" altLang="en-US" dirty="0"/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3081" r="-1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2540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회귀직선</a:t>
            </a:r>
            <a:r>
              <a:rPr lang="en-US" altLang="ko-KR" dirty="0" smtClean="0"/>
              <a:t>, SSE, </a:t>
            </a:r>
            <a:r>
              <a:rPr lang="ko-KR" altLang="en-US" dirty="0" err="1" smtClean="0"/>
              <a:t>잔차의</a:t>
            </a:r>
            <a:r>
              <a:rPr lang="ko-KR" altLang="en-US" dirty="0" smtClean="0"/>
              <a:t> 계산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altLang="ko-KR" dirty="0" smtClean="0"/>
              <a:t>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내용 개체 틀 6"/>
              <p:cNvSpPr>
                <a:spLocks noGrp="1"/>
              </p:cNvSpPr>
              <p:nvPr>
                <p:ph sz="half" idx="2"/>
              </p:nvPr>
            </p:nvSpPr>
            <p:spPr>
              <a:xfrm>
                <a:off x="7302836" y="1825625"/>
                <a:ext cx="4050964" cy="4351338"/>
              </a:xfrm>
            </p:spPr>
            <p:txBody>
              <a:bodyPr>
                <a:normAutofit fontScale="85000" lnSpcReduction="10000"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=5.9   </m:t>
                    </m:r>
                    <m:acc>
                      <m:accPr>
                        <m:chr m:val="̅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=15.1</m:t>
                    </m:r>
                  </m:oMath>
                </a14:m>
                <a:endParaRPr lang="en-US" altLang="ko-KR" sz="200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𝑥𝑥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0" smtClean="0">
                        <a:latin typeface="Cambria Math" panose="02040503050406030204" pitchFamily="18" charset="0"/>
                      </a:rPr>
                      <m:t>389−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59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=40.9</m:t>
                    </m:r>
                  </m:oMath>
                </a14:m>
                <a:endParaRPr lang="en-US" altLang="ko-KR" sz="2000" b="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𝑦𝑦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=2651−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151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=370.9</m:t>
                    </m:r>
                  </m:oMath>
                </a14:m>
                <a:endParaRPr lang="en-US" altLang="ko-KR" sz="2000" b="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=1003−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59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×151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=112.1</m:t>
                    </m:r>
                  </m:oMath>
                </a14:m>
                <a:endParaRPr lang="en-US" altLang="ko-KR" sz="2000" b="0" dirty="0" smtClean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112.1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40.9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=2.74</m:t>
                    </m:r>
                  </m:oMath>
                </a14:m>
                <a:endParaRPr lang="en-US" altLang="ko-KR" sz="2000" b="0" dirty="0" smtClean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=15.1−2.74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×5.9=−1.07</m:t>
                    </m:r>
                  </m:oMath>
                </a14:m>
                <a:endParaRPr lang="en-US" altLang="ko-KR" sz="2000" b="0" dirty="0" smtClean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𝑆𝑆𝐸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=370.9−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112.1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40.9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=63.6528</m:t>
                    </m:r>
                  </m:oMath>
                </a14:m>
                <a:endParaRPr lang="en-US" altLang="ko-KR" sz="2000" dirty="0" smtClean="0"/>
              </a:p>
              <a:p>
                <a:endParaRPr lang="en-US" altLang="ko-KR" sz="2000" dirty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=−1.07+2.74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ko-KR" sz="2000" b="0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𝑆𝑆𝐸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63.6528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=7.96</m:t>
                    </m:r>
                  </m:oMath>
                </a14:m>
                <a:endParaRPr lang="en-US" altLang="ko-KR" sz="2000" dirty="0" smtClean="0"/>
              </a:p>
            </p:txBody>
          </p:sp>
        </mc:Choice>
        <mc:Fallback xmlns="">
          <p:sp>
            <p:nvSpPr>
              <p:cNvPr id="7" name="내용 개체 틀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7302836" y="1825625"/>
                <a:ext cx="4050964" cy="4351338"/>
              </a:xfrm>
              <a:blipFill rotWithShape="0">
                <a:blip r:embed="rId2"/>
                <a:stretch>
                  <a:fillRect l="-752" t="-5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1973270"/>
                  </p:ext>
                </p:extLst>
              </p:nvPr>
            </p:nvGraphicFramePr>
            <p:xfrm>
              <a:off x="838200" y="1884919"/>
              <a:ext cx="6464636" cy="37698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58655"/>
                    <a:gridCol w="702208"/>
                    <a:gridCol w="671639"/>
                    <a:gridCol w="712099"/>
                    <a:gridCol w="712099"/>
                    <a:gridCol w="655455"/>
                    <a:gridCol w="1335186"/>
                    <a:gridCol w="817295"/>
                  </a:tblGrid>
                  <a:tr h="417032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p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latin typeface="Cambria Math" panose="02040503050406030204" pitchFamily="18" charset="0"/>
                                  </a:rPr>
                                  <m:t>𝑥𝑦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ko-KR" alt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ko-KR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400" b="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ko-KR" sz="1400" b="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altLang="ko-KR" sz="1400" b="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ko-KR" alt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ko-KR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400" b="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ko-KR" sz="1400" b="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400" dirty="0" smtClean="0"/>
                            <a:t>잔차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ko-KR" alt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1" i="1" smtClean="0"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</m:acc>
                            </m:oMath>
                          </a14:m>
                          <a:endParaRPr lang="ko-KR" altLang="en-US" sz="1400" dirty="0"/>
                        </a:p>
                      </a:txBody>
                      <a:tcPr/>
                    </a:tc>
                  </a:tr>
                  <a:tr h="235058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3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9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9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81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27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7.15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1.85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235058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3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9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25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7.15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-2.15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235058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12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16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144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48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9.89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2.11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235058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9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25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91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45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12.63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-3.63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235058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6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36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196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84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15.37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-1.37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235058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6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16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36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256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96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15.37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0.63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235058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7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22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49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484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154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18.11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3.89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235058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8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18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64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324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144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20.85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-2.85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235058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8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24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64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576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192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20.85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3.15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235058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9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22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81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484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198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23.59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-1.59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23505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400" dirty="0" smtClean="0"/>
                            <a:t>합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59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151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389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2651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1003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0.04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1973270"/>
                  </p:ext>
                </p:extLst>
              </p:nvPr>
            </p:nvGraphicFramePr>
            <p:xfrm>
              <a:off x="838200" y="1884919"/>
              <a:ext cx="6464636" cy="37698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58655"/>
                    <a:gridCol w="702208"/>
                    <a:gridCol w="671639"/>
                    <a:gridCol w="712099"/>
                    <a:gridCol w="712099"/>
                    <a:gridCol w="655455"/>
                    <a:gridCol w="1335186"/>
                    <a:gridCol w="817295"/>
                  </a:tblGrid>
                  <a:tr h="417032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23478" t="-2941" r="-704348" b="-8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33636" t="-2941" r="-636364" b="-8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13675" t="-2941" r="-498291" b="-8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413675" t="-2941" r="-398291" b="-8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56481" t="-2941" r="-331481" b="-8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23744" t="-2941" r="-63470" b="-8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692537" t="-2941" r="-3731" b="-825000"/>
                          </a:stretch>
                        </a:blipFill>
                      </a:tcPr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3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9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9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81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27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7.15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1.85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3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9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25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7.15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-2.15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12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16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144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48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9.89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2.11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9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25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91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45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12.63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-3.63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6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36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196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84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15.37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-1.37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6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16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36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256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96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15.37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0.63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7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22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49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484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154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18.11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3.89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8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18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64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324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144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20.85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-2.85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8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24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64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576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192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20.85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3.15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9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22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81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484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198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23.59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-1.59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400" dirty="0" smtClean="0"/>
                            <a:t>합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59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151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389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2651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1003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/>
                            <a:t>0.04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82800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최소제곱추정량의</a:t>
            </a:r>
            <a:r>
              <a:rPr lang="ko-KR" altLang="en-US" dirty="0" smtClean="0"/>
              <a:t> 표본변동</a:t>
            </a:r>
            <a:r>
              <a:rPr lang="en-US" altLang="ko-KR" dirty="0" smtClean="0"/>
              <a:t>-</a:t>
            </a:r>
            <a:r>
              <a:rPr lang="ko-KR" altLang="en-US" dirty="0" smtClean="0"/>
              <a:t>추정도구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5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sz="2400" dirty="0" smtClean="0"/>
                  <a:t>최소제곱법에 의한 직선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4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ko-KR" sz="2400" b="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ko-KR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2400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altLang="ko-KR" sz="2400" b="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ko-KR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altLang="ko-KR" sz="2400" b="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sz="2400" dirty="0" smtClean="0"/>
                  <a:t>는 미지의 실제 회귀직선 </a:t>
                </a: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2400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sz="2400" dirty="0" smtClean="0"/>
                  <a:t>의 </a:t>
                </a:r>
                <a:r>
                  <a:rPr lang="ko-KR" altLang="en-US" sz="2400" dirty="0" err="1" smtClean="0"/>
                  <a:t>추정값임을</a:t>
                </a:r>
                <a:r>
                  <a:rPr lang="ko-KR" altLang="en-US" sz="2400" dirty="0" smtClean="0"/>
                  <a:t> 기억</a:t>
                </a:r>
                <a:endParaRPr lang="en-US" altLang="ko-KR" sz="2400" dirty="0" smtClean="0"/>
              </a:p>
              <a:p>
                <a:r>
                  <a:rPr lang="ko-KR" altLang="en-US" sz="2400" dirty="0" smtClean="0"/>
                  <a:t>약품 평가문제에서 추정된 회귀직선은</a:t>
                </a: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−1.07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2.74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ko-KR" sz="2400" dirty="0" smtClean="0"/>
              </a:p>
              <a:p>
                <a:r>
                  <a:rPr lang="ko-KR" altLang="en-US" sz="2400" dirty="0" smtClean="0"/>
                  <a:t>복용량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=4.5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en-US" altLang="ko-KR" sz="2400" dirty="0" smtClean="0"/>
                  <a:t> </a:t>
                </a:r>
                <a:r>
                  <a:rPr lang="ko-KR" altLang="en-US" sz="2400" dirty="0" smtClean="0"/>
                  <a:t>대한 예측 경감시간 </a:t>
                </a:r>
                <a:r>
                  <a:rPr lang="en-US" altLang="ko-KR" sz="2400" dirty="0" smtClean="0"/>
                  <a:t>: </a:t>
                </a:r>
                <a:br>
                  <a:rPr lang="en-US" altLang="ko-KR" sz="2400" dirty="0" smtClean="0"/>
                </a:b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−1.07+2.74</m:t>
                    </m:r>
                    <m:r>
                      <a:rPr lang="en-US" altLang="ko-K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4.5=11.26</m:t>
                    </m:r>
                  </m:oMath>
                </a14:m>
                <a:endParaRPr lang="en-US" altLang="ko-KR" sz="2400" dirty="0" smtClean="0"/>
              </a:p>
              <a:p>
                <a:r>
                  <a:rPr lang="ko-KR" altLang="en-US" sz="2400" dirty="0" smtClean="0"/>
                  <a:t>가능한 의문점</a:t>
                </a:r>
                <a:endParaRPr lang="en-US" altLang="ko-KR" sz="2400" dirty="0" smtClean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ko-KR" altLang="en-US" sz="2000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ko-KR" altLang="en-US" sz="2000" dirty="0" smtClean="0"/>
                  <a:t>의 값이 </a:t>
                </a:r>
                <a:r>
                  <a:rPr lang="en-US" altLang="ko-KR" sz="2000" dirty="0" smtClean="0"/>
                  <a:t>2.74</a:t>
                </a:r>
                <a:r>
                  <a:rPr lang="ko-KR" altLang="en-US" sz="2000" dirty="0" smtClean="0"/>
                  <a:t>일 때 정확한 회귀직선의 기울기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000" dirty="0" smtClean="0"/>
                  <a:t>이 </a:t>
                </a:r>
                <a:r>
                  <a:rPr lang="en-US" altLang="ko-KR" sz="2000" dirty="0" smtClean="0"/>
                  <a:t>4</a:t>
                </a:r>
                <a:r>
                  <a:rPr lang="ko-KR" altLang="en-US" sz="2000" dirty="0" smtClean="0"/>
                  <a:t>가 될 수 있을까</a:t>
                </a:r>
                <a:r>
                  <a:rPr lang="en-US" altLang="ko-KR" sz="2000" dirty="0" smtClean="0"/>
                  <a:t>?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000" dirty="0" smtClean="0"/>
                  <a:t>이 </a:t>
                </a:r>
                <a:r>
                  <a:rPr lang="en-US" altLang="ko-KR" sz="2000" dirty="0" smtClean="0"/>
                  <a:t>0</a:t>
                </a:r>
                <a:r>
                  <a:rPr lang="ko-KR" altLang="en-US" sz="2000" dirty="0" smtClean="0"/>
                  <a:t>이 되어 정확한 회귀직선이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sz="2000" dirty="0" smtClean="0"/>
                  <a:t>에 종속되지 않는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ko-KR" altLang="en-US" sz="2000" i="1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en-US" altLang="ko-KR" sz="2000" dirty="0" smtClean="0"/>
                  <a:t> </a:t>
                </a:r>
                <a:r>
                  <a:rPr lang="ko-KR" altLang="en-US" sz="2000" dirty="0" smtClean="0"/>
                  <a:t>될 수 있을까</a:t>
                </a:r>
                <a:r>
                  <a:rPr lang="en-US" altLang="ko-KR" sz="2000" dirty="0" smtClean="0"/>
                  <a:t>?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000" dirty="0" smtClean="0"/>
                  <a:t>이 취할 수 있는 값은 얼마인가</a:t>
                </a:r>
                <a:r>
                  <a:rPr lang="en-US" altLang="ko-KR" sz="2000" dirty="0" smtClean="0"/>
                  <a:t>?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ko-KR" altLang="en-US" sz="2000" dirty="0" smtClean="0"/>
                  <a:t>복용량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 i="1" dirty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=4.5</m:t>
                    </m:r>
                  </m:oMath>
                </a14:m>
                <a:r>
                  <a:rPr lang="ko-KR" altLang="en-US" sz="2000" dirty="0" smtClean="0"/>
                  <a:t>에 대한 추정 경감시간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11.26</m:t>
                    </m:r>
                  </m:oMath>
                </a14:m>
                <a:r>
                  <a:rPr lang="ko-KR" altLang="en-US" sz="2000" dirty="0" smtClean="0"/>
                  <a:t>에는 얼마나 많은 불확실성이 내포되어 있는가</a:t>
                </a:r>
                <a:r>
                  <a:rPr lang="en-US" altLang="ko-KR" sz="2000" dirty="0" smtClean="0"/>
                  <a:t>?</a:t>
                </a:r>
              </a:p>
              <a:p>
                <a:pPr marL="457200" lvl="1" indent="0">
                  <a:buNone/>
                </a:pPr>
                <a:endParaRPr lang="en-US" altLang="ko-KR" sz="2000" dirty="0" smtClean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altLang="ko-KR" sz="2000" dirty="0"/>
              </a:p>
              <a:p>
                <a:endParaRPr lang="ko-KR" altLang="en-US" sz="2400" dirty="0"/>
              </a:p>
            </p:txBody>
          </p:sp>
        </mc:Choice>
        <mc:Fallback xmlns="">
          <p:sp>
            <p:nvSpPr>
              <p:cNvPr id="6" name="내용 개체 틀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2" t="-1541" b="-15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2775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최소제곱 </a:t>
            </a:r>
            <a:r>
              <a:rPr lang="ko-KR" altLang="en-US" dirty="0" err="1"/>
              <a:t>추정량들의</a:t>
            </a:r>
            <a:r>
              <a:rPr lang="ko-KR" altLang="en-US" dirty="0"/>
              <a:t> </a:t>
            </a:r>
            <a:r>
              <a:rPr lang="ko-KR" altLang="en-US" dirty="0" err="1"/>
              <a:t>표집분포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앞의 의문점들을 해결하기 위해서는 최소제곱 </a:t>
                </a:r>
                <a:r>
                  <a:rPr lang="ko-KR" altLang="en-US" dirty="0" err="1" smtClean="0"/>
                  <a:t>추정량들의</a:t>
                </a:r>
                <a:r>
                  <a:rPr lang="ko-KR" altLang="en-US" dirty="0" smtClean="0"/>
                  <a:t> </a:t>
                </a:r>
                <a:r>
                  <a:rPr lang="ko-KR" altLang="en-US" dirty="0" err="1" smtClean="0"/>
                  <a:t>표집분포에</a:t>
                </a:r>
                <a:r>
                  <a:rPr lang="ko-KR" altLang="en-US" dirty="0" smtClean="0"/>
                  <a:t> 대해 알고 있어야 함</a:t>
                </a:r>
                <a:endParaRPr lang="en-US" altLang="ko-KR" dirty="0" smtClean="0"/>
              </a:p>
              <a:p>
                <a:r>
                  <a:rPr lang="ko-KR" altLang="en-US" dirty="0" err="1" smtClean="0"/>
                  <a:t>표집분포는</a:t>
                </a:r>
                <a:r>
                  <a:rPr lang="ko-KR" altLang="en-US" dirty="0" smtClean="0"/>
                  <a:t> 가설검정을 가능하도록 하고</a:t>
                </a:r>
                <a:endParaRPr lang="en-US" altLang="ko-KR" dirty="0" smtClean="0"/>
              </a:p>
              <a:p>
                <a:r>
                  <a:rPr lang="ko-KR" altLang="en-US" dirty="0" err="1" smtClean="0"/>
                  <a:t>모수</a:t>
                </a:r>
                <a:r>
                  <a:rPr lang="ko-KR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 smtClean="0"/>
                  <a:t>에 대한 신뢰구간과 직선 자체의 신뢰구간을 설정할 수 있도록 함</a:t>
                </a:r>
                <a:endParaRPr lang="en-US" altLang="ko-KR" dirty="0" smtClean="0"/>
              </a:p>
              <a:p>
                <a:r>
                  <a:rPr lang="en-US" altLang="ko-KR" dirty="0" smtClean="0"/>
                  <a:t>t</a:t>
                </a:r>
                <a:r>
                  <a:rPr lang="ko-KR" altLang="en-US" dirty="0" smtClean="0"/>
                  <a:t>분포와 관련이 있음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 r="-1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994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최소제곱 </a:t>
            </a:r>
            <a:r>
              <a:rPr lang="ko-KR" altLang="en-US" dirty="0" err="1"/>
              <a:t>추정량들의</a:t>
            </a:r>
            <a:r>
              <a:rPr lang="ko-KR" altLang="en-US" dirty="0"/>
              <a:t> </a:t>
            </a:r>
            <a:r>
              <a:rPr lang="ko-KR" altLang="en-US" dirty="0" err="1" smtClean="0"/>
              <a:t>표집분포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ko-KR" altLang="en-US" sz="2000" dirty="0" smtClean="0"/>
                  <a:t>최소제곱 </a:t>
                </a:r>
                <a:r>
                  <a:rPr lang="ko-KR" altLang="en-US" sz="2000" dirty="0" err="1" smtClean="0"/>
                  <a:t>추정량들의</a:t>
                </a:r>
                <a:r>
                  <a:rPr lang="ko-KR" altLang="en-US" sz="2000" dirty="0" smtClean="0"/>
                  <a:t> 표준편차</a:t>
                </a:r>
                <a:r>
                  <a:rPr lang="en-US" altLang="ko-KR" sz="2000" dirty="0" smtClean="0"/>
                  <a:t>(</a:t>
                </a:r>
                <a:r>
                  <a:rPr lang="ko-KR" altLang="en-US" sz="2000" dirty="0" smtClean="0"/>
                  <a:t>표준오차라고 함</a:t>
                </a:r>
                <a:r>
                  <a:rPr lang="en-US" altLang="ko-KR" sz="2000" dirty="0" smtClean="0"/>
                  <a:t>)</a:t>
                </a:r>
                <a:r>
                  <a:rPr lang="ko-KR" altLang="en-US" sz="2000" dirty="0" smtClean="0"/>
                  <a:t>는 다음과 같다</a:t>
                </a:r>
                <a:r>
                  <a:rPr lang="en-US" altLang="ko-KR" sz="2000" dirty="0" smtClean="0"/>
                  <a:t>.</a:t>
                </a:r>
                <a:br>
                  <a:rPr lang="en-US" altLang="ko-KR" sz="2000" dirty="0" smtClean="0"/>
                </a:br>
                <a:r>
                  <a:rPr lang="en-US" altLang="ko-KR" sz="2000" dirty="0" smtClean="0"/>
                  <a:t/>
                </a:r>
                <a:br>
                  <a:rPr lang="en-US" altLang="ko-KR" sz="2000" dirty="0" smtClean="0"/>
                </a:b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𝑥𝑥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𝜎</m:t>
                    </m:r>
                    <m:rad>
                      <m:radPr>
                        <m:degHide m:val="on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𝑥𝑥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r>
                  <a:rPr lang="en-US" altLang="ko-KR" sz="2000" b="0" dirty="0" smtClean="0"/>
                  <a:t/>
                </a:r>
                <a:br>
                  <a:rPr lang="en-US" altLang="ko-KR" sz="2000" b="0" dirty="0" smtClean="0"/>
                </a:br>
                <a:r>
                  <a:rPr lang="en-US" altLang="ko-KR" sz="2000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altLang="ko-KR" sz="2000" i="1" dirty="0" smtClean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</a:rPr>
                      <m:t>표</m:t>
                    </m:r>
                  </m:oMath>
                </a14:m>
                <a:r>
                  <a:rPr lang="ko-KR" altLang="en-US" sz="2000" b="0" dirty="0" smtClean="0"/>
                  <a:t>준오차를 추정하기 위</a:t>
                </a:r>
                <a:r>
                  <a:rPr lang="ko-KR" altLang="en-US" sz="2000" dirty="0" smtClean="0"/>
                  <a:t>해</a:t>
                </a:r>
                <a:r>
                  <a:rPr lang="en-US" altLang="ko-KR" sz="2000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ko-KR" altLang="en-US" sz="2000" b="0" dirty="0" smtClean="0"/>
                  <a:t>대신 다음을 사용</a:t>
                </a:r>
                <a:r>
                  <a:rPr lang="en-US" altLang="ko-KR" sz="2000" b="0" dirty="0" smtClean="0"/>
                  <a:t/>
                </a:r>
                <a:br>
                  <a:rPr lang="en-US" altLang="ko-KR" sz="2000" b="0" dirty="0" smtClean="0"/>
                </a:br>
                <a:r>
                  <a:rPr lang="en-US" altLang="ko-KR" sz="2000" b="0" dirty="0" smtClean="0"/>
                  <a:t/>
                </a:r>
                <a:br>
                  <a:rPr lang="en-US" altLang="ko-KR" sz="2000" b="0" dirty="0" smtClean="0"/>
                </a:br>
                <a:r>
                  <a:rPr lang="en-US" altLang="ko-KR" sz="2000" b="0" dirty="0" smtClean="0"/>
                  <a:t>                                   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𝑆𝑆𝐸</m:t>
                            </m:r>
                          </m:num>
                          <m:den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ko-KR" sz="2000" b="0" dirty="0" smtClean="0"/>
                  <a:t/>
                </a:r>
                <a:br>
                  <a:rPr lang="en-US" altLang="ko-KR" sz="2000" b="0" dirty="0" smtClean="0"/>
                </a:br>
                <a:endParaRPr lang="en-US" altLang="ko-KR" sz="2000" b="0" dirty="0" smtClean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ko-KR" altLang="en-US" sz="2000" dirty="0" smtClean="0"/>
                  <a:t>기울기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000" dirty="0" smtClean="0"/>
                  <a:t>에 관한 추론은 다음의 </a:t>
                </a:r>
                <a:r>
                  <a:rPr lang="en-US" altLang="ko-KR" sz="2000" dirty="0" smtClean="0"/>
                  <a:t>t</a:t>
                </a:r>
                <a:r>
                  <a:rPr lang="ko-KR" altLang="en-US" sz="2000" dirty="0" smtClean="0"/>
                  <a:t>분포에 근거한다</a:t>
                </a:r>
                <a:r>
                  <a:rPr lang="en-US" altLang="ko-KR" sz="2000" dirty="0" smtClean="0"/>
                  <a:t>.</a:t>
                </a:r>
                <a:br>
                  <a:rPr lang="en-US" altLang="ko-KR" sz="2000" dirty="0" smtClean="0"/>
                </a:br>
                <a:r>
                  <a:rPr lang="en-US" altLang="ko-KR" sz="2000" dirty="0" smtClean="0"/>
                  <a:t/>
                </a:r>
                <a:br>
                  <a:rPr lang="en-US" altLang="ko-KR" sz="2000" dirty="0" smtClean="0"/>
                </a:br>
                <a:r>
                  <a:rPr lang="en-US" altLang="ko-KR" sz="2000" dirty="0" smtClean="0"/>
                  <a:t/>
                </a:r>
                <a:br>
                  <a:rPr lang="en-US" altLang="ko-KR" sz="2000" dirty="0" smtClean="0"/>
                </a:b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𝑥𝑥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              </m:t>
                    </m:r>
                    <m:r>
                      <m:rPr>
                        <m:nor/>
                      </m:rPr>
                      <a:rPr lang="en-US" altLang="ko-KR" sz="2000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en-US" altLang="ko-KR" sz="2000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altLang="ko-KR" sz="20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m:rPr>
                        <m:nor/>
                      </m:rPr>
                      <a:rPr lang="en-US" altLang="ko-KR" sz="2000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altLang="ko-KR" sz="2000" dirty="0" smtClean="0"/>
                  <a:t/>
                </a:r>
                <a:br>
                  <a:rPr lang="en-US" altLang="ko-KR" sz="2000" dirty="0" smtClean="0"/>
                </a:br>
                <a:r>
                  <a:rPr lang="en-US" altLang="ko-KR" sz="2000" dirty="0" smtClean="0"/>
                  <a:t/>
                </a:r>
                <a:br>
                  <a:rPr lang="en-US" altLang="ko-KR" sz="2000" dirty="0" smtClean="0"/>
                </a:br>
                <a14:m>
                  <m:oMath xmlns:m="http://schemas.openxmlformats.org/officeDocument/2006/math">
                    <m:r>
                      <a:rPr lang="ko-KR" altLang="en-US" sz="2000" i="1" dirty="0">
                        <a:latin typeface="Cambria Math" panose="02040503050406030204" pitchFamily="18" charset="0"/>
                      </a:rPr>
                      <m:t>절</m:t>
                    </m:r>
                  </m:oMath>
                </a14:m>
                <a:r>
                  <a:rPr lang="ko-KR" altLang="en-US" sz="2000" dirty="0" smtClean="0"/>
                  <a:t>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000" dirty="0" smtClean="0"/>
                  <a:t>에 관한 추론은 다음의 </a:t>
                </a:r>
                <a:r>
                  <a:rPr lang="en-US" altLang="ko-KR" sz="2000" dirty="0" smtClean="0"/>
                  <a:t>t</a:t>
                </a:r>
                <a:r>
                  <a:rPr lang="ko-KR" altLang="en-US" sz="2000" dirty="0" smtClean="0"/>
                  <a:t>분포에 근거한다</a:t>
                </a:r>
                <a:r>
                  <a:rPr lang="en-US" altLang="ko-KR" sz="2000" dirty="0" smtClean="0"/>
                  <a:t>.</a:t>
                </a:r>
                <a:br>
                  <a:rPr lang="en-US" altLang="ko-KR" sz="2000" dirty="0" smtClean="0"/>
                </a:br>
                <a:r>
                  <a:rPr lang="en-US" altLang="ko-KR" sz="2000" dirty="0" smtClean="0"/>
                  <a:t/>
                </a:r>
                <a:br>
                  <a:rPr lang="en-US" altLang="ko-KR" sz="2000" dirty="0" smtClean="0"/>
                </a:br>
                <a:r>
                  <a:rPr lang="en-US" altLang="ko-KR" sz="2300" dirty="0" smtClean="0"/>
                  <a:t/>
                </a:r>
                <a:br>
                  <a:rPr lang="en-US" altLang="ko-KR" sz="2300" dirty="0" smtClean="0"/>
                </a:br>
                <a:r>
                  <a:rPr lang="en-US" altLang="ko-KR" sz="2300" dirty="0" smtClean="0"/>
                  <a:t>                                    </a:t>
                </a:r>
                <a14:m>
                  <m:oMath xmlns:m="http://schemas.openxmlformats.org/officeDocument/2006/math">
                    <m:r>
                      <a:rPr lang="en-US" altLang="ko-KR" sz="23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ko-KR" sz="23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3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n-US" altLang="ko-KR" sz="23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2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3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ko-KR" sz="23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23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3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23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ko-KR" sz="2300" i="1">
                            <a:latin typeface="Cambria Math" panose="02040503050406030204" pitchFamily="18" charset="0"/>
                          </a:rPr>
                          <m:t>𝑆</m:t>
                        </m:r>
                        <m:rad>
                          <m:radPr>
                            <m:degHide m:val="on"/>
                            <m:ctrlPr>
                              <a:rPr lang="en-US" altLang="ko-KR" sz="23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ko-KR" sz="23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3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ko-KR" sz="23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a:rPr lang="en-US" altLang="ko-KR" sz="23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ko-KR" sz="23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ko-KR" sz="2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ko-KR" sz="2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sz="23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ko-KR" sz="23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2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3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2300" i="1">
                                        <a:latin typeface="Cambria Math" panose="02040503050406030204" pitchFamily="18" charset="0"/>
                                      </a:rPr>
                                      <m:t>𝑥𝑥</m:t>
                                    </m:r>
                                  </m:sub>
                                </m:sSub>
                              </m:den>
                            </m:f>
                          </m:e>
                        </m:rad>
                      </m:den>
                    </m:f>
                    <m:r>
                      <a:rPr lang="en-US" altLang="ko-KR" sz="2300" i="1">
                        <a:latin typeface="Cambria Math" panose="02040503050406030204" pitchFamily="18" charset="0"/>
                      </a:rPr>
                      <m:t>              </m:t>
                    </m:r>
                    <m:r>
                      <m:rPr>
                        <m:nor/>
                      </m:rPr>
                      <a:rPr lang="en-US" altLang="ko-KR" sz="2300"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en-US" altLang="ko-KR" sz="230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altLang="ko-KR" sz="2300">
                        <a:latin typeface="Cambria Math" panose="02040503050406030204" pitchFamily="18" charset="0"/>
                      </a:rPr>
                      <m:t>f</m:t>
                    </m:r>
                    <m:r>
                      <m:rPr>
                        <m:nor/>
                      </m:rPr>
                      <a:rPr lang="en-US" altLang="ko-KR" sz="23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sz="23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3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2300" i="1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en-US" altLang="ko-KR" sz="2300" dirty="0" smtClean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464" t="-26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023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최소제곱 </a:t>
            </a:r>
            <a:r>
              <a:rPr lang="ko-KR" altLang="en-US" dirty="0" err="1"/>
              <a:t>추정량들의</a:t>
            </a:r>
            <a:r>
              <a:rPr lang="ko-KR" altLang="en-US" dirty="0"/>
              <a:t> </a:t>
            </a:r>
            <a:r>
              <a:rPr lang="ko-KR" altLang="en-US" dirty="0" err="1" smtClean="0"/>
              <a:t>표집분포</a:t>
            </a:r>
            <a:r>
              <a:rPr lang="en-US" altLang="ko-KR" dirty="0" smtClean="0"/>
              <a:t>(3)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altLang="ko-KR" sz="2400" dirty="0" smtClean="0"/>
                  <a:t>3. </a:t>
                </a:r>
                <a:r>
                  <a:rPr lang="ko-KR" altLang="en-US" sz="2400" dirty="0" smtClean="0"/>
                  <a:t>지정된 값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ko-KR" altLang="en-US" sz="2400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sz="2400" dirty="0" smtClean="0"/>
                  <a:t>서 평균반응은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2400" dirty="0" smtClean="0"/>
                  <a:t>이다</a:t>
                </a:r>
                <a:r>
                  <a:rPr lang="en-US" altLang="ko-KR" sz="2400" dirty="0" smtClean="0"/>
                  <a:t>. </a:t>
                </a:r>
                <a:r>
                  <a:rPr lang="ko-KR" altLang="en-US" sz="2400" dirty="0" smtClean="0"/>
                  <a:t>이는</a:t>
                </a: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:r>
                  <a:rPr lang="ko-KR" altLang="en-US" sz="2400" dirty="0" smtClean="0"/>
                  <a:t> </a:t>
                </a: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ko-KR" alt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ko-KR" alt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sSup>
                        <m:s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400" b="0" i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14:m>
                  <m:oMath xmlns:m="http://schemas.openxmlformats.org/officeDocument/2006/math">
                    <m:r>
                      <a:rPr lang="ko-KR" altLang="en-US" sz="2400" i="1" dirty="0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sz="2400" dirty="0" smtClean="0"/>
                  <a:t> 의해 추정되고 추정된 표준오차는 다음과 같다</a:t>
                </a:r>
                <a:r>
                  <a:rPr lang="en-US" altLang="ko-KR" sz="2400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  <m:rad>
                        <m:radPr>
                          <m:degHide m:val="on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𝑥𝑥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:endParaRPr lang="en-US" altLang="ko-KR" sz="2400" dirty="0" smtClean="0"/>
              </a:p>
              <a:p>
                <a:pPr marL="0" indent="0">
                  <a:buNone/>
                </a:pPr>
                <a:r>
                  <a:rPr lang="ko-KR" altLang="en-US" sz="2400" dirty="0" smtClean="0"/>
                  <a:t>또한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2400" dirty="0" smtClean="0"/>
                  <a:t>에 관한 추론은 다음의 </a:t>
                </a:r>
                <a:r>
                  <a:rPr lang="en-US" altLang="ko-KR" sz="2400" dirty="0" smtClean="0"/>
                  <a:t>t</a:t>
                </a:r>
                <a:r>
                  <a:rPr lang="ko-KR" altLang="en-US" sz="2400" dirty="0" smtClean="0"/>
                  <a:t>분포에 근거한다</a:t>
                </a:r>
                <a:r>
                  <a:rPr lang="en-US" altLang="ko-KR" sz="2400" dirty="0" smtClean="0"/>
                  <a:t>.</a:t>
                </a:r>
                <a:br>
                  <a:rPr lang="en-US" altLang="ko-KR" sz="2400" dirty="0" smtClean="0"/>
                </a:b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ko-KR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̂"/>
                                  <m:ctrlPr>
                                    <a:rPr lang="ko-KR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acc>
                              <m:sSup>
                                <m:sSup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ko-KR" sz="240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)−(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  <m:rad>
                            <m:radPr>
                              <m:degHide m:val="on"/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ko-K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ko-KR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ko-KR" sz="24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ko-KR" sz="2400" i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r>
                                            <a:rPr lang="en-US" altLang="ko-KR" sz="24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ko-KR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ko-KR" sz="24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𝑥𝑥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m:rPr>
                          <m:nor/>
                        </m:rPr>
                        <a:rPr lang="en-US" altLang="ko-KR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ko-KR" sz="24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altLang="ko-KR" sz="24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altLang="ko-KR" sz="2400" b="0" i="0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m:rPr>
                          <m:nor/>
                        </m:rPr>
                        <a:rPr lang="en-US" altLang="ko-KR" sz="2400" b="0" i="0" smtClean="0">
                          <a:latin typeface="Cambria Math" panose="02040503050406030204" pitchFamily="18" charset="0"/>
                        </a:rPr>
                        <m:t>.=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754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1559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기울기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/>
                  <a:t>에 관한 추론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2" name="제목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dirty="0" smtClean="0"/>
                  <a:t>일 경우에는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 smtClean="0"/>
                  <a:t>의 </a:t>
                </a:r>
                <a:r>
                  <a:rPr lang="ko-KR" altLang="en-US" dirty="0"/>
                  <a:t>변</a:t>
                </a:r>
                <a:r>
                  <a:rPr lang="ko-KR" altLang="en-US" dirty="0" smtClean="0"/>
                  <a:t>화에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dirty="0" smtClean="0"/>
                  <a:t>의 값이 영향을 받지 않음</a:t>
                </a:r>
                <a:endParaRPr lang="en-US" altLang="ko-KR" dirty="0" smtClean="0"/>
              </a:p>
              <a:p>
                <a:r>
                  <a:rPr lang="ko-KR" altLang="en-US" dirty="0" smtClean="0"/>
                  <a:t>따라서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dirty="0" smtClean="0"/>
                  <a:t>인지 여부를 체크하는 것이 중요</a:t>
                </a:r>
                <a:endParaRPr lang="en-US" altLang="ko-KR" dirty="0" smtClean="0"/>
              </a:p>
              <a:p>
                <a:endParaRPr lang="en-US" altLang="ko-KR" dirty="0"/>
              </a:p>
              <a:p>
                <a:r>
                  <a:rPr lang="ko-KR" altLang="en-US" dirty="0" err="1" smtClean="0"/>
                  <a:t>귀무가설</a:t>
                </a:r>
                <a:r>
                  <a:rPr lang="ko-KR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dirty="0" smtClean="0"/>
                  <a:t>은 다음 검정통계량을 이용해 검정 가능</a:t>
                </a: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𝑥𝑥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            </m:t>
                    </m:r>
                    <m:r>
                      <m:rPr>
                        <m:nor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m:rPr>
                        <m:nor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6611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예제</a:t>
            </a:r>
            <a:r>
              <a:rPr lang="en-US" altLang="ko-KR" dirty="0" smtClean="0"/>
              <a:t>: </a:t>
            </a:r>
            <a:r>
              <a:rPr lang="ko-KR" altLang="en-US" dirty="0" smtClean="0"/>
              <a:t>복용량과 경감시간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ko-KR" altLang="en-US" sz="2000" dirty="0" smtClean="0"/>
                  <a:t>복용량 증가에 따라 경감시간이 증가하는지의 검정</a:t>
                </a:r>
                <a:endParaRPr lang="en-US" altLang="ko-KR" sz="2000" dirty="0" smtClean="0"/>
              </a:p>
              <a:p>
                <a:r>
                  <a:rPr lang="ko-KR" altLang="en-US" sz="2000" dirty="0" smtClean="0"/>
                  <a:t>증가하는 관계라면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000" b="0" i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ko-KR" altLang="en-US" sz="2000" dirty="0" smtClean="0"/>
                  <a:t>이므로 </a:t>
                </a:r>
                <a:endParaRPr lang="en-US" altLang="ko-KR" sz="2000" dirty="0" smtClean="0"/>
              </a:p>
              <a:p>
                <a:pPr lvl="1"/>
                <a:r>
                  <a:rPr lang="ko-KR" altLang="en-US" sz="1800" dirty="0" err="1" smtClean="0"/>
                  <a:t>단측</a:t>
                </a:r>
                <a:r>
                  <a:rPr lang="ko-KR" altLang="en-US" sz="1800" dirty="0" smtClean="0"/>
                  <a:t> 대립가설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altLang="ko-KR" sz="1800" dirty="0" smtClean="0"/>
              </a:p>
              <a:p>
                <a:pPr lvl="1"/>
                <a:r>
                  <a:rPr lang="ko-KR" altLang="en-US" sz="1800" dirty="0" err="1" smtClean="0"/>
                  <a:t>귀무가설</a:t>
                </a:r>
                <a:r>
                  <a:rPr lang="ko-KR" altLang="en-US" sz="18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ko-KR" sz="1800" dirty="0" smtClean="0"/>
              </a:p>
              <a:p>
                <a:r>
                  <a:rPr lang="ko-KR" altLang="en-US" sz="2000" dirty="0" smtClean="0"/>
                  <a:t>유의수준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ko-KR" altLang="en-US" sz="2000" dirty="0" smtClean="0"/>
                  <a:t>로 설정하면</a:t>
                </a:r>
                <a:r>
                  <a:rPr lang="en-US" altLang="ko-KR" sz="2000" dirty="0" smtClean="0"/>
                  <a:t>, </a:t>
                </a:r>
                <a:r>
                  <a:rPr lang="ko-KR" altLang="en-US" sz="2000" dirty="0" smtClean="0"/>
                  <a:t>자유도가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−2=8</m:t>
                    </m:r>
                  </m:oMath>
                </a14:m>
                <a:r>
                  <a:rPr lang="ko-KR" altLang="en-US" sz="2000" dirty="0" smtClean="0"/>
                  <a:t>일 때</a:t>
                </a:r>
                <a:r>
                  <a:rPr lang="en-US" altLang="ko-KR" sz="20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0.05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=1.860</m:t>
                    </m:r>
                  </m:oMath>
                </a14:m>
                <a:r>
                  <a:rPr lang="ko-KR" altLang="en-US" sz="2000" dirty="0" smtClean="0"/>
                  <a:t>이므로</a:t>
                </a:r>
                <a:r>
                  <a:rPr lang="en-US" altLang="ko-KR" sz="2000" dirty="0" smtClean="0"/>
                  <a:t>, </a:t>
                </a:r>
                <a:r>
                  <a:rPr lang="ko-KR" altLang="en-US" sz="2000" dirty="0" err="1" smtClean="0"/>
                  <a:t>기각역은</a:t>
                </a:r>
                <a:r>
                  <a:rPr lang="ko-KR" alt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≥1.860</m:t>
                    </m:r>
                  </m:oMath>
                </a14:m>
                <a:r>
                  <a:rPr lang="ko-KR" altLang="en-US" sz="2000" dirty="0" smtClean="0"/>
                  <a:t>이 됨</a:t>
                </a:r>
                <a:endParaRPr lang="en-US" altLang="ko-KR" sz="2000" dirty="0" smtClean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=2.74</m:t>
                    </m:r>
                  </m:oMath>
                </a14:m>
                <a:endParaRPr lang="en-US" altLang="ko-KR" sz="2000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𝑆𝑆𝐸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63.6528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=7.9566,     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=2.8207</m:t>
                    </m:r>
                  </m:oMath>
                </a14:m>
                <a:endParaRPr lang="en-US" altLang="ko-KR" sz="2000" dirty="0" smtClean="0"/>
              </a:p>
              <a:p>
                <a:r>
                  <a:rPr lang="ko-KR" altLang="en-US" sz="2000" dirty="0" smtClean="0"/>
                  <a:t>추정된 </a:t>
                </a:r>
                <a:r>
                  <a:rPr lang="en-US" altLang="ko-KR" sz="2000" dirty="0" smtClean="0"/>
                  <a:t>S.E.(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𝑥𝑥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2.8207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40.90</m:t>
                            </m:r>
                          </m:e>
                        </m:rad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=0.441</m:t>
                    </m:r>
                  </m:oMath>
                </a14:m>
                <a:endParaRPr lang="en-US" altLang="ko-KR" sz="2000" b="0" dirty="0" smtClean="0"/>
              </a:p>
              <a:p>
                <a:r>
                  <a:rPr lang="ko-KR" altLang="en-US" sz="2000" dirty="0" smtClean="0"/>
                  <a:t>검정통계량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ko-KR" alt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num>
                      <m:den>
                        <m:r>
                          <m:rPr>
                            <m:nor/>
                          </m:rPr>
                          <a:rPr lang="en-US" altLang="ko-KR" sz="2000" dirty="0"/>
                          <m:t>S</m:t>
                        </m:r>
                        <m:r>
                          <m:rPr>
                            <m:nor/>
                          </m:rPr>
                          <a:rPr lang="en-US" altLang="ko-KR" sz="2000" dirty="0"/>
                          <m:t>.</m:t>
                        </m:r>
                        <m:r>
                          <m:rPr>
                            <m:nor/>
                          </m:rPr>
                          <a:rPr lang="en-US" altLang="ko-KR" sz="2000" dirty="0"/>
                          <m:t>E</m:t>
                        </m:r>
                        <m:r>
                          <m:rPr>
                            <m:nor/>
                          </m:rPr>
                          <a:rPr lang="en-US" altLang="ko-KR" sz="2000" dirty="0"/>
                          <m:t>.(</m:t>
                        </m:r>
                        <m:acc>
                          <m:accPr>
                            <m:chr m:val="̂"/>
                            <m:ctrlPr>
                              <a:rPr lang="ko-KR" alt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2.74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0.441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=6.213</m:t>
                    </m:r>
                  </m:oMath>
                </a14:m>
                <a:endParaRPr lang="en-US" altLang="ko-KR" sz="2000" dirty="0" smtClean="0"/>
              </a:p>
              <a:p>
                <a:r>
                  <a:rPr lang="ko-KR" altLang="en-US" sz="2000" dirty="0" smtClean="0"/>
                  <a:t>관측된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ko-KR" altLang="en-US" sz="2000" i="1" smtClean="0">
                        <a:latin typeface="Cambria Math" panose="02040503050406030204" pitchFamily="18" charset="0"/>
                      </a:rPr>
                      <m:t>값</m:t>
                    </m:r>
                  </m:oMath>
                </a14:m>
                <a:r>
                  <a:rPr lang="ko-KR" altLang="en-US" sz="2000" dirty="0" smtClean="0"/>
                  <a:t>은 </a:t>
                </a:r>
                <a:r>
                  <a:rPr lang="ko-KR" altLang="en-US" sz="2000" dirty="0" err="1" smtClean="0"/>
                  <a:t>기각역에</a:t>
                </a:r>
                <a:r>
                  <a:rPr lang="ko-KR" altLang="en-US" sz="2000" dirty="0" smtClean="0"/>
                  <a:t> 속하므로</a:t>
                </a:r>
                <a:r>
                  <a:rPr lang="en-US" altLang="ko-KR" sz="20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000" dirty="0" smtClean="0"/>
                  <a:t>는 기각됨</a:t>
                </a:r>
                <a:endParaRPr lang="en-US" altLang="ko-KR" sz="2000" dirty="0" smtClean="0"/>
              </a:p>
              <a:p>
                <a:pPr lvl="1"/>
                <a:r>
                  <a:rPr lang="ko-KR" altLang="en-US" sz="1500" dirty="0" smtClean="0"/>
                  <a:t>실제 </a:t>
                </a:r>
                <a:r>
                  <a:rPr lang="en-US" altLang="ko-KR" sz="1500" dirty="0" smtClean="0"/>
                  <a:t>p-</a:t>
                </a:r>
                <a:r>
                  <a:rPr lang="ko-KR" altLang="en-US" sz="1500" dirty="0" smtClean="0"/>
                  <a:t>값을 계산하면 </a:t>
                </a:r>
                <a14:m>
                  <m:oMath xmlns:m="http://schemas.openxmlformats.org/officeDocument/2006/math"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&gt;6.213</m:t>
                        </m:r>
                      </m:e>
                    </m:d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=0.0001</m:t>
                    </m:r>
                  </m:oMath>
                </a14:m>
                <a:r>
                  <a:rPr lang="ko-KR" altLang="en-US" sz="1500" dirty="0" smtClean="0"/>
                  <a:t>로 매우 작으며</a:t>
                </a:r>
                <a:r>
                  <a:rPr lang="en-US" altLang="ko-KR" sz="1500" dirty="0" smtClean="0"/>
                  <a:t>, </a:t>
                </a:r>
                <a:r>
                  <a:rPr lang="ko-KR" altLang="en-US" sz="1500" dirty="0" smtClean="0"/>
                  <a:t>복용량이 많아질수록 경감시간이 증가한다는 강한 증거</a:t>
                </a:r>
                <a:endParaRPr lang="ko-KR" altLang="en-US" sz="15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464" t="-2101" b="-14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8027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검</m:t>
                    </m:r>
                  </m:oMath>
                </a14:m>
                <a:r>
                  <a:rPr lang="ko-KR" altLang="en-US" dirty="0" smtClean="0"/>
                  <a:t>정시 주의점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만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약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ko-KR" altLang="en-US" dirty="0" smtClean="0"/>
                  <a:t> 기각되지 않았다면</a:t>
                </a:r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이 때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dirty="0" smtClean="0"/>
                  <a:t>가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dirty="0" smtClean="0"/>
                  <a:t> 종속되지 않는다고 결론을 내리는 것은 잘못</a:t>
                </a:r>
                <a:endParaRPr lang="en-US" altLang="ko-KR" dirty="0" smtClean="0"/>
              </a:p>
              <a:p>
                <a:pPr lvl="1"/>
                <a:endParaRPr lang="en-US" altLang="ko-KR" dirty="0"/>
              </a:p>
              <a:p>
                <a:r>
                  <a:rPr lang="ko-KR" altLang="en-US" dirty="0" smtClean="0"/>
                  <a:t>실험에서 주어진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 smtClean="0"/>
                  <a:t>값의 범위 내에서 선형관계가 없다는 것</a:t>
                </a:r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 smtClean="0"/>
                  <a:t>값이 너무 적게 변해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dirty="0" smtClean="0"/>
                  <a:t>의 값에 영향을 주지 못할 수 있음</a:t>
                </a:r>
                <a:endParaRPr lang="en-US" altLang="ko-KR" dirty="0" smtClean="0"/>
              </a:p>
              <a:p>
                <a:r>
                  <a:rPr lang="ko-KR" altLang="en-US" dirty="0" smtClean="0"/>
                  <a:t>가정된 모형이 타당한 경우에 한해 종속성이 없다는 것</a:t>
                </a:r>
                <a:endParaRPr lang="en-US" altLang="ko-KR" dirty="0" smtClean="0"/>
              </a:p>
              <a:p>
                <a:pPr lvl="1"/>
                <a:r>
                  <a:rPr lang="ko-KR" altLang="en-US" dirty="0" err="1" smtClean="0"/>
                  <a:t>산점도는</a:t>
                </a:r>
                <a:r>
                  <a:rPr lang="ko-KR" altLang="en-US" dirty="0" smtClean="0"/>
                  <a:t> 곡선 관계를 나타냄에도 불구하고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직선 관계를 나타내는 모형을 가정하여</a:t>
                </a:r>
                <a:r>
                  <a:rPr lang="en-US" altLang="ko-KR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ko-KR" altLang="en-US" dirty="0" smtClean="0"/>
                  <a:t>를 검정하였기 때문에</a:t>
                </a:r>
                <a:r>
                  <a:rPr lang="en-US" altLang="ko-KR" dirty="0" smtClean="0"/>
                  <a:t>,</a:t>
                </a:r>
              </a:p>
              <a:p>
                <a:pPr lvl="1"/>
                <a:r>
                  <a:rPr lang="en-US" altLang="ko-KR" dirty="0" smtClean="0"/>
                  <a:t>"</a:t>
                </a:r>
                <a:r>
                  <a:rPr lang="ko-KR" altLang="en-US" dirty="0" smtClean="0"/>
                  <a:t>관계가 없다</a:t>
                </a:r>
                <a:r>
                  <a:rPr lang="en-US" altLang="ko-KR" dirty="0" smtClean="0"/>
                  <a:t>"</a:t>
                </a:r>
                <a:r>
                  <a:rPr lang="ko-KR" altLang="en-US" dirty="0" smtClean="0"/>
                  <a:t> 보다는 </a:t>
                </a:r>
                <a:r>
                  <a:rPr lang="en-US" altLang="ko-KR" dirty="0" smtClean="0"/>
                  <a:t>"</a:t>
                </a:r>
                <a:r>
                  <a:rPr lang="ko-KR" altLang="en-US" dirty="0" smtClean="0"/>
                  <a:t>선형관계가 없다</a:t>
                </a:r>
                <a:r>
                  <a:rPr lang="en-US" altLang="ko-KR" dirty="0" smtClean="0"/>
                  <a:t>"</a:t>
                </a:r>
                <a:r>
                  <a:rPr lang="ko-KR" altLang="en-US" dirty="0" smtClean="0"/>
                  <a:t>고 해석하여야 함</a:t>
                </a:r>
                <a:endParaRPr lang="en-US" altLang="ko-KR" dirty="0" smtClean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3376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 smtClean="0"/>
                  <a:t>에 대한 일반적인 추론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귀무가설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dirty="0" smtClean="0"/>
                  <a:t> 대한 검정은 다음의 통계량에 근거를 둔다</a:t>
                </a:r>
                <a:r>
                  <a:rPr lang="en-US" altLang="ko-KR" dirty="0" smtClean="0"/>
                  <a:t>.</a:t>
                </a:r>
                <a:br>
                  <a:rPr lang="en-US" altLang="ko-KR" dirty="0" smtClean="0"/>
                </a:b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𝑥𝑥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             </m:t>
                    </m:r>
                    <m:r>
                      <m:rPr>
                        <m:nor/>
                      </m:rPr>
                      <a:rPr lang="en-US" altLang="ko-KR"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en-US" altLang="ko-KR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altLang="ko-KR">
                        <a:latin typeface="Cambria Math" panose="02040503050406030204" pitchFamily="18" charset="0"/>
                      </a:rPr>
                      <m:t>f</m:t>
                    </m:r>
                    <m:r>
                      <m:rPr>
                        <m:nor/>
                      </m:rPr>
                      <a:rPr lang="en-US" altLang="ko-KR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ko-KR" alt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ko-KR" altLang="en-US" b="1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b="1" dirty="0" smtClean="0"/>
                  <a:t> 대한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𝟏𝟎𝟎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ko-KR" altLang="en-US" b="1" dirty="0" smtClean="0"/>
                  <a:t> 신뢰구간</a:t>
                </a:r>
                <a:r>
                  <a:rPr lang="ko-KR" altLang="en-US" dirty="0" smtClean="0"/>
                  <a:t>은 다음과 같다</a:t>
                </a:r>
                <a:r>
                  <a:rPr lang="en-US" altLang="ko-KR" dirty="0" smtClean="0"/>
                  <a:t>.</a:t>
                </a:r>
                <a:br>
                  <a:rPr lang="en-US" altLang="ko-KR" dirty="0" smtClean="0"/>
                </a:b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f>
                              <m:fPr>
                                <m:type m:val="lin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𝑥𝑥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acc>
                          <m:accPr>
                            <m:chr m:val="̂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f>
                              <m:fPr>
                                <m:type m:val="lin"/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𝑥𝑥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lang="en-US" altLang="ko-KR" dirty="0" smtClean="0"/>
              </a:p>
              <a:p>
                <a:r>
                  <a:rPr lang="ko-KR" altLang="en-US" dirty="0" smtClean="0"/>
                  <a:t>여기서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f>
                          <m:fPr>
                            <m:type m:val="lin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ko-KR" altLang="en-US" dirty="0" smtClean="0"/>
                  <a:t>는 자유도가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ko-KR" altLang="en-US" dirty="0" smtClean="0"/>
                  <a:t>인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분</m:t>
                    </m:r>
                  </m:oMath>
                </a14:m>
                <a:r>
                  <a:rPr lang="ko-KR" altLang="en-US" dirty="0" smtClean="0"/>
                  <a:t>포에서 상위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ko-KR" altLang="en-US" dirty="0" smtClean="0"/>
                  <a:t>인 점을 의미한다</a:t>
                </a:r>
                <a:r>
                  <a:rPr lang="en-US" altLang="ko-KR" dirty="0" smtClean="0"/>
                  <a:t>.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043" t="-2381" b="-1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6177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예제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: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dirty="0" smtClean="0"/>
                  <a:t> 신뢰구간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회귀직선 기울기에 대한 </a:t>
                </a:r>
                <a:r>
                  <a:rPr lang="en-US" altLang="ko-KR" dirty="0" smtClean="0"/>
                  <a:t>95% </a:t>
                </a:r>
                <a:r>
                  <a:rPr lang="ko-KR" altLang="en-US" dirty="0" smtClean="0"/>
                  <a:t>신뢰구간을 </a:t>
                </a:r>
                <a:r>
                  <a:rPr lang="ko-KR" altLang="en-US" smtClean="0"/>
                  <a:t>구하라</a:t>
                </a:r>
                <a:r>
                  <a:rPr lang="en-US" altLang="ko-KR" smtClean="0"/>
                  <a:t>.</a:t>
                </a:r>
              </a:p>
              <a:p>
                <a:endParaRPr lang="en-US" altLang="ko-KR" dirty="0" smtClean="0"/>
              </a:p>
              <a:p>
                <a:r>
                  <a:rPr lang="ko-KR" altLang="en-US" dirty="0" smtClean="0"/>
                  <a:t>앞의 예제에서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=2.74</m:t>
                    </m:r>
                  </m:oMath>
                </a14:m>
                <a:r>
                  <a:rPr lang="en-US" altLang="ko-KR" dirty="0" smtClean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𝑥𝑥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=0.441</m:t>
                    </m:r>
                  </m:oMath>
                </a14:m>
                <a:r>
                  <a:rPr lang="ko-KR" altLang="en-US" dirty="0" smtClean="0"/>
                  <a:t> 이므로</a:t>
                </a:r>
                <a:endParaRPr lang="en-US" altLang="ko-KR" dirty="0" smtClean="0"/>
              </a:p>
              <a:p>
                <a:r>
                  <a:rPr lang="ko-KR" altLang="en-US" dirty="0" smtClean="0"/>
                  <a:t>구하고자 하는 신뢰구간은</a:t>
                </a:r>
                <a:endParaRPr lang="en-US" altLang="ko-KR" dirty="0" smtClean="0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2.74±2.306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×0.441=2.74±1.02</m:t>
                    </m:r>
                  </m:oMath>
                </a14:m>
                <a:r>
                  <a:rPr lang="ko-KR" altLang="en-US" dirty="0" smtClean="0"/>
                  <a:t> 또는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1.72, 3.76</m:t>
                        </m:r>
                      </m:e>
                    </m:d>
                  </m:oMath>
                </a14:m>
                <a:endParaRPr lang="en-US" altLang="ko-KR" b="0" dirty="0" smtClean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490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절편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dirty="0" smtClean="0"/>
                  <a:t> 관한 추론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ko-KR" altLang="en-US" dirty="0" smtClean="0"/>
                  <a:t>다소 덜 중요하다고 생각할 수 있지만</a:t>
                </a:r>
                <a:r>
                  <a:rPr lang="en-US" altLang="ko-KR" dirty="0" smtClean="0"/>
                  <a:t>, </a:t>
                </a:r>
                <a:r>
                  <a:rPr lang="ko-KR" altLang="en-US" dirty="0" err="1" smtClean="0"/>
                  <a:t>모수</a:t>
                </a:r>
                <a:r>
                  <a:rPr lang="ko-KR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dirty="0" smtClean="0"/>
                  <a:t> 대한 추론도 가능</a:t>
                </a:r>
                <a:endParaRPr lang="en-US" altLang="ko-KR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ko-KR" altLang="en-US" b="1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b="1" dirty="0"/>
                  <a:t> 대한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𝟏𝟎𝟎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ko-KR" altLang="en-US" b="1" dirty="0"/>
                  <a:t> 신뢰구간</a:t>
                </a:r>
                <a:r>
                  <a:rPr lang="ko-KR" altLang="en-US" dirty="0"/>
                  <a:t>은 다음과 같다</a:t>
                </a:r>
                <a:r>
                  <a:rPr lang="en-US" altLang="ko-KR" dirty="0" smtClean="0"/>
                  <a:t>.</a:t>
                </a:r>
                <a:br>
                  <a:rPr lang="en-US" altLang="ko-KR" dirty="0" smtClean="0"/>
                </a:br>
                <a:r>
                  <a:rPr lang="en-US" altLang="ko-KR" dirty="0"/>
                  <a:t/>
                </a:r>
                <a:br>
                  <a:rPr lang="en-US" altLang="ko-KR" dirty="0"/>
                </a:b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f>
                              <m:fPr>
                                <m:type m:val="lin"/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ad>
                          <m:radPr>
                            <m:degHide m:val="on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ko-KR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𝑥𝑥</m:t>
                                    </m:r>
                                  </m:sub>
                                </m:sSub>
                              </m:den>
                            </m:f>
                          </m:e>
                        </m:rad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acc>
                          <m:accPr>
                            <m:chr m:val="̂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f>
                              <m:fPr>
                                <m:type m:val="lin"/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ad>
                          <m:radPr>
                            <m:degHide m:val="on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ko-KR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𝑥𝑥</m:t>
                                    </m:r>
                                  </m:sub>
                                </m:sSub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lang="en-US" altLang="ko-KR" dirty="0" smtClean="0"/>
              </a:p>
              <a:p>
                <a:r>
                  <a:rPr lang="ko-KR" altLang="en-US" dirty="0" smtClean="0"/>
                  <a:t>앞의 예제에서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=−1.07,  </m:t>
                    </m:r>
                    <m:acc>
                      <m:accPr>
                        <m:chr m:val="̅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=5.9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𝑥𝑥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=40.9,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=2.8207 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dirty="0" smtClean="0"/>
                  <a:t>었으므로</a:t>
                </a:r>
                <a:r>
                  <a:rPr lang="en-US" altLang="ko-KR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95% </a:t>
                </a:r>
                <a:r>
                  <a:rPr lang="ko-KR" altLang="en-US" dirty="0" smtClean="0"/>
                  <a:t>신뢰구간은</a:t>
                </a: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−1.07±2.306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×2.8207</m:t>
                    </m:r>
                    <m:rad>
                      <m:radPr>
                        <m:deg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5.9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40.9</m:t>
                            </m:r>
                          </m:den>
                        </m:f>
                      </m:e>
                    </m:ra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=−1.07±6.34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29045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dirty="0" smtClean="0"/>
                  <a:t>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가정된 모형에서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dirty="0" smtClean="0"/>
                  <a:t>은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dirty="0" smtClean="0"/>
                  <a:t>에 대응되는 평균반응을 나타냄</a:t>
                </a:r>
                <a:endParaRPr lang="en-US" altLang="ko-KR" dirty="0" smtClean="0"/>
              </a:p>
              <a:p>
                <a:endParaRPr lang="en-US" altLang="ko-KR" dirty="0" smtClean="0"/>
              </a:p>
              <a:p>
                <a:r>
                  <a:rPr lang="ko-KR" altLang="en-US" dirty="0" smtClean="0"/>
                  <a:t>앞의 예제의 약품 문제에서는 사용된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 smtClean="0"/>
                  <a:t>값의 범위가 </a:t>
                </a:r>
                <a:r>
                  <a:rPr lang="en-US" altLang="ko-KR" dirty="0" smtClean="0"/>
                  <a:t>3</a:t>
                </a:r>
                <a:r>
                  <a:rPr lang="ko-KR" altLang="en-US" dirty="0" smtClean="0"/>
                  <a:t>에서 </a:t>
                </a:r>
                <a:r>
                  <a:rPr lang="en-US" altLang="ko-KR" dirty="0" smtClean="0"/>
                  <a:t>9</a:t>
                </a:r>
                <a:r>
                  <a:rPr lang="ko-KR" altLang="en-US" dirty="0" smtClean="0"/>
                  <a:t>사이이기 때문에 </a:t>
                </a:r>
                <a:r>
                  <a:rPr lang="ko-KR" altLang="en-US" dirty="0" err="1" smtClean="0"/>
                  <a:t>모수</a:t>
                </a:r>
                <a:r>
                  <a:rPr lang="ko-KR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ko-KR" altLang="en-US" dirty="0" smtClean="0"/>
                  <a:t> 실제로 큰 의미를 가지지는 못함</a:t>
                </a:r>
                <a:endParaRPr lang="en-US" altLang="ko-KR" dirty="0" smtClean="0"/>
              </a:p>
              <a:p>
                <a:endParaRPr lang="en-US" altLang="ko-KR" dirty="0" smtClean="0"/>
              </a:p>
              <a:p>
                <a:r>
                  <a:rPr lang="ko-KR" altLang="en-US" dirty="0" smtClean="0"/>
                  <a:t>실제로 추정된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=−1.07</m:t>
                    </m:r>
                  </m:oMath>
                </a14:m>
                <a:r>
                  <a:rPr lang="ko-KR" altLang="en-US" dirty="0" smtClean="0"/>
                  <a:t>는 증세의 경감기간으로써 의미를 가지지 못함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16156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지정된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 smtClean="0"/>
                  <a:t>값에 대한 평균반응의 추정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ko-KR" altLang="en-US" sz="2000" dirty="0" smtClean="0"/>
                  <a:t>회귀연구의 가장 중요한 목적은 입력변수의 특정한 값에 대응되는 평균반응을 적합한 회귀 직선을 이용하여 추정하는 것</a:t>
                </a:r>
                <a:endParaRPr lang="en-US" altLang="ko-KR" sz="2000" dirty="0" smtClean="0"/>
              </a:p>
              <a:p>
                <a:r>
                  <a:rPr lang="ko-KR" altLang="en-US" sz="2000" dirty="0" smtClean="0"/>
                  <a:t>약의 특정 복용량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2000" b="0" i="0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ko-KR" altLang="en-US" sz="2000" i="1" dirty="0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en-US" altLang="ko-KR" sz="2000" dirty="0" smtClean="0"/>
                  <a:t> </a:t>
                </a:r>
                <a:r>
                  <a:rPr lang="ko-KR" altLang="en-US" sz="2000" dirty="0" smtClean="0"/>
                  <a:t>대응되는 평균반응은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altLang="ko-KR" sz="2000" dirty="0" smtClean="0"/>
              </a:p>
              <a:p>
                <a:r>
                  <a:rPr lang="ko-KR" altLang="en-US" sz="2000" dirty="0" smtClean="0"/>
                  <a:t>이 평균반응은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altLang="ko-KR" sz="20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ko-KR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20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2000" dirty="0" smtClean="0"/>
                  <a:t>에 의해 추정</a:t>
                </a:r>
                <a:endParaRPr lang="en-US" altLang="ko-KR" sz="2000" dirty="0" smtClean="0"/>
              </a:p>
              <a:p>
                <a:r>
                  <a:rPr lang="ko-KR" altLang="en-US" sz="2000" b="1" dirty="0" smtClean="0"/>
                  <a:t>평균반응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lang="en-US" altLang="ko-KR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2000" b="1" dirty="0" smtClean="0"/>
                  <a:t>에 대한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𝟏𝟎𝟎</m:t>
                    </m:r>
                    <m:d>
                      <m:d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d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ko-KR" altLang="en-US" sz="2000" b="1" dirty="0" smtClean="0"/>
                  <a:t> 신뢰구간</a:t>
                </a:r>
                <a:r>
                  <a:rPr lang="ko-KR" altLang="en-US" sz="2000" dirty="0" smtClean="0"/>
                  <a:t>은 다음과 같다</a:t>
                </a:r>
                <a:r>
                  <a:rPr lang="en-US" altLang="ko-KR" sz="2000" dirty="0" smtClean="0"/>
                  <a:t>.</a:t>
                </a:r>
                <a:br>
                  <a:rPr lang="en-US" altLang="ko-KR" sz="2000" dirty="0" smtClean="0"/>
                </a:br>
                <a:endParaRPr lang="en-US" altLang="ko-KR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ko-KR" altLang="en-US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ko-KR" altLang="en-US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00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f>
                            <m:fPr>
                              <m:type m:val="lin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𝑆</m:t>
                      </m:r>
                      <m:rad>
                        <m:radPr>
                          <m:deg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𝑥𝑥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r>
                  <a:rPr lang="en-US" altLang="ko-KR" sz="2000" dirty="0" smtClean="0"/>
                  <a:t/>
                </a:r>
                <a:br>
                  <a:rPr lang="en-US" altLang="ko-KR" sz="2000" dirty="0" smtClean="0"/>
                </a:br>
                <a14:m>
                  <m:oMath xmlns:m="http://schemas.openxmlformats.org/officeDocument/2006/math">
                    <m:r>
                      <a:rPr lang="ko-KR" altLang="en-US" sz="2000" i="1" dirty="0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ko-KR" altLang="en-US" sz="2000" dirty="0" smtClean="0"/>
                  <a:t>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ko-KR" altLang="en-US" sz="2000" i="1" dirty="0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sz="2000" dirty="0" smtClean="0"/>
                  <a:t> 검정하기 위해 다음을 이용한다</a:t>
                </a:r>
                <a:r>
                  <a:rPr lang="en-US" altLang="ko-KR" sz="2000" dirty="0" smtClean="0"/>
                  <a:t>.</a:t>
                </a:r>
                <a:r>
                  <a:rPr lang="en-US" altLang="ko-KR" sz="2000" b="0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altLang="ko-KR" sz="2000" b="0" i="1" dirty="0" smtClean="0">
                    <a:latin typeface="Cambria Math" panose="02040503050406030204" pitchFamily="18" charset="0"/>
                  </a:rPr>
                </a:br>
                <a:endParaRPr lang="en-US" altLang="ko-KR" sz="2000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̂"/>
                              <m:ctrlP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200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  <m:rad>
                            <m:radPr>
                              <m:degHide m:val="on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ko-KR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ko-KR" sz="20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ko-KR" sz="2000" i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ko-KR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ko-KR" sz="20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𝑥𝑥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m:rPr>
                          <m:nor/>
                        </m:rP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m:rPr>
                          <m:nor/>
                        </m:rP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522" t="-1401" b="-35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34451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평균 경감기간에 대한 신뢰구간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ko-KR" altLang="en-US" sz="2400" dirty="0" smtClean="0"/>
                  <a:t>이전의 예제에서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=6</m:t>
                    </m:r>
                    <m:r>
                      <a:rPr lang="en-US" altLang="ko-KR" sz="24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9.5</m:t>
                    </m:r>
                  </m:oMath>
                </a14:m>
                <a:r>
                  <a:rPr lang="en-US" altLang="ko-KR" sz="2400" dirty="0" smtClean="0"/>
                  <a:t> </a:t>
                </a:r>
                <a:r>
                  <a:rPr lang="ko-KR" altLang="en-US" sz="2400" dirty="0" smtClean="0"/>
                  <a:t>일 때 평균 경감기간의 </a:t>
                </a:r>
                <a:r>
                  <a:rPr lang="en-US" altLang="ko-KR" sz="2400" dirty="0" smtClean="0"/>
                  <a:t>95% </a:t>
                </a:r>
                <a:r>
                  <a:rPr lang="ko-KR" altLang="en-US" sz="2400" dirty="0" smtClean="0"/>
                  <a:t>신뢰구간을 구하라</a:t>
                </a:r>
                <a:r>
                  <a:rPr lang="en-US" altLang="ko-KR" sz="2400" dirty="0" smtClean="0"/>
                  <a:t>.</a:t>
                </a:r>
              </a:p>
              <a:p>
                <a:r>
                  <a:rPr lang="ko-KR" altLang="en-US" sz="2400" dirty="0" err="1" smtClean="0"/>
                  <a:t>적합된</a:t>
                </a:r>
                <a:r>
                  <a:rPr lang="ko-KR" altLang="en-US" sz="2400" dirty="0" smtClean="0"/>
                  <a:t> 회귀직선 </a:t>
                </a:r>
                <a:r>
                  <a:rPr lang="en-US" altLang="ko-KR" sz="2400" dirty="0" smtClean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=−1.07+2.74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ko-KR" sz="2400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=6</m:t>
                    </m:r>
                    <m:r>
                      <a:rPr lang="ko-KR" altLang="en-US" sz="2400" i="1" smtClean="0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sz="2400" dirty="0" smtClean="0"/>
                  <a:t> 평균 경감기간 </a:t>
                </a:r>
                <a:r>
                  <a:rPr lang="ko-KR" altLang="en-US" sz="2400" dirty="0" err="1" smtClean="0"/>
                  <a:t>추정값</a:t>
                </a:r>
                <a:r>
                  <a:rPr lang="ko-KR" altLang="en-US" sz="2400" dirty="0" smtClean="0"/>
                  <a:t> </a:t>
                </a:r>
                <a:r>
                  <a:rPr lang="en-US" altLang="ko-KR" sz="2400" dirty="0" smtClean="0"/>
                  <a:t>: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−1.07+2.74</m:t>
                    </m:r>
                    <m:r>
                      <a:rPr lang="en-US" altLang="ko-K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6=15.37</m:t>
                    </m:r>
                  </m:oMath>
                </a14:m>
                <a:endParaRPr lang="en-US" altLang="ko-KR" sz="2400" dirty="0" smtClean="0"/>
              </a:p>
              <a:p>
                <a:r>
                  <a:rPr lang="ko-KR" altLang="en-US" sz="2400" dirty="0" smtClean="0"/>
                  <a:t>추정된 표준오차</a:t>
                </a: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𝑠</m:t>
                    </m:r>
                    <m:rad>
                      <m:radPr>
                        <m:degHide m:val="on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altLang="ko-KR" sz="2400" i="1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ko-KR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𝑥𝑥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𝑠</m:t>
                    </m:r>
                    <m:rad>
                      <m:radPr>
                        <m:degHide m:val="on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  <m:t>6−5.9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40.9</m:t>
                            </m:r>
                          </m:den>
                        </m:f>
                      </m:e>
                    </m:ra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=0.893</m:t>
                    </m:r>
                  </m:oMath>
                </a14:m>
                <a:endParaRPr lang="en-US" altLang="ko-KR" sz="2400" b="0" dirty="0" smtClean="0"/>
              </a:p>
              <a:p>
                <a:r>
                  <a:rPr lang="ko-KR" altLang="en-US" sz="2400" dirty="0" smtClean="0"/>
                  <a:t>그러므로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ko-KR" altLang="en-US" sz="2400" dirty="0" smtClean="0"/>
                  <a:t>에 대한 평균 경감기간의 </a:t>
                </a:r>
                <a:r>
                  <a:rPr lang="en-US" altLang="ko-KR" sz="2400" dirty="0" smtClean="0"/>
                  <a:t>95% </a:t>
                </a:r>
                <a:r>
                  <a:rPr lang="ko-KR" altLang="en-US" sz="2400" dirty="0" smtClean="0"/>
                  <a:t>신뢰구간은</a:t>
                </a: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15.37±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×0.893=15.37±2.306×0.893=15.37±2.06</m:t>
                    </m:r>
                  </m:oMath>
                </a14:m>
                <a:endParaRPr lang="en-US" altLang="ko-KR" sz="2400" dirty="0" smtClean="0"/>
              </a:p>
              <a:p>
                <a:r>
                  <a:rPr lang="ko-KR" altLang="en-US" sz="2400" dirty="0" smtClean="0"/>
                  <a:t>같은 방법으로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=9.5</m:t>
                    </m:r>
                    <m:r>
                      <a:rPr lang="ko-KR" altLang="en-US" sz="2400" i="1" smtClean="0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en-US" altLang="ko-KR" sz="2400" dirty="0" smtClean="0"/>
                  <a:t> </a:t>
                </a:r>
                <a:r>
                  <a:rPr lang="ko-KR" altLang="en-US" sz="2400" dirty="0" smtClean="0"/>
                  <a:t>대한 신뢰구간은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24.96±4.20</m:t>
                    </m:r>
                  </m:oMath>
                </a14:m>
                <a:endParaRPr lang="en-US" altLang="ko-KR" sz="24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2" t="-2801" r="-1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71039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평균 경감기간에 대한 </a:t>
            </a:r>
            <a:r>
              <a:rPr lang="ko-KR" altLang="en-US" dirty="0" smtClean="0"/>
              <a:t>신뢰구간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표준오차의 추정에 대한 식</a:t>
                </a: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𝑠</m:t>
                    </m:r>
                    <m:rad>
                      <m:radPr>
                        <m:deg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𝑥𝑥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을</m:t>
                    </m:r>
                  </m:oMath>
                </a14:m>
                <a:r>
                  <a:rPr lang="en-US" altLang="ko-KR" dirty="0" smtClean="0"/>
                  <a:t> </a:t>
                </a:r>
                <a:r>
                  <a:rPr lang="ko-KR" altLang="en-US" dirty="0" smtClean="0"/>
                  <a:t>보면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dirty="0" smtClean="0"/>
                  <a:t>와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ko-KR" altLang="en-US" dirty="0" smtClean="0"/>
                  <a:t>가 가까울 때 표준오차가 작고</a:t>
                </a:r>
                <a:r>
                  <a:rPr lang="en-US" altLang="ko-KR" dirty="0" smtClean="0"/>
                  <a:t>, 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신</m:t>
                    </m:r>
                  </m:oMath>
                </a14:m>
                <a:r>
                  <a:rPr lang="ko-KR" altLang="en-US" dirty="0" smtClean="0"/>
                  <a:t>뢰구간의 폭이 작다</a:t>
                </a:r>
                <a:r>
                  <a:rPr lang="en-US" altLang="ko-KR" dirty="0" smtClean="0"/>
                  <a:t>.</a:t>
                </a:r>
              </a:p>
              <a:p>
                <a:pPr lvl="1"/>
                <a:r>
                  <a:rPr lang="ko-KR" altLang="en-US" dirty="0" smtClean="0"/>
                  <a:t>앞의 예제에서는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=9.5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 smtClean="0"/>
                  <a:t>일 때 신뢰구간의 폭이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ko-KR" altLang="en-US" dirty="0" smtClean="0"/>
                  <a:t>일 때보다 큼을 알 수 있다</a:t>
                </a:r>
                <a:r>
                  <a:rPr lang="en-US" altLang="ko-KR" dirty="0" smtClean="0"/>
                  <a:t>.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 r="-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97675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지정된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 smtClean="0"/>
                  <a:t>값에 대한 개별반응의 예측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ko-KR" altLang="en-US" sz="2600" dirty="0" smtClean="0"/>
                  <a:t>한 명의 알레르기 환자에게 일정량의 약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26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ko-KR" altLang="en-US" sz="2600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sz="2600" dirty="0" smtClean="0"/>
                  <a:t> 복용시켰을 때 알레르기 증세의 경감기간을 예측하는 문제</a:t>
                </a:r>
                <a:endParaRPr lang="en-US" altLang="ko-KR" sz="2600" dirty="0" smtClean="0"/>
              </a:p>
              <a:p>
                <a:pPr lvl="1"/>
                <a:r>
                  <a:rPr lang="ko-KR" altLang="en-US" sz="2200" dirty="0" smtClean="0"/>
                  <a:t>이 문제는 앞의 모든 환자들에 대한 평균 경감기간의 추정하는 문제와는 다름</a:t>
                </a:r>
                <a:endParaRPr lang="en-US" altLang="ko-KR" sz="2200" dirty="0" smtClean="0"/>
              </a:p>
              <a:p>
                <a:r>
                  <a:rPr lang="ko-KR" altLang="en-US" sz="2600" dirty="0" smtClean="0"/>
                  <a:t>반응의 </a:t>
                </a:r>
                <a:r>
                  <a:rPr lang="ko-KR" altLang="en-US" sz="2600" dirty="0" err="1" smtClean="0"/>
                  <a:t>예측값은</a:t>
                </a:r>
                <a:r>
                  <a:rPr lang="ko-KR" altLang="en-US" sz="2600" dirty="0" smtClean="0"/>
                  <a:t> 앞에서와 같이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6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2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altLang="ko-KR" sz="26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ko-KR" altLang="en-US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6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sSup>
                      <m:sSupPr>
                        <m:ctrlPr>
                          <a:rPr lang="en-US" altLang="ko-KR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26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altLang="ko-KR" sz="2600" dirty="0" smtClean="0"/>
              </a:p>
              <a:p>
                <a:pPr lvl="1"/>
                <a:r>
                  <a:rPr lang="ko-KR" altLang="en-US" sz="2200" dirty="0" smtClean="0"/>
                  <a:t>단일 </a:t>
                </a:r>
                <a:r>
                  <a:rPr lang="ko-KR" altLang="en-US" sz="2200" dirty="0" err="1" smtClean="0"/>
                  <a:t>관측값은</a:t>
                </a:r>
                <a:r>
                  <a:rPr lang="ko-KR" altLang="en-US" sz="2200" dirty="0" smtClean="0"/>
                  <a:t> 집단 전체의 평균보다는 불확실하며 표준오차가 클 것임</a:t>
                </a:r>
                <a:endParaRPr lang="en-US" altLang="ko-KR" sz="2200" dirty="0" smtClean="0"/>
              </a:p>
              <a:p>
                <a:r>
                  <a:rPr lang="ko-KR" altLang="en-US" sz="2600" dirty="0" smtClean="0"/>
                  <a:t>주어진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2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2600" dirty="0" smtClean="0"/>
                  <a:t>에서 개별반응 </a:t>
                </a:r>
                <a14:m>
                  <m:oMath xmlns:m="http://schemas.openxmlformats.org/officeDocument/2006/math">
                    <m:r>
                      <a:rPr lang="en-US" altLang="ko-KR" sz="26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sz="2600" dirty="0" smtClean="0"/>
                  <a:t>를 예측할 때 사용하는 표준오차</a:t>
                </a:r>
                <a:r>
                  <a:rPr lang="en-US" altLang="ko-KR" sz="2600" dirty="0" smtClean="0"/>
                  <a:t/>
                </a:r>
                <a:br>
                  <a:rPr lang="en-US" altLang="ko-KR" sz="2600" dirty="0" smtClean="0"/>
                </a:br>
                <a:r>
                  <a:rPr lang="en-US" altLang="ko-KR" sz="2600" dirty="0" smtClean="0"/>
                  <a:t/>
                </a:r>
                <a:br>
                  <a:rPr lang="en-US" altLang="ko-KR" sz="2600" dirty="0" smtClean="0"/>
                </a:br>
                <a14:m>
                  <m:oMath xmlns:m="http://schemas.openxmlformats.org/officeDocument/2006/math">
                    <m:r>
                      <a:rPr lang="en-US" altLang="ko-KR" sz="2600" b="0" i="1" smtClean="0">
                        <a:latin typeface="Cambria Math" panose="02040503050406030204" pitchFamily="18" charset="0"/>
                      </a:rPr>
                      <m:t>𝑆</m:t>
                    </m:r>
                    <m:rad>
                      <m:radPr>
                        <m:degHide m:val="on"/>
                        <m:ctrlPr>
                          <a:rPr lang="en-US" altLang="ko-KR" sz="2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R" sz="26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altLang="ko-KR" sz="2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2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n-US" altLang="ko-KR" sz="26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2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ko-KR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sz="2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26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altLang="ko-KR" sz="2600" i="1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  <m:r>
                                      <a:rPr lang="en-US" altLang="ko-KR" sz="2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ko-KR" sz="2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sz="26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altLang="ko-KR" sz="2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en-US" altLang="ko-KR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6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ko-KR" sz="2600" i="1">
                                    <a:latin typeface="Cambria Math" panose="02040503050406030204" pitchFamily="18" charset="0"/>
                                  </a:rPr>
                                  <m:t>𝑥𝑥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endParaRPr lang="en-US" altLang="ko-KR" sz="2600" dirty="0" smtClean="0"/>
              </a:p>
              <a:p>
                <a:r>
                  <a:rPr lang="ko-KR" altLang="en-US" sz="2600" dirty="0" smtClean="0"/>
                  <a:t>신뢰구간에 대한 공식도 이와 마찬가지로 수정되며</a:t>
                </a:r>
                <a:r>
                  <a:rPr lang="en-US" altLang="ko-KR" sz="2600" dirty="0" smtClean="0"/>
                  <a:t>, </a:t>
                </a:r>
                <a:r>
                  <a:rPr lang="ko-KR" altLang="en-US" sz="2600" dirty="0" smtClean="0"/>
                  <a:t>예측기간</a:t>
                </a:r>
                <a:r>
                  <a:rPr lang="en-US" altLang="ko-KR" sz="2600" dirty="0" smtClean="0"/>
                  <a:t>(prediction interval)</a:t>
                </a:r>
                <a:r>
                  <a:rPr lang="ko-KR" altLang="en-US" sz="2600" dirty="0" smtClean="0"/>
                  <a:t>이라 부름</a:t>
                </a: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812" t="-28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02254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예제</a:t>
            </a:r>
            <a:r>
              <a:rPr lang="en-US" altLang="ko-KR" dirty="0" smtClean="0"/>
              <a:t>: </a:t>
            </a:r>
            <a:r>
              <a:rPr lang="ko-KR" altLang="en-US" dirty="0" smtClean="0"/>
              <a:t>미래 시행에 대한 예측구간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sz="2400" dirty="0" smtClean="0"/>
                  <a:t>환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자</m:t>
                    </m:r>
                    <m:r>
                      <a:rPr lang="ko-KR" altLang="en-US" sz="2400" i="1" smtClean="0">
                        <a:latin typeface="Cambria Math" panose="02040503050406030204" pitchFamily="18" charset="0"/>
                      </a:rPr>
                      <m:t>에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게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=6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.5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𝑚𝑔</m:t>
                    </m:r>
                  </m:oMath>
                </a14:m>
                <a:r>
                  <a:rPr lang="ko-KR" altLang="en-US" sz="2400" dirty="0" smtClean="0"/>
                  <a:t>의 약을 복용시켰을 때</a:t>
                </a:r>
                <a:r>
                  <a:rPr lang="en-US" altLang="ko-KR" sz="2400" dirty="0" smtClean="0"/>
                  <a:t>, </a:t>
                </a:r>
                <a:r>
                  <a:rPr lang="ko-KR" altLang="en-US" sz="2400" dirty="0" smtClean="0"/>
                  <a:t>경감기간을 예측하고 경감기간에 대한 </a:t>
                </a:r>
                <a:r>
                  <a:rPr lang="en-US" altLang="ko-KR" sz="2400" dirty="0" smtClean="0"/>
                  <a:t>95% </a:t>
                </a:r>
                <a:r>
                  <a:rPr lang="ko-KR" altLang="en-US" sz="2400" dirty="0" smtClean="0"/>
                  <a:t>예측구간을 구하라</a:t>
                </a:r>
                <a:r>
                  <a:rPr lang="en-US" altLang="ko-KR" sz="2400" dirty="0" smtClean="0"/>
                  <a:t>.</a:t>
                </a:r>
              </a:p>
              <a:p>
                <a:r>
                  <a:rPr lang="ko-KR" altLang="en-US" sz="2400" dirty="0" smtClean="0"/>
                  <a:t>예측 경감기간은</a:t>
                </a: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altLang="ko-KR" sz="24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ko-KR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sSup>
                      <m:sSup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24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=−1.07+2.74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×6.5=16.74</m:t>
                    </m:r>
                  </m:oMath>
                </a14:m>
                <a:endParaRPr lang="en-US" altLang="ko-KR" sz="2400" dirty="0" smtClean="0"/>
              </a:p>
              <a:p>
                <a:r>
                  <a:rPr lang="ko-KR" altLang="en-US" sz="2400" dirty="0" smtClean="0"/>
                  <a:t>자유도 </a:t>
                </a:r>
                <a:r>
                  <a:rPr lang="en-US" altLang="ko-KR" sz="2400" dirty="0" smtClean="0"/>
                  <a:t>8</a:t>
                </a:r>
                <a:r>
                  <a:rPr lang="ko-KR" altLang="en-US" sz="2400" dirty="0" smtClean="0"/>
                  <a:t>인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2400" dirty="0" smtClean="0"/>
                  <a:t>분포에서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=2.306</m:t>
                    </m:r>
                  </m:oMath>
                </a14:m>
                <a:r>
                  <a:rPr lang="ko-KR" altLang="en-US" sz="2400" dirty="0" smtClean="0"/>
                  <a:t>이기 때문에 환자의 예측 경감기간에 대한 </a:t>
                </a:r>
                <a:r>
                  <a:rPr lang="en-US" altLang="ko-KR" sz="2400" dirty="0" smtClean="0"/>
                  <a:t>95% </a:t>
                </a:r>
                <a:r>
                  <a:rPr lang="ko-KR" altLang="en-US" sz="2400" dirty="0" smtClean="0"/>
                  <a:t>신뢰구간은</a:t>
                </a: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16.74±2.306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×2.8207</m:t>
                    </m:r>
                    <m:rad>
                      <m:radPr>
                        <m:degHide m:val="on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6.5−5.9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40.9</m:t>
                            </m:r>
                          </m:den>
                        </m:f>
                      </m:e>
                    </m:ra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=16.74±6.85=(9.89, 23.59)</m:t>
                    </m:r>
                  </m:oMath>
                </a14:m>
                <a:endParaRPr lang="en-US" altLang="ko-KR" sz="2000" dirty="0" smtClean="0"/>
              </a:p>
              <a:p>
                <a:r>
                  <a:rPr lang="ko-KR" altLang="en-US" sz="2400" dirty="0" smtClean="0"/>
                  <a:t>이 환자가 대략 </a:t>
                </a:r>
                <a:r>
                  <a:rPr lang="en-US" altLang="ko-KR" sz="2400" dirty="0" smtClean="0"/>
                  <a:t>9.9</a:t>
                </a:r>
                <a:r>
                  <a:rPr lang="ko-KR" altLang="en-US" sz="2400" dirty="0" smtClean="0"/>
                  <a:t>시간에서 </a:t>
                </a:r>
                <a:r>
                  <a:rPr lang="en-US" altLang="ko-KR" sz="2400" dirty="0" smtClean="0"/>
                  <a:t>23.6</a:t>
                </a:r>
                <a:r>
                  <a:rPr lang="ko-KR" altLang="en-US" sz="2400" dirty="0" smtClean="0"/>
                  <a:t>시간 내에 알레르기 증세가 경감할 것이라고 </a:t>
                </a:r>
                <a:r>
                  <a:rPr lang="en-US" altLang="ko-KR" sz="2400" dirty="0" smtClean="0"/>
                  <a:t>95%</a:t>
                </a:r>
                <a:r>
                  <a:rPr lang="ko-KR" altLang="en-US" sz="2400" dirty="0"/>
                  <a:t> 신</a:t>
                </a:r>
                <a:r>
                  <a:rPr lang="ko-KR" altLang="en-US" sz="2400" dirty="0" smtClean="0"/>
                  <a:t>뢰함을 의미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24181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선형관계의 강도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직선모형의 적합도를 측정하기 위해서는 반응변수의 변동이 </a:t>
                </a:r>
                <a:r>
                  <a:rPr lang="ko-KR" altLang="en-US" dirty="0" err="1" smtClean="0"/>
                  <a:t>적합된</a:t>
                </a:r>
                <a:r>
                  <a:rPr lang="ko-KR" altLang="en-US" dirty="0" smtClean="0"/>
                  <a:t> 회귀선에 의해 얼마나 많이 설명될 수 있는지 조사해야 함</a:t>
                </a:r>
                <a:endParaRPr lang="en-US" altLang="ko-KR" dirty="0" smtClean="0"/>
              </a:p>
              <a:p>
                <a:r>
                  <a:rPr lang="ko-KR" altLang="en-US" dirty="0" err="1" smtClean="0"/>
                  <a:t>관측값</a:t>
                </a:r>
                <a:r>
                  <a:rPr lang="ko-KR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dirty="0" smtClean="0"/>
                  <a:t>를 두 요소로 분할</a:t>
                </a: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        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̂"/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b="0" dirty="0" smtClean="0"/>
                  <a:t/>
                </a:r>
                <a:br>
                  <a:rPr lang="en-US" altLang="ko-KR" b="0" dirty="0" smtClean="0"/>
                </a:b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관</m:t>
                    </m:r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측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선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형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관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계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에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해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설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명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잔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차</m:t>
                    </m:r>
                  </m:oMath>
                </a14:m>
                <a:endParaRPr lang="en-US" altLang="ko-KR" dirty="0" smtClean="0"/>
              </a:p>
              <a:p>
                <a:r>
                  <a:rPr lang="ko-KR" altLang="en-US" dirty="0" smtClean="0"/>
                  <a:t>모든 점들이 정확하게 직선 위에 있는 이상적인 상황에서는 모든 </a:t>
                </a:r>
                <a:r>
                  <a:rPr lang="ko-KR" altLang="en-US" dirty="0" err="1" smtClean="0"/>
                  <a:t>잔차들은</a:t>
                </a:r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0</a:t>
                </a:r>
                <a:r>
                  <a:rPr lang="ko-KR" altLang="en-US" dirty="0" smtClean="0"/>
                  <a:t>이 됨</a:t>
                </a:r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dirty="0" smtClean="0"/>
                  <a:t>값은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 smtClean="0"/>
                  <a:t>에 대한 선형종속 관계로 완전히 설명됨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 r="-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77068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제곱합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ko-KR" altLang="en-US" b="0" dirty="0" smtClean="0">
                    <a:latin typeface="Cambria Math" panose="02040503050406030204" pitchFamily="18" charset="0"/>
                  </a:rPr>
                  <a:t>잔차제곱합</a:t>
                </a:r>
                <a:r>
                  <a:rPr lang="en-US" altLang="ko-KR" b="0" dirty="0" smtClean="0">
                    <a:latin typeface="Cambria Math" panose="02040503050406030204" pitchFamily="18" charset="0"/>
                  </a:rPr>
                  <a:t/>
                </a:r>
                <a:br>
                  <a:rPr lang="en-US" altLang="ko-KR" b="0" dirty="0" smtClean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SSE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𝑦𝑦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𝑥𝑦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𝑥𝑥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altLang="ko-KR" b="0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dirty="0" smtClean="0"/>
                  <a:t>값들의 총 변동은 </a:t>
                </a:r>
                <a:r>
                  <a:rPr lang="ko-KR" altLang="en-US" dirty="0" err="1" smtClean="0"/>
                  <a:t>총제곱합</a:t>
                </a:r>
                <a:r>
                  <a:rPr lang="en-US" altLang="ko-KR" dirty="0" smtClean="0"/>
                  <a:t>(total sum of squares)</a:t>
                </a:r>
                <a:br>
                  <a:rPr lang="en-US" altLang="ko-KR" dirty="0" smtClean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𝑦𝑦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ko-KR" b="0" dirty="0" smtClean="0"/>
                  <a:t/>
                </a:r>
                <a:br>
                  <a:rPr lang="en-US" altLang="ko-KR" b="0" dirty="0" smtClean="0"/>
                </a:b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으</m:t>
                    </m:r>
                  </m:oMath>
                </a14:m>
                <a:r>
                  <a:rPr lang="ko-KR" altLang="en-US" dirty="0" smtClean="0"/>
                  <a:t>로 나타낼 수 있으며 </a:t>
                </a:r>
                <a:r>
                  <a:rPr lang="en-US" altLang="ko-KR" dirty="0" smtClean="0"/>
                  <a:t>SSE</a:t>
                </a:r>
                <a:r>
                  <a:rPr lang="ko-KR" altLang="en-US" dirty="0" smtClean="0"/>
                  <a:t>는 그 일부분이 됨</a:t>
                </a:r>
                <a:endParaRPr lang="en-US" altLang="ko-KR" dirty="0" smtClean="0"/>
              </a:p>
              <a:p>
                <a:r>
                  <a:rPr lang="ko-KR" altLang="en-US" dirty="0" smtClean="0"/>
                  <a:t>두 제곱합의 차이는 </a:t>
                </a:r>
                <a:r>
                  <a:rPr lang="ko-KR" altLang="en-US" dirty="0" err="1" smtClean="0"/>
                  <a:t>또다른</a:t>
                </a:r>
                <a:r>
                  <a:rPr lang="ko-KR" altLang="en-US" dirty="0" smtClean="0"/>
                  <a:t> </a:t>
                </a:r>
                <a:r>
                  <a:rPr lang="ko-KR" altLang="en-US" dirty="0" err="1" smtClean="0"/>
                  <a:t>제곱합이</a:t>
                </a:r>
                <a:r>
                  <a:rPr lang="ko-KR" altLang="en-US" dirty="0" smtClean="0"/>
                  <a:t> 됨 </a:t>
                </a: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𝑦𝑦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𝑆𝑆𝐸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𝑦𝑦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𝑦𝑦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𝑥𝑦</m:t>
                                </m:r>
                              </m:sub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𝑥𝑥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𝑥𝑥</m:t>
                            </m:r>
                          </m:sub>
                        </m:sSub>
                      </m:den>
                    </m:f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30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58501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변동의 분할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𝑦𝑦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b>
                          <m:sup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𝑥𝑥</m:t>
                            </m:r>
                          </m:sub>
                        </m:sSub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𝑆𝑆𝐸</m:t>
                    </m:r>
                  </m:oMath>
                </a14:m>
                <a:endParaRPr lang="en-US" altLang="ko-KR" dirty="0" smtClean="0">
                  <a:solidFill>
                    <a:srgbClr val="FF0000"/>
                  </a:solidFill>
                </a:endParaRPr>
              </a:p>
              <a:p>
                <a:r>
                  <a:rPr lang="en-US" altLang="ko-KR" sz="2000" spc="-300" dirty="0" smtClean="0"/>
                  <a:t>y</a:t>
                </a:r>
                <a:r>
                  <a:rPr lang="ko-KR" altLang="en-US" sz="2000" spc="-300" dirty="0" smtClean="0"/>
                  <a:t>의 </a:t>
                </a:r>
                <a:r>
                  <a:rPr lang="ko-KR" altLang="en-US" sz="2000" spc="-300" dirty="0" err="1" smtClean="0"/>
                  <a:t>총변동</a:t>
                </a:r>
                <a:r>
                  <a:rPr lang="ko-KR" altLang="en-US" sz="2000" spc="-300" dirty="0" smtClean="0"/>
                  <a:t> </a:t>
                </a:r>
                <a:r>
                  <a:rPr lang="en-US" altLang="ko-KR" sz="2000" spc="-300" dirty="0" smtClean="0"/>
                  <a:t>= </a:t>
                </a:r>
                <a:r>
                  <a:rPr lang="ko-KR" altLang="en-US" sz="2000" spc="-150" dirty="0" smtClean="0">
                    <a:solidFill>
                      <a:srgbClr val="0070C0"/>
                    </a:solidFill>
                  </a:rPr>
                  <a:t>회귀선에 의해 설명되는 변동  </a:t>
                </a:r>
                <a:r>
                  <a:rPr lang="en-US" altLang="ko-KR" sz="2000" spc="-150" dirty="0" smtClean="0"/>
                  <a:t>+  </a:t>
                </a:r>
                <a:r>
                  <a:rPr lang="ko-KR" altLang="en-US" sz="2000" spc="-150" dirty="0" err="1" smtClean="0">
                    <a:solidFill>
                      <a:srgbClr val="FF0000"/>
                    </a:solidFill>
                  </a:rPr>
                  <a:t>잔차</a:t>
                </a:r>
                <a:r>
                  <a:rPr lang="ko-KR" altLang="en-US" sz="2000" spc="-150" dirty="0" smtClean="0">
                    <a:solidFill>
                      <a:srgbClr val="FF0000"/>
                    </a:solidFill>
                  </a:rPr>
                  <a:t> 또는 회귀선에 의해 설명되지 않는 변동</a:t>
                </a:r>
                <a:endParaRPr lang="en-US" altLang="ko-KR" sz="2000" spc="-150" dirty="0" smtClean="0">
                  <a:solidFill>
                    <a:srgbClr val="FF0000"/>
                  </a:solidFill>
                </a:endParaRPr>
              </a:p>
              <a:p>
                <a:r>
                  <a:rPr lang="en-US" altLang="ko-KR" dirty="0" smtClean="0"/>
                  <a:t>y</a:t>
                </a:r>
                <a:r>
                  <a:rPr lang="ko-KR" altLang="en-US" dirty="0" smtClean="0"/>
                  <a:t>의 </a:t>
                </a:r>
                <a:r>
                  <a:rPr lang="ko-KR" altLang="en-US" dirty="0" err="1" smtClean="0"/>
                  <a:t>총제곱합</a:t>
                </a:r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= </a:t>
                </a:r>
                <a:r>
                  <a:rPr lang="ko-KR" altLang="en-US" dirty="0" err="1" smtClean="0">
                    <a:solidFill>
                      <a:srgbClr val="0070C0"/>
                    </a:solidFill>
                  </a:rPr>
                  <a:t>회귀제곱합</a:t>
                </a:r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+ </a:t>
                </a:r>
                <a:r>
                  <a:rPr lang="ko-KR" altLang="en-US" dirty="0" err="1" smtClean="0">
                    <a:solidFill>
                      <a:srgbClr val="FF0000"/>
                    </a:solidFill>
                  </a:rPr>
                  <a:t>잔차에</a:t>
                </a:r>
                <a:r>
                  <a:rPr lang="ko-KR" altLang="en-US" dirty="0" smtClean="0">
                    <a:solidFill>
                      <a:srgbClr val="FF0000"/>
                    </a:solidFill>
                  </a:rPr>
                  <a:t> 의한 변동</a:t>
                </a:r>
                <a:endParaRPr lang="en-US" altLang="ko-KR" dirty="0" smtClean="0">
                  <a:solidFill>
                    <a:srgbClr val="FF0000"/>
                  </a:solidFill>
                </a:endParaRPr>
              </a:p>
              <a:p>
                <a:endParaRPr lang="en-US" altLang="ko-KR" dirty="0"/>
              </a:p>
              <a:p>
                <a:r>
                  <a:rPr lang="ko-KR" altLang="en-US" dirty="0" smtClean="0"/>
                  <a:t>직선모형이 데이터에 바람직하게 적합하기 위해서는 회귀에 의한 </a:t>
                </a:r>
                <a:r>
                  <a:rPr lang="ko-KR" altLang="en-US" dirty="0" err="1" smtClean="0"/>
                  <a:t>제곱합이</a:t>
                </a:r>
                <a:r>
                  <a:rPr lang="ko-KR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𝑦𝑦</m:t>
                        </m:r>
                      </m:sub>
                    </m:sSub>
                  </m:oMath>
                </a14:m>
                <a:r>
                  <a:rPr lang="ko-KR" altLang="en-US" dirty="0" smtClean="0"/>
                  <a:t>의 대부분을 차지해야 함</a:t>
                </a:r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모든 점들이 직선 위에 있는 경우 </a:t>
                </a:r>
                <a:r>
                  <a:rPr lang="en-US" altLang="ko-KR" dirty="0" smtClean="0"/>
                  <a:t>SSE</a:t>
                </a:r>
                <a:r>
                  <a:rPr lang="ko-KR" altLang="en-US" dirty="0" smtClean="0"/>
                  <a:t>는 </a:t>
                </a:r>
                <a:r>
                  <a:rPr lang="en-US" altLang="ko-KR" dirty="0" smtClean="0"/>
                  <a:t>0</a:t>
                </a:r>
                <a:r>
                  <a:rPr lang="ko-KR" altLang="en-US" dirty="0" smtClean="0"/>
                  <a:t>이 되며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𝑦𝑦</m:t>
                        </m:r>
                      </m:sub>
                    </m:sSub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ko-KR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 smtClean="0"/>
                  <a:t>의 변동에 의해 완전히 설명됨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r="-2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40384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제곱합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7374925" cy="4351338"/>
          </a:xfrm>
        </p:spPr>
        <p:txBody>
          <a:bodyPr/>
          <a:lstStyle/>
          <a:p>
            <a:r>
              <a:rPr lang="ko-KR" altLang="en-US" sz="2400" dirty="0" smtClean="0"/>
              <a:t>제곱합</a:t>
            </a:r>
            <a:endParaRPr lang="en-US" altLang="ko-KR" sz="2400" dirty="0" smtClean="0"/>
          </a:p>
          <a:p>
            <a:pPr lvl="1"/>
            <a:r>
              <a:rPr lang="ko-KR" altLang="en-US" sz="2000" dirty="0" err="1" smtClean="0"/>
              <a:t>총제곱합</a:t>
            </a:r>
            <a:r>
              <a:rPr lang="en-US" altLang="ko-KR" sz="2000" dirty="0" smtClean="0"/>
              <a:t>(Total Sum of Squares)</a:t>
            </a:r>
          </a:p>
          <a:p>
            <a:pPr lvl="2"/>
            <a:r>
              <a:rPr lang="ko-KR" altLang="en-US" sz="1800" dirty="0" smtClean="0"/>
              <a:t>종속변수를 평균값으로 추정하는 경우 전체 분산</a:t>
            </a:r>
            <a:endParaRPr lang="en-US" altLang="ko-KR" sz="1800" dirty="0" smtClean="0"/>
          </a:p>
          <a:p>
            <a:pPr lvl="1"/>
            <a:r>
              <a:rPr lang="ko-KR" altLang="en-US" sz="2000" dirty="0" err="1" smtClean="0"/>
              <a:t>회귀제곱합</a:t>
            </a:r>
            <a:r>
              <a:rPr lang="en-US" altLang="ko-KR" sz="2000" dirty="0" smtClean="0"/>
              <a:t>(Sum of Squares due to Regression)</a:t>
            </a:r>
          </a:p>
          <a:p>
            <a:pPr lvl="2"/>
            <a:r>
              <a:rPr lang="ko-KR" altLang="en-US" sz="1800" dirty="0" smtClean="0"/>
              <a:t>종속변수를 </a:t>
            </a:r>
            <a:r>
              <a:rPr lang="ko-KR" altLang="en-US" sz="1800" dirty="0" err="1" smtClean="0"/>
              <a:t>회귀식으로</a:t>
            </a:r>
            <a:r>
              <a:rPr lang="ko-KR" altLang="en-US" sz="1800" dirty="0" smtClean="0"/>
              <a:t> 추정하는 경우 설명되는 분산</a:t>
            </a:r>
            <a:endParaRPr lang="en-US" altLang="ko-KR" sz="1800" dirty="0" smtClean="0"/>
          </a:p>
          <a:p>
            <a:pPr lvl="1"/>
            <a:r>
              <a:rPr lang="ko-KR" altLang="en-US" sz="2000" dirty="0" err="1" smtClean="0"/>
              <a:t>잔차의</a:t>
            </a:r>
            <a:r>
              <a:rPr lang="ko-KR" altLang="en-US" sz="2000" dirty="0" smtClean="0"/>
              <a:t> </a:t>
            </a:r>
            <a:r>
              <a:rPr lang="ko-KR" altLang="en-US" sz="2000" dirty="0" err="1" smtClean="0"/>
              <a:t>제곱합</a:t>
            </a:r>
            <a:r>
              <a:rPr lang="en-US" altLang="ko-KR" sz="2000" dirty="0" smtClean="0"/>
              <a:t>(Sum of Squares by Error)</a:t>
            </a:r>
          </a:p>
          <a:p>
            <a:pPr lvl="2"/>
            <a:r>
              <a:rPr lang="ko-KR" altLang="en-US" sz="1800" dirty="0" smtClean="0"/>
              <a:t>종속변수를 </a:t>
            </a:r>
            <a:r>
              <a:rPr lang="ko-KR" altLang="en-US" sz="1800" dirty="0" err="1" smtClean="0"/>
              <a:t>회귀식으로</a:t>
            </a:r>
            <a:r>
              <a:rPr lang="ko-KR" altLang="en-US" sz="1800" dirty="0" smtClean="0"/>
              <a:t> 추정하는 경우 설명되지 않는 분산</a:t>
            </a:r>
            <a:endParaRPr lang="en-US" altLang="ko-KR" sz="1800" dirty="0" smtClean="0"/>
          </a:p>
          <a:p>
            <a:pPr lvl="1"/>
            <a:endParaRPr lang="en-US" altLang="ko-KR" dirty="0" smtClean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8" name="내용 개체 틀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74613" y="1825625"/>
            <a:ext cx="3057525" cy="236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698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dirty="0" smtClean="0"/>
                  <a:t>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직선모형이 얼마나 잘 </a:t>
                </a:r>
                <a:r>
                  <a:rPr lang="ko-KR" altLang="en-US" dirty="0" err="1" smtClean="0"/>
                  <a:t>적합되었는지</a:t>
                </a:r>
                <a:r>
                  <a:rPr lang="ko-KR" altLang="en-US" dirty="0" smtClean="0"/>
                  <a:t> 나타내는 지표로써 </a:t>
                </a:r>
                <a:r>
                  <a:rPr lang="ko-KR" altLang="en-US" b="1" dirty="0" smtClean="0"/>
                  <a:t>선형관계에 의해 설명되는 </a:t>
                </a:r>
                <a:r>
                  <a:rPr lang="en-US" altLang="ko-KR" b="1" dirty="0" smtClean="0"/>
                  <a:t>y</a:t>
                </a:r>
                <a:r>
                  <a:rPr lang="ko-KR" altLang="en-US" b="1" dirty="0" smtClean="0"/>
                  <a:t>의 변동 비율</a:t>
                </a:r>
                <a:r>
                  <a:rPr lang="ko-KR" altLang="en-US" dirty="0" smtClean="0"/>
                  <a:t>을 고려</a:t>
                </a: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회</m:t>
                        </m:r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귀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제</m:t>
                        </m:r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곱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합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총</m:t>
                        </m:r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제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곱</m:t>
                        </m:r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합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𝑦𝑦</m:t>
                            </m:r>
                          </m:sub>
                        </m:sSub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𝑥𝑥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𝑦𝑦</m:t>
                            </m:r>
                          </m:sub>
                        </m:sSub>
                      </m:den>
                    </m:f>
                  </m:oMath>
                </a14:m>
                <a:endParaRPr lang="en-US" altLang="ko-KR" b="0" dirty="0" smtClean="0"/>
              </a:p>
              <a:p>
                <a:r>
                  <a:rPr lang="ko-KR" altLang="en-US" dirty="0" smtClean="0"/>
                  <a:t>표본 상관계수의 제곱임을 알 수 있다</a:t>
                </a:r>
                <a:r>
                  <a:rPr lang="en-US" altLang="ko-KR" dirty="0" smtClean="0"/>
                  <a:t>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dirty="0" smtClean="0"/>
                  <a:t>는 </a:t>
                </a:r>
                <a:r>
                  <a:rPr lang="en-US" altLang="ko-KR" dirty="0" smtClean="0"/>
                  <a:t>0</a:t>
                </a:r>
                <a:r>
                  <a:rPr lang="ko-KR" altLang="en-US" dirty="0" smtClean="0"/>
                  <a:t>과 </a:t>
                </a:r>
                <a:r>
                  <a:rPr lang="en-US" altLang="ko-KR" dirty="0" smtClean="0"/>
                  <a:t>1</a:t>
                </a:r>
                <a:r>
                  <a:rPr lang="ko-KR" altLang="en-US" dirty="0" smtClean="0"/>
                  <a:t>의 값을 가진다</a:t>
                </a:r>
                <a:r>
                  <a:rPr lang="en-US" altLang="ko-KR" dirty="0" smtClean="0"/>
                  <a:t>.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043" t="-2381" r="-1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80880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예제 </a:t>
            </a:r>
            <a:r>
              <a:rPr lang="en-US" altLang="ko-KR" dirty="0" smtClean="0"/>
              <a:t>: </a:t>
            </a:r>
            <a:r>
              <a:rPr lang="ko-KR" altLang="en-US" dirty="0" smtClean="0"/>
              <a:t>복용량에 의해 설명되는 경감기간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이전 예제의 데이터로부터</a:t>
                </a: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𝑥𝑥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=40.9, 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𝑦𝑦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=370.9, 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=112.1</m:t>
                    </m:r>
                  </m:oMath>
                </a14:m>
                <a:endParaRPr lang="en-US" altLang="ko-KR" dirty="0" smtClean="0"/>
              </a:p>
              <a:p>
                <a:r>
                  <a:rPr lang="ko-KR" altLang="en-US" dirty="0" err="1" smtClean="0"/>
                  <a:t>적합된</a:t>
                </a:r>
                <a:r>
                  <a:rPr lang="ko-KR" altLang="en-US" dirty="0" smtClean="0"/>
                  <a:t> 회귀 직선</a:t>
                </a: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=−1.07+2.74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ko-KR" dirty="0" smtClean="0"/>
              </a:p>
              <a:p>
                <a:r>
                  <a:rPr lang="ko-KR" altLang="en-US" dirty="0" smtClean="0"/>
                  <a:t>그러면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선형회귀모형에서 설명되는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dirty="0" smtClean="0"/>
                  <a:t>의 변동은</a:t>
                </a:r>
                <a:r>
                  <a:rPr lang="en-US" altLang="ko-KR" dirty="0" smtClean="0"/>
                  <a:t>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𝑦𝑦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112.1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40.9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×370.9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=0.83</m:t>
                      </m:r>
                    </m:oMath>
                  </m:oMathPara>
                </a14:m>
                <a:endParaRPr lang="en-US" altLang="ko-KR" b="0" dirty="0" smtClean="0"/>
              </a:p>
              <a:p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dirty="0" smtClean="0"/>
                  <a:t>의 변동 중 </a:t>
                </a:r>
                <a:r>
                  <a:rPr lang="en-US" altLang="ko-KR" dirty="0" smtClean="0"/>
                  <a:t>83%</a:t>
                </a:r>
                <a:r>
                  <a:rPr lang="ko-KR" altLang="en-US" dirty="0" smtClean="0"/>
                  <a:t>가 회귀 모형에 의해 설명된다는 뜻</a:t>
                </a:r>
                <a:endParaRPr lang="en-US" altLang="ko-KR" dirty="0" smtClean="0"/>
              </a:p>
              <a:p>
                <a:endParaRPr lang="en-US" altLang="ko-KR" dirty="0" smtClean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1050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2239</TotalTime>
  <Words>806</Words>
  <Application>Microsoft Office PowerPoint</Application>
  <PresentationFormat>와이드스크린</PresentationFormat>
  <Paragraphs>349</Paragraphs>
  <Slides>40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4" baseType="lpstr">
      <vt:lpstr>맑은 고딕</vt:lpstr>
      <vt:lpstr>Arial</vt:lpstr>
      <vt:lpstr>Cambria Math</vt:lpstr>
      <vt:lpstr>Office 테마</vt:lpstr>
      <vt:lpstr>11. 회귀분석 I</vt:lpstr>
      <vt:lpstr>서론</vt:lpstr>
      <vt:lpstr>예제: 불규칙 확률에 의한 직선모형</vt:lpstr>
      <vt:lpstr>예제: 증가관계는 기대하나 직선이 아닌 경우</vt:lpstr>
      <vt:lpstr>예제: 산점도가 경험적 관계를 나타내는 경우</vt:lpstr>
      <vt:lpstr>단일 예측변수를 가지는 회귀</vt:lpstr>
      <vt:lpstr>예제: 복용량 알레르기의 증상 완화</vt:lpstr>
      <vt:lpstr>산점도를 이용한 패턴 파악</vt:lpstr>
      <vt:lpstr>직선회귀모형</vt:lpstr>
      <vt:lpstr>직선회귀에 대한 통계적 모형</vt:lpstr>
      <vt:lpstr>직선회귀에 대한 통계적 모형(2)</vt:lpstr>
      <vt:lpstr>최소제곱법</vt:lpstr>
      <vt:lpstr>최소제곱법(2)</vt:lpstr>
      <vt:lpstr>최소제곱법의 원리</vt:lpstr>
      <vt:lpstr>직선 모형에 대한 최소제곱의 원리</vt:lpstr>
      <vt:lpstr>최소제곱 추정량에 대한 공식</vt:lpstr>
      <vt:lpstr>잔차와 잔차제곱합</vt:lpstr>
      <vt:lpstr>회귀직선, SSE, 잔차의 계산</vt:lpstr>
      <vt:lpstr>최소제곱추정량의 표본변동-추정도구</vt:lpstr>
      <vt:lpstr>최소제곱 추정량들의 표집분포</vt:lpstr>
      <vt:lpstr>최소제곱 추정량들의 표집분포(2)</vt:lpstr>
      <vt:lpstr>최소제곱 추정량들의 표집분포(3)</vt:lpstr>
      <vt:lpstr>기울기 β_1에 관한 추론</vt:lpstr>
      <vt:lpstr>예제: 복용량과 경감시간</vt:lpstr>
      <vt:lpstr>〖H_0:β〗_1=0 검정시 주의점</vt:lpstr>
      <vt:lpstr>β_1에 대한 일반적인 추론</vt:lpstr>
      <vt:lpstr>예제 : β_1 의 신뢰구간</vt:lpstr>
      <vt:lpstr>절편 β_0 에 관한 추론</vt:lpstr>
      <vt:lpstr>β_0 </vt:lpstr>
      <vt:lpstr>지정된 x값에 대한 평균반응의 추정</vt:lpstr>
      <vt:lpstr>평균 경감기간에 대한 신뢰구간</vt:lpstr>
      <vt:lpstr>평균 경감기간에 대한 신뢰구간(2)</vt:lpstr>
      <vt:lpstr>지정된 x값에 대한 개별반응의 예측</vt:lpstr>
      <vt:lpstr>예제: 미래 시행에 대한 예측구간</vt:lpstr>
      <vt:lpstr>선형관계의 강도</vt:lpstr>
      <vt:lpstr>제곱합</vt:lpstr>
      <vt:lpstr>변동의 분할</vt:lpstr>
      <vt:lpstr>제곱합</vt:lpstr>
      <vt:lpstr>r^2 </vt:lpstr>
      <vt:lpstr>예제 : 복용량에 의해 설명되는 경감기간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11. 회귀분석 I</dc:title>
  <dc:creator>sw</dc:creator>
  <cp:lastModifiedBy>sw</cp:lastModifiedBy>
  <cp:revision>134</cp:revision>
  <dcterms:created xsi:type="dcterms:W3CDTF">2016-04-04T01:39:48Z</dcterms:created>
  <dcterms:modified xsi:type="dcterms:W3CDTF">2016-06-02T04:08:21Z</dcterms:modified>
</cp:coreProperties>
</file>