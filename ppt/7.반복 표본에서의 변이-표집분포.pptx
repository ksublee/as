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7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2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88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02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15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42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02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59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7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4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5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EA1CC-7F46-4B10-AEDF-3EC2CBE266C6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62B60-0242-4F59-86B2-F9FF66413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03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반복 표본에서의 변이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표집분포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377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추론</a:t>
            </a:r>
            <a:r>
              <a:rPr lang="en-US" altLang="ko-KR" dirty="0" smtClean="0"/>
              <a:t>(inference)</a:t>
            </a:r>
            <a:r>
              <a:rPr lang="ko-KR" altLang="en-US" dirty="0" smtClean="0"/>
              <a:t>은 특정한 표본 </a:t>
            </a:r>
            <a:r>
              <a:rPr lang="ko-KR" altLang="en-US" dirty="0" err="1" smtClean="0"/>
              <a:t>관측값으로부터</a:t>
            </a:r>
            <a:r>
              <a:rPr lang="ko-KR" altLang="en-US" dirty="0" smtClean="0"/>
              <a:t> 모집단의 일반적인 경우를 유추할 수 있게 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표본추출에 의해 얻어진 표본이 모집단 전체의 특성을 어느 정도 가지고 있을 것이라고 생각하기 때문</a:t>
            </a:r>
            <a:endParaRPr lang="en-US" altLang="ko-KR" dirty="0" smtClean="0"/>
          </a:p>
          <a:p>
            <a:r>
              <a:rPr lang="ko-KR" altLang="en-US" dirty="0" smtClean="0"/>
              <a:t>일반적으로 모집단에서 비율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평균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표준편차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등 수치적인 특성에 관심 있는 경우가 많음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3454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모수와</a:t>
            </a:r>
            <a:r>
              <a:rPr lang="ko-KR" altLang="en-US" dirty="0" smtClean="0"/>
              <a:t> 통계량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모집단의 수치적 특성을 </a:t>
            </a:r>
            <a:r>
              <a:rPr lang="ko-KR" altLang="en-US" b="1" dirty="0" err="1" smtClean="0"/>
              <a:t>모수</a:t>
            </a:r>
            <a:r>
              <a:rPr lang="en-US" altLang="ko-KR" dirty="0" smtClean="0"/>
              <a:t>(parameter)</a:t>
            </a:r>
            <a:r>
              <a:rPr lang="ko-KR" altLang="en-US" dirty="0" smtClean="0"/>
              <a:t>라 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모수의</a:t>
            </a:r>
            <a:r>
              <a:rPr lang="ko-KR" altLang="en-US" dirty="0" smtClean="0"/>
              <a:t> 참값은 미지의 상수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 값은 모집단을 전부 조사했을 때만 알 수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모집단을 전부 조사할 수 없는 경우 통계적 추론의 역할이 필요</a:t>
            </a:r>
            <a:endParaRPr lang="en-US" altLang="ko-KR" dirty="0" smtClean="0"/>
          </a:p>
          <a:p>
            <a:r>
              <a:rPr lang="ko-KR" altLang="en-US" dirty="0" smtClean="0"/>
              <a:t>모집단으로부터 표본만이 이용 가능할 때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모수의</a:t>
            </a:r>
            <a:r>
              <a:rPr lang="ko-KR" altLang="en-US" dirty="0" smtClean="0"/>
              <a:t> 추론은 표본에서 계산되는 양에 의존</a:t>
            </a:r>
            <a:endParaRPr lang="en-US" altLang="ko-KR" dirty="0"/>
          </a:p>
          <a:p>
            <a:r>
              <a:rPr lang="ko-KR" altLang="en-US" dirty="0" smtClean="0"/>
              <a:t>이렇게 표본에 기초한 양을 </a:t>
            </a:r>
            <a:r>
              <a:rPr lang="ko-KR" altLang="en-US" b="1" dirty="0" smtClean="0"/>
              <a:t>통계량</a:t>
            </a:r>
            <a:r>
              <a:rPr lang="en-US" altLang="ko-KR" smtClean="0"/>
              <a:t>(</a:t>
            </a:r>
            <a:r>
              <a:rPr lang="en-US" altLang="ko-KR" smtClean="0"/>
              <a:t>statistic)</a:t>
            </a:r>
            <a:r>
              <a:rPr lang="ko-KR" altLang="en-US" dirty="0" smtClean="0"/>
              <a:t>이라 한다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lvl="1"/>
            <a:r>
              <a:rPr lang="ko-KR" altLang="en-US" dirty="0" smtClean="0"/>
              <a:t>통계량은 표본 </a:t>
            </a:r>
            <a:r>
              <a:rPr lang="ko-KR" altLang="en-US" dirty="0" err="1" smtClean="0"/>
              <a:t>관측값들에</a:t>
            </a:r>
            <a:r>
              <a:rPr lang="ko-KR" altLang="en-US" dirty="0" smtClean="0"/>
              <a:t> 대한 함수이다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543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표본평균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ko-KR" altLang="en-US" sz="2400" dirty="0" smtClean="0"/>
                  <a:t>표본평균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ko-KR" altLang="en-US" sz="2400" dirty="0" smtClean="0"/>
                  <a:t>은 통계량이다</a:t>
                </a:r>
                <a:r>
                  <a:rPr lang="en-US" altLang="ko-KR" sz="2400" dirty="0" smtClean="0"/>
                  <a:t>. </a:t>
                </a:r>
                <a:endParaRPr lang="en-US" altLang="ko-KR" sz="2400" dirty="0"/>
              </a:p>
              <a:p>
                <a:r>
                  <a:rPr lang="ko-KR" altLang="en-US" sz="2400" dirty="0" smtClean="0"/>
                  <a:t>표본 데이터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의 값이 주어지면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sz="2400" dirty="0" smtClean="0"/>
                  <a:t>의 값이 계산되기 때문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마찬가지로 표본중앙값과 표본표준편차도 표본에 의해 계산되는 값이므로 통계량</a:t>
                </a:r>
                <a:endParaRPr lang="en-US" altLang="ko-KR" sz="2000" dirty="0" smtClean="0"/>
              </a:p>
              <a:p>
                <a:r>
                  <a:rPr lang="ko-KR" altLang="en-US" sz="2400" dirty="0" smtClean="0"/>
                  <a:t>모든 통계량은 확률변수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통계량으로부터 </a:t>
                </a:r>
                <a:r>
                  <a:rPr lang="ko-KR" altLang="en-US" sz="2400" dirty="0" err="1" smtClean="0"/>
                  <a:t>모수에</a:t>
                </a:r>
                <a:r>
                  <a:rPr lang="ko-KR" altLang="en-US" sz="2400" dirty="0" smtClean="0"/>
                  <a:t> 관한 정보를 얻을 수 있다</a:t>
                </a:r>
                <a:r>
                  <a:rPr lang="en-US" altLang="ko-KR" sz="2400" dirty="0" smtClean="0"/>
                  <a:t>. </a:t>
                </a:r>
                <a:r>
                  <a:rPr lang="ko-KR" altLang="en-US" sz="2400" dirty="0" smtClean="0"/>
                  <a:t>유의점</a:t>
                </a:r>
                <a:r>
                  <a:rPr lang="en-US" altLang="ko-KR" sz="2400" dirty="0" smtClean="0"/>
                  <a:t>:</a:t>
                </a:r>
              </a:p>
              <a:p>
                <a:pPr lvl="1"/>
                <a:r>
                  <a:rPr lang="ko-KR" altLang="en-US" sz="2000" dirty="0" smtClean="0"/>
                  <a:t>표본은 단지 모집단의 일부이기 때문에 통계량의 수치적인 값은 </a:t>
                </a:r>
                <a:r>
                  <a:rPr lang="ko-KR" altLang="en-US" sz="2000" dirty="0" err="1" smtClean="0"/>
                  <a:t>모수의</a:t>
                </a:r>
                <a:r>
                  <a:rPr lang="ko-KR" altLang="en-US" sz="2000" dirty="0" smtClean="0"/>
                  <a:t> 참값과 같으리라 기대할 수 없다</a:t>
                </a:r>
                <a:r>
                  <a:rPr lang="en-US" altLang="ko-KR" sz="2000" dirty="0" smtClean="0"/>
                  <a:t>.</a:t>
                </a:r>
              </a:p>
              <a:p>
                <a:pPr lvl="1"/>
                <a:r>
                  <a:rPr lang="ko-KR" altLang="en-US" sz="2000" dirty="0" smtClean="0"/>
                  <a:t>통계량의 관측된 값은 그 </a:t>
                </a:r>
                <a:r>
                  <a:rPr lang="ko-KR" altLang="en-US" sz="2000" dirty="0"/>
                  <a:t>때</a:t>
                </a:r>
                <a:r>
                  <a:rPr lang="ko-KR" altLang="en-US" sz="2000" dirty="0" smtClean="0"/>
                  <a:t> 선택된 특정한 표본에 영향을 받음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표본을 추출할 때마다 통계량의 값들은 변함</a:t>
                </a:r>
                <a:r>
                  <a:rPr lang="en-US" altLang="ko-KR" sz="2000" dirty="0" smtClean="0"/>
                  <a:t>.</a:t>
                </a:r>
              </a:p>
              <a:p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b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04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표본평균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근로자들의 집에서 직장까지 평균 거리를 구하고자 함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통계적인 모집단 </a:t>
                </a:r>
                <a:r>
                  <a:rPr lang="en-US" altLang="ko-KR" sz="2400" dirty="0" smtClean="0"/>
                  <a:t>: </a:t>
                </a:r>
                <a:r>
                  <a:rPr lang="ko-KR" altLang="en-US" sz="2400" dirty="0" smtClean="0"/>
                  <a:t>도시에 거주하는 근로자들의 통근거리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모집단의 평균을 </a:t>
                </a:r>
                <a:r>
                  <a:rPr lang="ko-KR" altLang="en-US" sz="2400" b="1" dirty="0" smtClean="0"/>
                  <a:t>모평균</a:t>
                </a:r>
                <a:r>
                  <a:rPr lang="en-US" altLang="ko-KR" sz="2400" dirty="0" smtClean="0"/>
                  <a:t>(population mean)</a:t>
                </a:r>
                <a:r>
                  <a:rPr lang="ko-KR" altLang="en-US" sz="2400" dirty="0" smtClean="0"/>
                  <a:t>이라 하고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400" dirty="0" smtClean="0"/>
                  <a:t>로 표시</a:t>
                </a:r>
                <a:endParaRPr lang="en-US" altLang="ko-KR" sz="2400" dirty="0" smtClean="0"/>
              </a:p>
              <a:p>
                <a:r>
                  <a:rPr lang="en-US" altLang="ko-KR" sz="2400" dirty="0" smtClean="0"/>
                  <a:t>80</a:t>
                </a:r>
                <a:r>
                  <a:rPr lang="ko-KR" altLang="en-US" sz="2400" dirty="0" smtClean="0"/>
                  <a:t>명의 근로자들을 무작위로 추출하여 평균 통근거리를 계산</a:t>
                </a:r>
                <a:r>
                  <a:rPr lang="en-US" altLang="ko-KR" sz="2400" dirty="0" smtClean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=8.3</m:t>
                    </m:r>
                  </m:oMath>
                </a14:m>
                <a:r>
                  <a:rPr lang="ko-KR" altLang="en-US" sz="2400" dirty="0" smtClean="0"/>
                  <a:t>마일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여기서 모평균이 </a:t>
                </a:r>
                <a:r>
                  <a:rPr lang="en-US" altLang="ko-KR" sz="2000" dirty="0" smtClean="0"/>
                  <a:t>8.3</a:t>
                </a:r>
                <a:r>
                  <a:rPr lang="ko-KR" altLang="en-US" sz="2000" dirty="0" smtClean="0"/>
                  <a:t>이라고 단정지을 수 없음</a:t>
                </a:r>
                <a:endParaRPr lang="en-US" altLang="ko-KR" sz="2000" dirty="0" smtClean="0"/>
              </a:p>
              <a:p>
                <a:r>
                  <a:rPr lang="ko-KR" altLang="en-US" sz="2400" spc="-150" dirty="0" smtClean="0"/>
                  <a:t>만일 또 다른 </a:t>
                </a:r>
                <a:r>
                  <a:rPr lang="en-US" altLang="ko-KR" sz="2400" spc="-150" dirty="0" smtClean="0"/>
                  <a:t>80</a:t>
                </a:r>
                <a:r>
                  <a:rPr lang="ko-KR" altLang="en-US" sz="2400" spc="-150" dirty="0" smtClean="0"/>
                  <a:t>명을 추출하여 표본평균을 내면 다시 </a:t>
                </a:r>
                <a:r>
                  <a:rPr lang="en-US" altLang="ko-KR" sz="2400" spc="-150" dirty="0" smtClean="0"/>
                  <a:t>8.3</a:t>
                </a:r>
                <a:r>
                  <a:rPr lang="ko-KR" altLang="en-US" sz="2400" spc="-150" dirty="0" smtClean="0"/>
                  <a:t>마일이 나올 것인가</a:t>
                </a:r>
                <a:r>
                  <a:rPr lang="en-US" altLang="ko-KR" sz="2400" spc="-150" dirty="0" smtClean="0"/>
                  <a:t>?</a:t>
                </a:r>
              </a:p>
              <a:p>
                <a:pPr lvl="1"/>
                <a:r>
                  <a:rPr lang="ko-KR" altLang="en-US" sz="2000" dirty="0" smtClean="0"/>
                  <a:t>아마 다를 것</a:t>
                </a:r>
                <a:endParaRPr lang="en-US" altLang="ko-KR" sz="2000" dirty="0" smtClean="0"/>
              </a:p>
              <a:p>
                <a:r>
                  <a:rPr lang="ko-KR" altLang="en-US" sz="2400" dirty="0" smtClean="0"/>
                  <a:t>반복된 표본에서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400" dirty="0" smtClean="0"/>
                  <a:t> 값은 변할 것이고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이 변하는 모양을 근거로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400" dirty="0" smtClean="0"/>
                  <a:t>를 얼마나 정확하게 추정하는지 알 수 있다</a:t>
                </a:r>
                <a:r>
                  <a:rPr lang="en-US" altLang="ko-KR" sz="2400" dirty="0" smtClean="0"/>
                  <a:t>.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r="-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26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통계량의 </a:t>
            </a:r>
            <a:r>
              <a:rPr lang="ko-KR" altLang="en-US" dirty="0" err="1" smtClean="0"/>
              <a:t>표집분포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표본평균 또는 통계량은 표본추출이 반복될 때마다 달라진다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통계량은 그 자체가 확률변수이고 확률분포를 가짐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반복된 표본추출에서 통계량의 변동은 이 확률분포에 의해 설명됨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b="1" dirty="0" err="1" smtClean="0"/>
              <a:t>표집분포</a:t>
            </a:r>
            <a:r>
              <a:rPr lang="en-US" altLang="ko-KR" dirty="0" smtClean="0"/>
              <a:t>(sampling distribution) : </a:t>
            </a:r>
            <a:r>
              <a:rPr lang="ko-KR" altLang="en-US" dirty="0" smtClean="0"/>
              <a:t>통계량의 확률분포</a:t>
            </a:r>
            <a:endParaRPr lang="en-US" altLang="ko-KR" dirty="0" smtClean="0"/>
          </a:p>
          <a:p>
            <a:r>
              <a:rPr lang="ko-KR" altLang="en-US" dirty="0" err="1" smtClean="0"/>
              <a:t>표집분포는</a:t>
            </a:r>
            <a:r>
              <a:rPr lang="ko-KR" altLang="en-US" dirty="0" smtClean="0"/>
              <a:t> 모집단의 분포와 표본의 크기에 의해 결정됨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8991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표집분포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세 채의 주택으로 구성된 모집단을 생각하자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각 주택에서 방의 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의 값이 다음과 같이 나타난다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en-US" altLang="ko-KR" dirty="0" smtClean="0"/>
                  <a:t>2, 4, 3</a:t>
                </a:r>
              </a:p>
              <a:p>
                <a:r>
                  <a:rPr lang="ko-KR" altLang="en-US" dirty="0" smtClean="0"/>
                  <a:t>복원추출로 </a:t>
                </a: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개의 주택을 표본으로 선택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즉 주택 하나를 임의로 선택해 방의 수를 확인하고 이를 다시 모집단에 되돌려놓은 후 다음 주택을 임의로 선택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ko-KR" altLang="en-US" dirty="0" err="1" smtClean="0"/>
                  <a:t>표집분포를</a:t>
                </a:r>
                <a:r>
                  <a:rPr lang="ko-KR" altLang="en-US" dirty="0" smtClean="0"/>
                  <a:t> 구하라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1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표집분포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320246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모집단 분포</a:t>
                </a:r>
                <a:endParaRPr lang="en-US" altLang="ko-KR" sz="2400" dirty="0" smtClean="0"/>
              </a:p>
              <a:p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endParaRPr lang="en-US" altLang="ko-KR" sz="2400" dirty="0" smtClean="0"/>
              </a:p>
              <a:p>
                <a:r>
                  <a:rPr lang="ko-KR" altLang="en-US" sz="2400" dirty="0" smtClean="0"/>
                  <a:t>크기가 </a:t>
                </a:r>
                <a:r>
                  <a:rPr lang="en-US" altLang="ko-KR" sz="2400" dirty="0" smtClean="0"/>
                  <a:t>2</a:t>
                </a:r>
                <a:r>
                  <a:rPr lang="ko-KR" altLang="en-US" sz="2400" dirty="0" smtClean="0"/>
                  <a:t>인 가능한 표본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이에 대응하는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값</a:t>
                </a:r>
                <a:r>
                  <a:rPr lang="en-US" altLang="ko-KR" sz="2400" dirty="0" smtClean="0"/>
                  <a:t>:</a:t>
                </a:r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320246" cy="4351338"/>
              </a:xfrm>
              <a:blipFill rotWithShape="0">
                <a:blip r:embed="rId2"/>
                <a:stretch>
                  <a:fillRect l="-1351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/>
              <p:cNvSpPr>
                <a:spLocks noGrp="1"/>
              </p:cNvSpPr>
              <p:nvPr>
                <p:ph sz="half" idx="2"/>
              </p:nvPr>
            </p:nvSpPr>
            <p:spPr>
              <a:xfrm>
                <a:off x="7283268" y="1825625"/>
                <a:ext cx="4070532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확</m:t>
                    </m:r>
                  </m:oMath>
                </a14:m>
                <a:r>
                  <a:rPr lang="ko-KR" altLang="en-US" dirty="0" smtClean="0"/>
                  <a:t>률분포</a:t>
                </a:r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8" name="내용 개체 틀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283268" y="1825625"/>
                <a:ext cx="4070532" cy="4351338"/>
              </a:xfrm>
              <a:blipFill rotWithShape="0">
                <a:blip r:embed="rId3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1495770"/>
                  </p:ext>
                </p:extLst>
              </p:nvPr>
            </p:nvGraphicFramePr>
            <p:xfrm>
              <a:off x="2214880" y="2339461"/>
              <a:ext cx="2975430" cy="121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7715"/>
                    <a:gridCol w="1487715"/>
                  </a:tblGrid>
                  <a:tr h="2163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x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f(x)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163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  <a:tr h="2163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  <a:tr h="2163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1495770"/>
                  </p:ext>
                </p:extLst>
              </p:nvPr>
            </p:nvGraphicFramePr>
            <p:xfrm>
              <a:off x="2214880" y="2339461"/>
              <a:ext cx="2975430" cy="121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7715"/>
                    <a:gridCol w="1487715"/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x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f(x)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820" t="-100000" r="-1639" b="-215686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820" t="-204000" r="-1639" b="-120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820" t="-304000" r="-1639" b="-20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6235651"/>
                  </p:ext>
                </p:extLst>
              </p:nvPr>
            </p:nvGraphicFramePr>
            <p:xfrm>
              <a:off x="1038496" y="4924402"/>
              <a:ext cx="6119950" cy="670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</a:tblGrid>
                  <a:tr h="26718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(2,2)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(2,3)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(2,4)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(3,2)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(3,3)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(3,4)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(4,2)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(4,3)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(4,4)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6718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6235651"/>
                  </p:ext>
                </p:extLst>
              </p:nvPr>
            </p:nvGraphicFramePr>
            <p:xfrm>
              <a:off x="1038496" y="4924402"/>
              <a:ext cx="6119950" cy="670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  <a:gridCol w="611995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990" t="-3571" r="-899010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(2,2)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(2,3)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(2,4)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(3,2)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(3,3)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(3,4)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(4,2)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(4,3)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(4,4)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990" t="-105455" r="-899010" b="-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817153"/>
                  </p:ext>
                </p:extLst>
              </p:nvPr>
            </p:nvGraphicFramePr>
            <p:xfrm>
              <a:off x="7489734" y="2737077"/>
              <a:ext cx="36576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00"/>
                    <a:gridCol w="1828800"/>
                  </a:tblGrid>
                  <a:tr h="29849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확률분포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984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984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984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3/9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984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984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817153"/>
                  </p:ext>
                </p:extLst>
              </p:nvPr>
            </p:nvGraphicFramePr>
            <p:xfrm>
              <a:off x="7489734" y="2737077"/>
              <a:ext cx="365760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00"/>
                    <a:gridCol w="1828800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332" t="-3636" r="-100997" b="-5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확률분포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3/9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462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히스토그램</a:t>
            </a:r>
            <a:endParaRPr lang="ko-KR" altLang="en-US" dirty="0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28225" y="1446847"/>
            <a:ext cx="6219683" cy="499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5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확률표본</a:t>
            </a:r>
            <a:r>
              <a:rPr lang="en-US" altLang="ko-KR" dirty="0" smtClean="0"/>
              <a:t>(random sample)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표본이 확률 표본이 되기 위한 조건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만일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 smtClean="0"/>
                  <a:t>이 독립적으로 추출되고 모두 모집단과 같은 분포를 갖는다면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 smtClean="0"/>
                  <a:t>은 </a:t>
                </a:r>
                <a:r>
                  <a:rPr lang="ko-KR" altLang="en-US" b="1" dirty="0" smtClean="0"/>
                  <a:t>모집단 분포로부터 크기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b="1" dirty="0" smtClean="0"/>
                  <a:t>인 확률표본</a:t>
                </a:r>
                <a:r>
                  <a:rPr lang="en-US" altLang="ko-KR" dirty="0" smtClean="0"/>
                  <a:t>(random sample of size n from the population distribution)</a:t>
                </a:r>
                <a:r>
                  <a:rPr lang="ko-KR" altLang="en-US" dirty="0" smtClean="0"/>
                  <a:t>이라 한다</a:t>
                </a:r>
                <a:r>
                  <a:rPr lang="en-US" altLang="ko-KR" dirty="0" smtClean="0"/>
                  <a:t>.</a:t>
                </a:r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모집단에서의 변동 때문에 확률표본은 변하며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나</m:t>
                    </m:r>
                  </m:oMath>
                </a14:m>
                <a:r>
                  <a:rPr lang="ko-KR" altLang="en-US" dirty="0" smtClean="0"/>
                  <a:t> 표본중앙값</a:t>
                </a:r>
                <a:r>
                  <a:rPr lang="en-US" altLang="ko-KR" dirty="0"/>
                  <a:t> </a:t>
                </a:r>
                <a:r>
                  <a:rPr lang="ko-KR" altLang="en-US" dirty="0" smtClean="0"/>
                  <a:t>등의 통계량도 변함</a:t>
                </a:r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825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표본평균과 표본중앙값 각각의 </a:t>
            </a:r>
            <a:r>
              <a:rPr lang="ko-KR" altLang="en-US" dirty="0" err="1" smtClean="0"/>
              <a:t>표집분포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모집단이 오른쪽 표로 주어졌을 때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모평균 </a:t>
                </a:r>
                <a:r>
                  <a:rPr lang="en-US" altLang="ko-KR" sz="2000" dirty="0" smtClean="0"/>
                  <a:t>: 6.9</a:t>
                </a:r>
              </a:p>
              <a:p>
                <a:pPr lvl="1"/>
                <a:r>
                  <a:rPr lang="ko-KR" altLang="en-US" sz="2000" dirty="0" err="1" smtClean="0"/>
                  <a:t>모표준편차</a:t>
                </a:r>
                <a:r>
                  <a:rPr lang="ko-KR" altLang="en-US" sz="2000" dirty="0" smtClean="0"/>
                  <a:t> </a:t>
                </a:r>
                <a:r>
                  <a:rPr lang="en-US" altLang="ko-KR" sz="2000" dirty="0" smtClean="0"/>
                  <a:t>: 27.09</a:t>
                </a:r>
                <a:br>
                  <a:rPr lang="en-US" altLang="ko-KR" sz="2000" dirty="0" smtClean="0"/>
                </a:br>
                <a:endParaRPr lang="en-US" altLang="ko-K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400" spc="-150" dirty="0" smtClean="0"/>
                  <a:t>을 이 분포에서 추출한 표본크기 </a:t>
                </a:r>
                <a:r>
                  <a:rPr lang="en-US" altLang="ko-KR" sz="2400" spc="-150" dirty="0" smtClean="0"/>
                  <a:t>3</a:t>
                </a:r>
                <a:r>
                  <a:rPr lang="ko-KR" altLang="en-US" sz="2400" spc="-150" dirty="0" smtClean="0"/>
                  <a:t>인 확률표본이라 하자</a:t>
                </a:r>
                <a:r>
                  <a:rPr lang="en-US" altLang="ko-KR" sz="2400" spc="-150" dirty="0" smtClean="0"/>
                  <a:t>.</a:t>
                </a:r>
              </a:p>
              <a:p>
                <a:pPr lvl="1"/>
                <a:r>
                  <a:rPr lang="ko-KR" altLang="en-US" sz="2000" dirty="0" smtClean="0"/>
                  <a:t>모든 가능한 표본을 나열하고 확률을 결정하라</a:t>
                </a:r>
                <a:r>
                  <a:rPr lang="en-US" altLang="ko-KR" sz="2000" dirty="0" smtClean="0"/>
                  <a:t>.</a:t>
                </a:r>
              </a:p>
              <a:p>
                <a:endParaRPr lang="en-US" altLang="ko-KR" sz="2400" dirty="0" smtClean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212963"/>
              </p:ext>
            </p:extLst>
          </p:nvPr>
        </p:nvGraphicFramePr>
        <p:xfrm>
          <a:off x="7779658" y="1813741"/>
          <a:ext cx="3489234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617"/>
                <a:gridCol w="1744617"/>
              </a:tblGrid>
              <a:tr h="294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x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f(x)</a:t>
                      </a:r>
                      <a:endParaRPr lang="ko-KR" altLang="en-US" sz="1600" dirty="0"/>
                    </a:p>
                  </a:txBody>
                  <a:tcPr/>
                </a:tc>
              </a:tr>
              <a:tr h="294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0.2</a:t>
                      </a:r>
                      <a:endParaRPr lang="ko-KR" altLang="en-US" sz="1600" dirty="0"/>
                    </a:p>
                  </a:txBody>
                  <a:tcPr/>
                </a:tc>
              </a:tr>
              <a:tr h="294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0.3</a:t>
                      </a:r>
                      <a:endParaRPr lang="ko-KR" altLang="en-US" sz="1600" dirty="0"/>
                    </a:p>
                  </a:txBody>
                  <a:tcPr/>
                </a:tc>
              </a:tr>
              <a:tr h="2947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0.5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1287927"/>
                  </p:ext>
                </p:extLst>
              </p:nvPr>
            </p:nvGraphicFramePr>
            <p:xfrm>
              <a:off x="925287" y="4092008"/>
              <a:ext cx="10343605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448"/>
                    <a:gridCol w="872899"/>
                    <a:gridCol w="860748"/>
                    <a:gridCol w="860748"/>
                    <a:gridCol w="1454080"/>
                    <a:gridCol w="1713140"/>
                    <a:gridCol w="3994542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표본평균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표본중앙값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(0.2)(0.2)(0.2)=0.008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(0.2)(0.2)(0.3)=0.012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(0.2)(0.2)(0.5)=0.020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(0.2)(0.3)(0.2)=0.012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(0.2)(0.3)(0.3)=0.018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(0.2)(0.3)(0.5)=0.030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1287927"/>
                  </p:ext>
                </p:extLst>
              </p:nvPr>
            </p:nvGraphicFramePr>
            <p:xfrm>
              <a:off x="925287" y="4092008"/>
              <a:ext cx="10343605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448"/>
                    <a:gridCol w="872899"/>
                    <a:gridCol w="860748"/>
                    <a:gridCol w="860748"/>
                    <a:gridCol w="1454080"/>
                    <a:gridCol w="1713140"/>
                    <a:gridCol w="3994542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7361" t="-8197" r="-101527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0922" t="-8197" r="-93687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0922" t="-8197" r="-83687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18828" t="-8197" r="-393724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1174" t="-8197" r="-234875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(0.2)(0.2)(0.2)=0.008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(0.2)(0.2)(0.3)=0.012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(0.2)(0.2)(0.5)=0.020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(0.2)(0.3)(0.2)=0.012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(0.2)(0.3)(0.3)=0.018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(0.2)(0.3)(0.5)=0.030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554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표본평균과 </a:t>
            </a:r>
            <a:r>
              <a:rPr lang="ko-KR" altLang="en-US" dirty="0" smtClean="0"/>
              <a:t>표본중앙값의 </a:t>
            </a:r>
            <a:r>
              <a:rPr lang="ko-KR" altLang="en-US" dirty="0" err="1" smtClean="0"/>
              <a:t>표집분포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내용 개체 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69622580"/>
                  </p:ext>
                </p:extLst>
              </p:nvPr>
            </p:nvGraphicFramePr>
            <p:xfrm>
              <a:off x="838200" y="1825625"/>
              <a:ext cx="10515603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4840"/>
                    <a:gridCol w="783771"/>
                    <a:gridCol w="757646"/>
                    <a:gridCol w="844732"/>
                    <a:gridCol w="1384662"/>
                    <a:gridCol w="1698172"/>
                    <a:gridCol w="4421780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(</a:t>
                          </a:r>
                          <a:r>
                            <a:rPr lang="ko-KR" altLang="en-US" sz="1400" dirty="0" smtClean="0"/>
                            <a:t>계속</a:t>
                          </a:r>
                          <a:r>
                            <a:rPr lang="en-US" altLang="ko-KR" sz="1400" dirty="0" smtClean="0"/>
                            <a:t>)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표본평균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표본중앙값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(0.2)(0.5)(0.2)=0.020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(0.2)(0.5)(0.3)=0.030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(0.2)(0.5)(0.5)=0.050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(0.3)(0.2)(0.2)=0.012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(0.3)(0.2)(0.3)=0.018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(0.3)(0.2)(0.5)=0.030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(0.3)(0.3)(0.2)=0.018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(0.3)(0.3)(0.3)=0.027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(0.3)(0.3)(0.5)=0.045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(0.3)(0.5)(0.2)=0.030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(0.3)(0.5)(0.3)=0.045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(0.3)(0.5)(0.5)=0.075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내용 개체 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69622580"/>
                  </p:ext>
                </p:extLst>
              </p:nvPr>
            </p:nvGraphicFramePr>
            <p:xfrm>
              <a:off x="838200" y="1825625"/>
              <a:ext cx="10515603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4840"/>
                    <a:gridCol w="783771"/>
                    <a:gridCol w="757646"/>
                    <a:gridCol w="844732"/>
                    <a:gridCol w="1384662"/>
                    <a:gridCol w="1698172"/>
                    <a:gridCol w="4421780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(</a:t>
                          </a:r>
                          <a:r>
                            <a:rPr lang="ko-KR" altLang="en-US" sz="1400" dirty="0" smtClean="0"/>
                            <a:t>계속</a:t>
                          </a:r>
                          <a:r>
                            <a:rPr lang="en-US" altLang="ko-KR" sz="1400" dirty="0" smtClean="0"/>
                            <a:t>)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1250" t="-8197" r="-1171094" b="-1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85600" t="-8197" r="-1099200" b="-1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8696" t="-8197" r="-895652" b="-1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8062" t="-8197" r="-444493" b="-1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8781" t="-8197" r="-261649" b="-1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(0.2)(0.5)(0.2)=0.020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(0.2)(0.5)(0.3)=0.030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(0.2)(0.5)(0.5)=0.050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(0.3)(0.2)(0.2)=0.012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(0.3)(0.2)(0.3)=0.018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(0.3)(0.2)(0.5)=0.030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(0.3)(0.3)(0.2)=0.018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(0.3)(0.3)(0.3)=0.027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(0.3)(0.3)(0.5)=0.045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(0.3)(0.5)(0.2)=0.030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(0.3)(0.5)(0.3)=0.045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(0.3)(0.5)(0.5)=0.075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360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표본평균과 </a:t>
            </a:r>
            <a:r>
              <a:rPr lang="ko-KR" altLang="en-US" dirty="0" smtClean="0"/>
              <a:t>표본중앙값의 </a:t>
            </a:r>
            <a:r>
              <a:rPr lang="ko-KR" altLang="en-US" dirty="0" err="1" smtClean="0"/>
              <a:t>표집분포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내용 개체 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4307254"/>
                  </p:ext>
                </p:extLst>
              </p:nvPr>
            </p:nvGraphicFramePr>
            <p:xfrm>
              <a:off x="838200" y="1825625"/>
              <a:ext cx="10515603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4840"/>
                    <a:gridCol w="783771"/>
                    <a:gridCol w="757646"/>
                    <a:gridCol w="844732"/>
                    <a:gridCol w="1384662"/>
                    <a:gridCol w="1698172"/>
                    <a:gridCol w="4421780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(</a:t>
                          </a:r>
                          <a:r>
                            <a:rPr lang="ko-KR" altLang="en-US" sz="1400" dirty="0" smtClean="0"/>
                            <a:t>계속</a:t>
                          </a:r>
                          <a:r>
                            <a:rPr lang="en-US" altLang="ko-KR" sz="1400" dirty="0" smtClean="0"/>
                            <a:t>)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표본평균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표본중앙값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(0.5)(0.2)(0.2)=0.020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(0.5)(0.2)(0.3)=0.030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(0.5)(0.2)(0.5)=0.050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(0.5)(0.3)(0.2)=0.030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(0.5)(0.3)(0.3)=0.045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(0.5)(0.3)(0.5)=0.075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(0.5)(0.5)(0.2)=0.050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(0.5)(0.5)(0.3)=0.075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(0.5)(0.5)(0.5)=0.125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합계 </a:t>
                          </a:r>
                          <a:r>
                            <a:rPr lang="en-US" altLang="ko-KR" dirty="0" smtClean="0"/>
                            <a:t>=</a:t>
                          </a:r>
                          <a:r>
                            <a:rPr lang="en-US" altLang="ko-KR" baseline="0" dirty="0" smtClean="0"/>
                            <a:t> 1.000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내용 개체 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4307254"/>
                  </p:ext>
                </p:extLst>
              </p:nvPr>
            </p:nvGraphicFramePr>
            <p:xfrm>
              <a:off x="838200" y="1825625"/>
              <a:ext cx="10515603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4840"/>
                    <a:gridCol w="783771"/>
                    <a:gridCol w="757646"/>
                    <a:gridCol w="844732"/>
                    <a:gridCol w="1384662"/>
                    <a:gridCol w="1698172"/>
                    <a:gridCol w="4421780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(</a:t>
                          </a:r>
                          <a:r>
                            <a:rPr lang="ko-KR" altLang="en-US" sz="1400" dirty="0" smtClean="0"/>
                            <a:t>계속</a:t>
                          </a:r>
                          <a:r>
                            <a:rPr lang="en-US" altLang="ko-KR" sz="1400" dirty="0" smtClean="0"/>
                            <a:t>)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1250" t="-8197" r="-1171094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85600" t="-8197" r="-1099200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8696" t="-8197" r="-89565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8062" t="-8197" r="-44449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8781" t="-8197" r="-261649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19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(0.5)(0.2)(0.2)=0.020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(0.5)(0.2)(0.3)=0.030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(0.5)(0.2)(0.5)=0.050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(0.5)(0.3)(0.2)=0.030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(0.5)(0.3)(0.3)=0.045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(0.5)(0.3)(0.5)=0.075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(0.5)(0.5)(0.2)=0.050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(0.5)(0.5)(0.3)=0.075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dirty="0" smtClean="0"/>
                            <a:t>27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(0.5)(0.5)(0.5)=0.125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 smtClean="0"/>
                            <a:t>합계 </a:t>
                          </a:r>
                          <a:r>
                            <a:rPr lang="en-US" altLang="ko-KR" dirty="0" smtClean="0"/>
                            <a:t>=</a:t>
                          </a:r>
                          <a:r>
                            <a:rPr lang="en-US" altLang="ko-KR" baseline="0" dirty="0" smtClean="0"/>
                            <a:t> 1.000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321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표집분포</a:t>
                </a:r>
                <a:r>
                  <a:rPr lang="en-US" altLang="ko-KR" dirty="0" smtClean="0"/>
                  <a:t>(4)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18718"/>
              </a:xfrm>
            </p:spPr>
            <p:txBody>
              <a:bodyPr>
                <a:normAutofit/>
              </a:bodyPr>
              <a:lstStyle/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0.008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+1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0.036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⋯+12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0.125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=6.9</m:t>
                    </m:r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nary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0.008</m:t>
                        </m:r>
                      </m:e>
                    </m:d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0.125</m:t>
                        </m:r>
                      </m:e>
                    </m:d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6.9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=9.03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27.09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18718"/>
              </a:xfrm>
              <a:blipFill rotWithShape="0">
                <a:blip r:embed="rId3"/>
                <a:stretch>
                  <a:fillRect l="-522" b="-1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316775"/>
                  </p:ext>
                </p:extLst>
              </p:nvPr>
            </p:nvGraphicFramePr>
            <p:xfrm>
              <a:off x="1979749" y="1931353"/>
              <a:ext cx="7573554" cy="3352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5883"/>
                    <a:gridCol w="6967671"/>
                  </a:tblGrid>
                  <a:tr h="271726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ko-KR" altLang="en-US" sz="1400" dirty="0" smtClean="0"/>
                            <a:t> 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0.008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0.036 = 0.012 + 0.012 + 0.012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0.054 = 0.018 + 0.018 + 0.018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0.027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0.060 = 0.020 + 0.020 + 0.020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0.180</a:t>
                          </a:r>
                          <a:r>
                            <a:rPr lang="en-US" altLang="ko-KR" sz="1400" baseline="0" dirty="0" smtClean="0"/>
                            <a:t> = 0.030 + 0.030 + 0.030 + 0.030 + 0.030 + 0.030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0.135 = 0.045 + 0.045 + 0.045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0.150</a:t>
                          </a:r>
                          <a:r>
                            <a:rPr lang="en-US" altLang="ko-KR" sz="1400" baseline="0" dirty="0" smtClean="0"/>
                            <a:t> = 0.050 + 0.050 + 0.050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0.225</a:t>
                          </a:r>
                          <a:r>
                            <a:rPr lang="en-US" altLang="ko-KR" sz="1400" baseline="0" dirty="0" smtClean="0"/>
                            <a:t> = 0.075 + 0.075 + 0.075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717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0.125 = 0.125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316775"/>
                  </p:ext>
                </p:extLst>
              </p:nvPr>
            </p:nvGraphicFramePr>
            <p:xfrm>
              <a:off x="1979749" y="1931353"/>
              <a:ext cx="7573554" cy="3352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5883"/>
                    <a:gridCol w="6967671"/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" t="-2000" r="-1148000" b="-10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829" t="-2000" r="-350" b="-1022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0.008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0.036 = 0.012 + 0.012 + 0.012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0.054 = 0.018 + 0.018 + 0.018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0.027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0.060 = 0.020 + 0.020 + 0.020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0.180</a:t>
                          </a:r>
                          <a:r>
                            <a:rPr lang="en-US" altLang="ko-KR" sz="1400" baseline="0" dirty="0" smtClean="0"/>
                            <a:t> = 0.030 + </a:t>
                          </a:r>
                          <a:r>
                            <a:rPr lang="en-US" altLang="ko-KR" sz="1400" baseline="0" dirty="0" smtClean="0"/>
                            <a:t>0.030 + 0.030 + 0.030 + 0.030 + 0.030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0.135 = 0.045 + </a:t>
                          </a:r>
                          <a:r>
                            <a:rPr lang="en-US" altLang="ko-KR" sz="1400" dirty="0" smtClean="0"/>
                            <a:t>0.045 + 0.045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0.150</a:t>
                          </a:r>
                          <a:r>
                            <a:rPr lang="en-US" altLang="ko-KR" sz="1400" baseline="0" dirty="0" smtClean="0"/>
                            <a:t> = 0.050 + 0.050 + 0.050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0.225</a:t>
                          </a:r>
                          <a:r>
                            <a:rPr lang="en-US" altLang="ko-KR" sz="1400" baseline="0" dirty="0" smtClean="0"/>
                            <a:t> = 0.075 + 0.075 + 0.075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0.125 = 0.125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6217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표본중앙값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표집분포</a:t>
                </a:r>
                <a:r>
                  <a:rPr lang="en-US" altLang="ko-KR" dirty="0" smtClean="0"/>
                  <a:t>(5)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r>
                  <a:rPr lang="ko-KR" altLang="en-US" sz="2200" dirty="0" smtClean="0"/>
                  <a:t>표본중앙값 분포의 평균</a:t>
                </a:r>
                <a:r>
                  <a:rPr lang="en-US" altLang="ko-KR" sz="2200" dirty="0" smtClean="0"/>
                  <a:t/>
                </a:r>
                <a:br>
                  <a:rPr lang="en-US" altLang="ko-KR" sz="2200" dirty="0" smtClean="0"/>
                </a:b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0.104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0.396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+12</m:t>
                    </m:r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0.500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=7.188</m:t>
                    </m:r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≠6.9=</m:t>
                    </m:r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ko-KR" sz="2200" dirty="0" smtClean="0"/>
              </a:p>
              <a:p>
                <a:pPr lvl="1"/>
                <a:r>
                  <a:rPr lang="ko-KR" altLang="en-US" sz="1900" dirty="0" smtClean="0"/>
                  <a:t>모집단의 평균과 다르다</a:t>
                </a:r>
                <a:r>
                  <a:rPr lang="en-US" altLang="ko-KR" sz="1900" dirty="0" smtClean="0"/>
                  <a:t>.</a:t>
                </a:r>
              </a:p>
              <a:p>
                <a:pPr lvl="1"/>
                <a:endParaRPr lang="en-US" altLang="ko-KR" sz="1900" dirty="0" smtClean="0"/>
              </a:p>
              <a:p>
                <a:r>
                  <a:rPr lang="ko-KR" altLang="en-US" sz="2200" dirty="0" smtClean="0"/>
                  <a:t>표본중앙값 분포의 분산</a:t>
                </a:r>
                <a:r>
                  <a:rPr lang="en-US" altLang="ko-KR" sz="2200" dirty="0"/>
                  <a:t/>
                </a:r>
                <a:br>
                  <a:rPr lang="en-US" altLang="ko-KR" sz="2200" dirty="0"/>
                </a:b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0.104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0.396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0.500</m:t>
                        </m:r>
                      </m:e>
                    </m:d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</a:rPr>
                              <m:t>7.1888</m:t>
                            </m:r>
                          </m:e>
                        </m:d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200" b="0" i="1" smtClean="0">
                        <a:latin typeface="Cambria Math" panose="02040503050406030204" pitchFamily="18" charset="0"/>
                      </a:rPr>
                      <m:t>=23.897</m:t>
                    </m:r>
                  </m:oMath>
                </a14:m>
                <a:endParaRPr lang="en-US" altLang="ko-KR" sz="2200" b="0" dirty="0" smtClean="0"/>
              </a:p>
              <a:p>
                <a:pPr lvl="1"/>
                <a:r>
                  <a:rPr lang="ko-KR" altLang="en-US" sz="1900" dirty="0" err="1" smtClean="0"/>
                  <a:t>모분산</a:t>
                </a:r>
                <a:r>
                  <a:rPr lang="ko-KR" altLang="en-US" sz="1900" dirty="0" smtClean="0"/>
                  <a:t> </a:t>
                </a:r>
                <a:r>
                  <a:rPr lang="en-US" altLang="ko-KR" sz="1900" dirty="0" smtClean="0"/>
                  <a:t>27.09</a:t>
                </a:r>
                <a:r>
                  <a:rPr lang="ko-KR" altLang="en-US" sz="1900" dirty="0" smtClean="0"/>
                  <a:t>의 </a:t>
                </a:r>
                <a:r>
                  <a:rPr lang="en-US" altLang="ko-KR" sz="1900" dirty="0" smtClean="0"/>
                  <a:t>1/3</a:t>
                </a:r>
                <a:r>
                  <a:rPr lang="ko-KR" altLang="en-US" sz="1900" dirty="0" smtClean="0"/>
                  <a:t>이 아니다</a:t>
                </a:r>
                <a:r>
                  <a:rPr lang="en-US" altLang="ko-KR" sz="1900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22" b="-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6723670"/>
                  </p:ext>
                </p:extLst>
              </p:nvPr>
            </p:nvGraphicFramePr>
            <p:xfrm>
              <a:off x="1160491" y="2128176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4446"/>
                    <a:gridCol w="7573554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0.104 = 0.008+0.012+0.020+0.012+0.020+0.012+0.020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0.396 = 0.018+0.030+0.030+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altLang="ko-KR" dirty="0" smtClean="0"/>
                            <a:t>+0.030+0.045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0.500 = 0.050+0.075+0.050+0.075+0.050+0.075+0.125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6723670"/>
                  </p:ext>
                </p:extLst>
              </p:nvPr>
            </p:nvGraphicFramePr>
            <p:xfrm>
              <a:off x="1160491" y="2128176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4446"/>
                    <a:gridCol w="757355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99" t="-1639" r="-137033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401" t="-1639" r="-322" b="-3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0.104 = 0.008+0.012+0.020+0.012+0.020+0.012+0.020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401" t="-201639" r="-322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0.500 = 0.050+0.075+0.050+0.075+0.050+0.075+0.125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268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표집분포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일반적인 상황에서 </a:t>
            </a:r>
            <a:r>
              <a:rPr lang="ko-KR" altLang="en-US" dirty="0" err="1" smtClean="0"/>
              <a:t>표집분포를</a:t>
            </a:r>
            <a:r>
              <a:rPr lang="ko-KR" altLang="en-US" dirty="0" smtClean="0"/>
              <a:t> 구하는 방법</a:t>
            </a:r>
            <a:endParaRPr lang="en-US" altLang="ko-KR" dirty="0" smtClean="0"/>
          </a:p>
          <a:p>
            <a:r>
              <a:rPr lang="ko-KR" altLang="en-US" dirty="0" smtClean="0"/>
              <a:t>일단 모집단과 표본의 크기가 결정되면 다음 과정으로 </a:t>
            </a:r>
            <a:r>
              <a:rPr lang="ko-KR" altLang="en-US" dirty="0" err="1" smtClean="0"/>
              <a:t>표집분포를</a:t>
            </a:r>
            <a:r>
              <a:rPr lang="ko-KR" altLang="en-US" dirty="0" smtClean="0"/>
              <a:t> 구함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크기가 </a:t>
            </a:r>
            <a:r>
              <a:rPr lang="en-US" altLang="ko-KR" dirty="0" smtClean="0"/>
              <a:t>n</a:t>
            </a:r>
            <a:r>
              <a:rPr lang="ko-KR" altLang="en-US" dirty="0" smtClean="0"/>
              <a:t>인 모든 가능한 표본을 나열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표본에 대해 통계량의 값을 계산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두 번째 단계에서 얻어진 통계량의 값 중에서 서로 다른 값들을 나열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통계량의 값이 같은 표본들을 모두 찾아 해당하는 확률 계산</a:t>
            </a:r>
            <a:endParaRPr lang="en-US" altLang="ko-KR" dirty="0" smtClean="0"/>
          </a:p>
          <a:p>
            <a:r>
              <a:rPr lang="ko-KR" altLang="en-US" dirty="0" smtClean="0"/>
              <a:t>더 복잡한 경우는 수학적 방법을 이용하거나 컴퓨터를 이용하여 근사적인 </a:t>
            </a:r>
            <a:r>
              <a:rPr lang="ko-KR" altLang="en-US" dirty="0" err="1" smtClean="0"/>
              <a:t>표집분포를</a:t>
            </a:r>
            <a:r>
              <a:rPr lang="ko-KR" altLang="en-US" dirty="0" smtClean="0"/>
              <a:t> 구한다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82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표본평균의 분포와 중심극한정리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sz="2400" dirty="0" smtClean="0"/>
                  <a:t>모평균에 관한 통계적 추론은 매우 중요하며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이 </a:t>
                </a:r>
                <a:r>
                  <a:rPr lang="ko-KR" altLang="en-US" sz="2400" dirty="0" err="1" smtClean="0"/>
                  <a:t>모수에</a:t>
                </a:r>
                <a:r>
                  <a:rPr lang="ko-KR" altLang="en-US" sz="2400" dirty="0" smtClean="0"/>
                  <a:t> 관한 추론은 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2400" dirty="0" smtClean="0"/>
                  <a:t> 그것의 </a:t>
                </a:r>
                <a:r>
                  <a:rPr lang="ko-KR" altLang="en-US" sz="2400" dirty="0" err="1" smtClean="0"/>
                  <a:t>표집분포에</a:t>
                </a:r>
                <a:r>
                  <a:rPr lang="ko-KR" altLang="en-US" sz="2400" dirty="0" smtClean="0"/>
                  <a:t> 근거한다</a:t>
                </a:r>
                <a:r>
                  <a:rPr lang="en-US" altLang="ko-KR" sz="2400" dirty="0" smtClean="0"/>
                  <a:t>.</a:t>
                </a:r>
              </a:p>
              <a:p>
                <a:endParaRPr lang="en-US" altLang="ko-KR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400" dirty="0" smtClean="0"/>
                  <a:t> 평균과 표준편차</a:t>
                </a:r>
                <a:r>
                  <a:rPr lang="en-US" altLang="ko-KR" sz="2400" dirty="0" smtClean="0"/>
                  <a:t>: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2400" dirty="0" smtClean="0"/>
                  <a:t>표본크기가 </a:t>
                </a:r>
                <a:r>
                  <a:rPr lang="en-US" altLang="ko-KR" sz="2400" dirty="0" smtClean="0"/>
                  <a:t>n</a:t>
                </a:r>
                <a:r>
                  <a:rPr lang="ko-KR" altLang="en-US" sz="2400" dirty="0" smtClean="0"/>
                  <a:t>인 확률표본에 근거한 표본평균의 분포는 다음을 만족한다</a:t>
                </a:r>
                <a:r>
                  <a:rPr lang="en-US" altLang="ko-KR" sz="2400" dirty="0" smtClean="0"/>
                  <a:t>.</a:t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모</m:t>
                        </m:r>
                        <m:r>
                          <m:rPr>
                            <m:nor/>
                          </m:rPr>
                          <a:rPr lang="ko-KR" altLang="en-US" sz="2400" dirty="0"/>
                          <m:t>평균</m:t>
                        </m:r>
                      </m:e>
                    </m:d>
                  </m:oMath>
                </a14:m>
                <a:r>
                  <a:rPr lang="en-US" altLang="ko-KR" sz="2400" b="0" dirty="0" smtClean="0"/>
                  <a:t/>
                </a:r>
                <a:br>
                  <a:rPr lang="en-US" altLang="ko-KR" sz="2400" b="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모</m:t>
                            </m:r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  <m:t>분</m:t>
                            </m:r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산</m:t>
                            </m:r>
                          </m:num>
                          <m:den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표</m:t>
                            </m:r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  <m:t>본</m:t>
                            </m:r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크</m:t>
                            </m:r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  <m:t>기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𝑠𝑑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모</m:t>
                            </m:r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  <m:t>표</m:t>
                            </m:r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준</m:t>
                            </m:r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  <m:t>편</m:t>
                            </m:r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차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ko-KR" altLang="en-US" sz="2400" i="1">
                                    <a:latin typeface="Cambria Math" panose="02040503050406030204" pitchFamily="18" charset="0"/>
                                  </a:rPr>
                                  <m:t>표</m:t>
                                </m:r>
                                <m:r>
                                  <a:rPr lang="ko-KR" altLang="en-US" sz="2400" i="1" smtClean="0">
                                    <a:latin typeface="Cambria Math" panose="02040503050406030204" pitchFamily="18" charset="0"/>
                                  </a:rPr>
                                  <m:t>본</m:t>
                                </m:r>
                                <m:r>
                                  <a:rPr lang="ko-KR" altLang="en-US" sz="2400" i="1">
                                    <a:latin typeface="Cambria Math" panose="02040503050406030204" pitchFamily="18" charset="0"/>
                                  </a:rPr>
                                  <m:t>크</m:t>
                                </m:r>
                                <m:r>
                                  <a:rPr lang="ko-KR" altLang="en-US" sz="2400" i="1" smtClean="0">
                                    <a:latin typeface="Cambria Math" panose="02040503050406030204" pitchFamily="18" charset="0"/>
                                  </a:rPr>
                                  <m:t>기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96" t="-2381" r="-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057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표본평균의 분포와 중심극한정리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기댓값이</a:t>
                </a:r>
                <a:r>
                  <a:rPr lang="ko-KR" altLang="en-US" dirty="0" smtClean="0"/>
                  <a:t> 분포의 중심측도로 적합하다는 의미에서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dirty="0" smtClean="0"/>
                  <a:t>의 분포는 모평균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가 중심임을 보여줌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sd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표준편차는 </a:t>
                </a:r>
                <a:r>
                  <a:rPr lang="ko-KR" altLang="en-US" dirty="0" err="1" smtClean="0"/>
                  <a:t>모표준편차를</a:t>
                </a:r>
                <a:r>
                  <a:rPr lang="ko-KR" altLang="en-US" dirty="0" smtClean="0"/>
                  <a:t> 표본크기의 제곱근으로 나눈 것과 같다는 것</a:t>
                </a:r>
                <a:endParaRPr lang="en-US" altLang="ko-KR" dirty="0" smtClean="0"/>
              </a:p>
              <a:p>
                <a:pPr lvl="2"/>
                <a:r>
                  <a:rPr lang="ko-KR" altLang="en-US" dirty="0" smtClean="0"/>
                  <a:t>모집단의 편이가 커지면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 smtClean="0"/>
                  <a:t>변이도 커지게 되므로 표본이 가지는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대한 정보를 크게 신뢰할 수 없음</a:t>
                </a:r>
                <a:endParaRPr lang="en-US" altLang="ko-KR" dirty="0" smtClean="0"/>
              </a:p>
              <a:p>
                <a:pPr lvl="2"/>
                <a:r>
                  <a:rPr lang="ko-KR" altLang="en-US" dirty="0" smtClean="0"/>
                  <a:t>그러나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을 크게 하면 반대로 신뢰도를 높을 수 있다</a:t>
                </a:r>
                <a:r>
                  <a:rPr lang="en-US" altLang="ko-KR" dirty="0" smtClean="0"/>
                  <a:t>.</a:t>
                </a:r>
                <a:endParaRPr lang="en-US" altLang="ko-KR" dirty="0"/>
              </a:p>
              <a:p>
                <a:pPr lvl="2"/>
                <a:endParaRPr lang="en-US" altLang="ko-KR" dirty="0" smtClean="0"/>
              </a:p>
              <a:p>
                <a:pPr lvl="2"/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42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예제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dirty="0"/>
                  <a:t>의 </a:t>
                </a:r>
                <a:r>
                  <a:rPr lang="ko-KR" altLang="en-US" dirty="0" err="1"/>
                  <a:t>표집분포의</a:t>
                </a:r>
                <a:r>
                  <a:rPr lang="ko-KR" altLang="en-US" dirty="0"/>
                  <a:t> 평균과 분산</a:t>
                </a:r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ko-KR" altLang="en-US" sz="2400" dirty="0" smtClean="0"/>
                  <a:t>모집단 분포와 </a:t>
                </a:r>
                <a:r>
                  <a:rPr lang="ko-KR" altLang="en-US" sz="2400" dirty="0" err="1" smtClean="0"/>
                  <a:t>표집분포</a:t>
                </a:r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14:m>
                  <m:oMath xmlns:m="http://schemas.openxmlformats.org/officeDocument/2006/math"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ko-KR" sz="3100" b="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ko-KR" sz="3100" dirty="0" smtClean="0"/>
              </a:p>
              <a:p>
                <a14:m>
                  <m:oMath xmlns:m="http://schemas.openxmlformats.org/officeDocument/2006/math"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,  ⇒</m:t>
                    </m:r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altLang="ko-KR" sz="31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altLang="ko-KR" sz="3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31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3100" dirty="0" smtClean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3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31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3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altLang="ko-KR" sz="3100" dirty="0" smtClean="0"/>
              </a:p>
              <a:p>
                <a:pPr lvl="1"/>
                <a:r>
                  <a:rPr lang="ko-KR" altLang="en-US" sz="2600" dirty="0" smtClean="0"/>
                  <a:t>이것은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altLang="ko-KR" sz="26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altLang="ko-KR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2600" dirty="0" smtClean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6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6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ko-KR" sz="2600" dirty="0" smtClean="0"/>
                  <a:t> </a:t>
                </a:r>
                <a:r>
                  <a:rPr lang="ko-KR" altLang="en-US" sz="2600" dirty="0" smtClean="0"/>
                  <a:t>과 일치</a:t>
                </a:r>
                <a:endParaRPr lang="en-US" altLang="ko-KR" sz="2600" dirty="0" smtClean="0"/>
              </a:p>
              <a:p>
                <a:pPr lvl="1"/>
                <a:endParaRPr lang="en-US" altLang="ko-KR" sz="2000" dirty="0" smtClean="0"/>
              </a:p>
              <a:p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96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8239665"/>
                  </p:ext>
                </p:extLst>
              </p:nvPr>
            </p:nvGraphicFramePr>
            <p:xfrm>
              <a:off x="1368845" y="2213361"/>
              <a:ext cx="3732992" cy="18886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3248"/>
                    <a:gridCol w="933248"/>
                    <a:gridCol w="933248"/>
                    <a:gridCol w="933248"/>
                  </a:tblGrid>
                  <a:tr h="334394">
                    <a:tc grid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모집단 분포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𝑥𝑓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2/3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3/3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1/3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4/3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합계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29/3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8239665"/>
                  </p:ext>
                </p:extLst>
              </p:nvPr>
            </p:nvGraphicFramePr>
            <p:xfrm>
              <a:off x="1368845" y="2213361"/>
              <a:ext cx="3732992" cy="18886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3248"/>
                    <a:gridCol w="933248"/>
                    <a:gridCol w="933248"/>
                    <a:gridCol w="933248"/>
                  </a:tblGrid>
                  <a:tr h="334394">
                    <a:tc grid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모집단 분포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54" t="-111765" r="-303922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111765" r="-201948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1307" t="-111765" r="-103268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1307" t="-111765" r="-3268" b="-417647"/>
                          </a:stretch>
                        </a:blipFill>
                      </a:tcPr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211765" r="-201948" b="-3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2/3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311765" r="-201948" b="-2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3/3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411765" r="-201948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4/3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108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합계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29/3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21321"/>
                  </p:ext>
                </p:extLst>
              </p:nvPr>
            </p:nvGraphicFramePr>
            <p:xfrm>
              <a:off x="6485981" y="2213361"/>
              <a:ext cx="3657600" cy="26925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00"/>
                    <a:gridCol w="914400"/>
                    <a:gridCol w="914400"/>
                    <a:gridCol w="914400"/>
                  </a:tblGrid>
                  <a:tr h="336087">
                    <a:tc gridSpan="4"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ko-KR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acc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sSub>
                                <m:sSubPr>
                                  <m:ctrlP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ko-KR" altLang="en-US" sz="1600" b="1" i="1" smtClean="0">
                                  <a:latin typeface="Cambria Math" panose="02040503050406030204" pitchFamily="18" charset="0"/>
                                </a:rPr>
                                <m:t>의</m:t>
                              </m:r>
                            </m:oMath>
                          </a14:m>
                          <a:r>
                            <a:rPr lang="ko-KR" altLang="en-US" sz="1600" dirty="0" smtClean="0"/>
                            <a:t> 분포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ko-KR" alt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12.5/9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27/9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24.5/9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16/9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84/9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21321"/>
                  </p:ext>
                </p:extLst>
              </p:nvPr>
            </p:nvGraphicFramePr>
            <p:xfrm>
              <a:off x="6485981" y="2213361"/>
              <a:ext cx="3657600" cy="2688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00"/>
                    <a:gridCol w="914400"/>
                    <a:gridCol w="914400"/>
                    <a:gridCol w="914400"/>
                  </a:tblGrid>
                  <a:tr h="336087">
                    <a:tc gridSpan="4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66" t="-5455" r="-832" b="-7254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667" t="-103571" r="-304000" b="-6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000" t="-103571" r="-201987" b="-6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1333" t="-103571" r="-103333" b="-6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301333" t="-103571" r="-3333" b="-612500"/>
                          </a:stretch>
                        </a:blipFill>
                      </a:tcPr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12.5/9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27/9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3.5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24.5/9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4/9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16/9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608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84/9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231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표집분포의</a:t>
            </a:r>
            <a:r>
              <a:rPr lang="ko-KR" altLang="en-US" dirty="0" smtClean="0"/>
              <a:t> 모양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정규모집단에서 </a:t>
                </a:r>
                <a:r>
                  <a:rPr lang="ko-KR" altLang="en-US" dirty="0" err="1" smtClean="0"/>
                  <a:t>표본추출하면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dirty="0" smtClean="0"/>
                  <a:t>는 정규분포를 따른다</a:t>
                </a:r>
                <a:r>
                  <a:rPr lang="en-US" altLang="ko-KR" dirty="0" smtClean="0"/>
                  <a:t>.</a:t>
                </a:r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평균이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고 표준편차가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 dirty="0" smtClean="0"/>
                  <a:t> 정규모집단에서 확률분포를 추출하면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dirty="0" smtClean="0"/>
                  <a:t>는 평균이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이고 표준편차가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 dirty="0" smtClean="0"/>
                  <a:t> 정규분포를 따른다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89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 smtClean="0"/>
                  <a:t> 관련된 확률의 결정 </a:t>
                </a:r>
                <a:r>
                  <a:rPr lang="en-US" altLang="ko-KR" dirty="0" smtClean="0"/>
                  <a:t>- </a:t>
                </a:r>
                <a:r>
                  <a:rPr lang="ko-KR" altLang="en-US" dirty="0" smtClean="0"/>
                  <a:t>정규모집단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페퍼로니</a:t>
                </a:r>
                <a:r>
                  <a:rPr lang="ko-KR" altLang="en-US" sz="2400" dirty="0"/>
                  <a:t> </a:t>
                </a:r>
                <a:r>
                  <a:rPr lang="ko-KR" altLang="en-US" sz="2400" dirty="0" smtClean="0"/>
                  <a:t>피자의 무게는 평균 </a:t>
                </a:r>
                <a:r>
                  <a:rPr lang="en-US" altLang="ko-KR" sz="2400" dirty="0" smtClean="0"/>
                  <a:t>16</a:t>
                </a:r>
                <a:r>
                  <a:rPr lang="ko-KR" altLang="en-US" sz="2400" dirty="0" smtClean="0"/>
                  <a:t>온스이고 표준편차가 </a:t>
                </a:r>
                <a:r>
                  <a:rPr lang="en-US" altLang="ko-KR" sz="2400" dirty="0" smtClean="0"/>
                  <a:t>1</a:t>
                </a:r>
                <a:r>
                  <a:rPr lang="ko-KR" altLang="en-US" sz="2400" dirty="0" smtClean="0"/>
                  <a:t>온스인 정규분포를 따르는 확률 변수이다</a:t>
                </a:r>
                <a:r>
                  <a:rPr lang="en-US" altLang="ko-KR" sz="2400" dirty="0" smtClean="0"/>
                  <a:t>.</a:t>
                </a:r>
              </a:p>
              <a:p>
                <a:endParaRPr lang="en-US" altLang="ko-KR" sz="2400" dirty="0" smtClean="0"/>
              </a:p>
              <a:p>
                <a:r>
                  <a:rPr lang="ko-KR" altLang="en-US" sz="2400" dirty="0" smtClean="0"/>
                  <a:t>피자 </a:t>
                </a:r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개의 평균 무게가 </a:t>
                </a:r>
                <a:r>
                  <a:rPr lang="en-US" altLang="ko-KR" sz="2400" dirty="0" smtClean="0"/>
                  <a:t>17.1</a:t>
                </a:r>
                <a:r>
                  <a:rPr lang="ko-KR" altLang="en-US" sz="2400" dirty="0" smtClean="0"/>
                  <a:t>온스보다 클 확률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분포는 평균이 </a:t>
                </a:r>
                <a:r>
                  <a:rPr lang="en-US" altLang="ko-KR" sz="2000" dirty="0" smtClean="0"/>
                  <a:t>16, </a:t>
                </a:r>
                <a:r>
                  <a:rPr lang="ko-KR" altLang="en-US" sz="2000" dirty="0" smtClean="0"/>
                  <a:t>표준편차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정규분포를 따름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&gt;17.1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−16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17.1−16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&gt;2.20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=1−0.9861=0.0139</m:t>
                    </m:r>
                  </m:oMath>
                </a14:m>
                <a:endParaRPr lang="en-US" altLang="ko-KR" sz="2000" dirty="0" smtClean="0"/>
              </a:p>
              <a:p>
                <a:pPr lvl="1"/>
                <a:endParaRPr lang="en-US" altLang="ko-KR" sz="2000" dirty="0" smtClean="0"/>
              </a:p>
              <a:p>
                <a:r>
                  <a:rPr lang="ko-KR" altLang="en-US" sz="2400" dirty="0" smtClean="0"/>
                  <a:t>피자 </a:t>
                </a:r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개의 </a:t>
                </a:r>
                <a:r>
                  <a:rPr lang="ko-KR" altLang="en-US" sz="2400" dirty="0" err="1" smtClean="0"/>
                  <a:t>총무게가</a:t>
                </a:r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61.0</a:t>
                </a:r>
                <a:r>
                  <a:rPr lang="ko-KR" altLang="en-US" sz="2400" dirty="0" smtClean="0"/>
                  <a:t>온스를 초과하지 않을 확률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평균 무게가 </a:t>
                </a:r>
                <a:r>
                  <a:rPr lang="en-US" altLang="ko-KR" sz="2000" dirty="0" smtClean="0"/>
                  <a:t>61.0/4=15.25</a:t>
                </a:r>
                <a:r>
                  <a:rPr lang="ko-KR" altLang="en-US" sz="2000" dirty="0" smtClean="0"/>
                  <a:t>이하일 확률과 같다</a:t>
                </a:r>
                <a:r>
                  <a:rPr lang="en-US" altLang="ko-KR" sz="20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≤15.25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−16</m:t>
                            </m:r>
                          </m:num>
                          <m:den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den>
                        </m:f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15.25−16</m:t>
                            </m:r>
                          </m:num>
                          <m:den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≤−1.50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=0.0668</m:t>
                    </m:r>
                  </m:oMath>
                </a14:m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40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중심극한정리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모집단에 관계없이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이 크면</a:t>
                </a:r>
                <a:r>
                  <a:rPr lang="en-US" altLang="ko-KR" dirty="0" smtClean="0"/>
                  <a:t>,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분포는 근사적으로 정규분포를 따른다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평균이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 smtClean="0"/>
                  <a:t>이고 표준편차가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 smtClean="0"/>
                  <a:t>인 임의의 모집단에서 확률표본을 추출하면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이 클 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분포는 평균이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/>
                  <a:t>이고 표준편차가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ko-KR" altLang="en-US" dirty="0" smtClean="0"/>
                  <a:t>인 정규분포를 근사적으로 따른다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따라서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  <m:r>
                      <m:rPr>
                        <m:nor/>
                      </m:rPr>
                      <a:rPr lang="ko-KR" altLang="en-US" dirty="0"/>
                      <m:t> 근사적으로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7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spc="-150" dirty="0" smtClean="0"/>
                  <a:t>예제</a:t>
                </a:r>
                <a:r>
                  <a:rPr lang="en-US" altLang="ko-KR" spc="-150" dirty="0" smtClean="0"/>
                  <a:t>: </a:t>
                </a:r>
                <a:r>
                  <a:rPr lang="ko-KR" altLang="en-US" spc="-150" dirty="0" smtClean="0"/>
                  <a:t>대</a:t>
                </a:r>
                <a14:m>
                  <m:oMath xmlns:m="http://schemas.openxmlformats.org/officeDocument/2006/math">
                    <m:r>
                      <a:rPr lang="ko-KR" altLang="en-US" i="1" spc="-150" smtClean="0">
                        <a:latin typeface="Cambria Math" panose="02040503050406030204" pitchFamily="18" charset="0"/>
                      </a:rPr>
                      <m:t>표</m:t>
                    </m:r>
                    <m:r>
                      <a:rPr lang="ko-KR" altLang="en-US" i="1" spc="-150">
                        <a:latin typeface="Cambria Math" panose="02040503050406030204" pitchFamily="18" charset="0"/>
                      </a:rPr>
                      <m:t>본</m:t>
                    </m:r>
                    <m:r>
                      <a:rPr lang="ko-KR" altLang="en-US" i="1" spc="-150" smtClean="0">
                        <a:latin typeface="Cambria Math" panose="02040503050406030204" pitchFamily="18" charset="0"/>
                      </a:rPr>
                      <m:t>에</m:t>
                    </m:r>
                    <m:r>
                      <a:rPr lang="en-US" altLang="ko-KR" b="0" i="1" spc="-15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pc="-150">
                        <a:latin typeface="Cambria Math" panose="02040503050406030204" pitchFamily="18" charset="0"/>
                      </a:rPr>
                      <m:t>근</m:t>
                    </m:r>
                    <m:r>
                      <a:rPr lang="ko-KR" altLang="en-US" i="1" spc="-150" smtClean="0">
                        <a:latin typeface="Cambria Math" panose="02040503050406030204" pitchFamily="18" charset="0"/>
                      </a:rPr>
                      <m:t>거</m:t>
                    </m:r>
                    <m:r>
                      <a:rPr lang="ko-KR" altLang="en-US" i="1" spc="-150">
                        <a:latin typeface="Cambria Math" panose="02040503050406030204" pitchFamily="18" charset="0"/>
                      </a:rPr>
                      <m:t>한</m:t>
                    </m:r>
                    <m:r>
                      <a:rPr lang="en-US" altLang="ko-KR" b="0" i="1" spc="-15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i="1" spc="-15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pc="-15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spc="-150" dirty="0" smtClean="0"/>
                  <a:t>에 대한 확률 계산</a:t>
                </a:r>
                <a:endParaRPr lang="ko-KR" altLang="en-US" spc="-150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매주 과외활동 수가 평균 </a:t>
                </a:r>
                <a:r>
                  <a:rPr lang="en-US" altLang="ko-KR" sz="2400" dirty="0" smtClean="0"/>
                  <a:t>1.9</a:t>
                </a:r>
                <a:r>
                  <a:rPr lang="ko-KR" altLang="en-US" sz="2400" dirty="0" smtClean="0"/>
                  <a:t>이고 표준편차가 </a:t>
                </a:r>
                <a:r>
                  <a:rPr lang="en-US" altLang="ko-KR" sz="2400" dirty="0" smtClean="0"/>
                  <a:t>1.6</a:t>
                </a:r>
                <a:r>
                  <a:rPr lang="ko-KR" altLang="en-US" sz="2400" dirty="0" smtClean="0"/>
                  <a:t>인 분포로 모형화할 수 있다고 할 때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만일 표본크기가 </a:t>
                </a:r>
                <a:r>
                  <a:rPr lang="en-US" altLang="ko-KR" sz="2400" dirty="0" smtClean="0"/>
                  <a:t>41</a:t>
                </a:r>
                <a:r>
                  <a:rPr lang="ko-KR" altLang="en-US" sz="2400" dirty="0" smtClean="0"/>
                  <a:t>인 확률표본이 선택되었으면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표본평균이 </a:t>
                </a:r>
                <a:r>
                  <a:rPr lang="en-US" altLang="ko-KR" sz="2400" dirty="0" smtClean="0"/>
                  <a:t>1.7</a:t>
                </a:r>
                <a:r>
                  <a:rPr lang="ko-KR" altLang="en-US" sz="2400" dirty="0" smtClean="0"/>
                  <a:t>과 </a:t>
                </a:r>
                <a:r>
                  <a:rPr lang="en-US" altLang="ko-KR" sz="2400" dirty="0" smtClean="0"/>
                  <a:t>2.1 </a:t>
                </a:r>
                <a:r>
                  <a:rPr lang="ko-KR" altLang="en-US" sz="2400" dirty="0" smtClean="0"/>
                  <a:t>사이일 확률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중심극한 정리에 의해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1.9,  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41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=0.250</m:t>
                        </m:r>
                      </m:e>
                    </m:d>
                  </m:oMath>
                </a14:m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1.7&lt;</m:t>
                        </m:r>
                        <m:acc>
                          <m:accPr>
                            <m:chr m:val="̅"/>
                            <m:ctrlPr>
                              <a:rPr lang="ko-KR" altLang="en-US" sz="2000" i="1" spc="-15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&lt;2.1</m:t>
                        </m:r>
                      </m:e>
                    </m:d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  <m:t>1.7−1.9</m:t>
                            </m:r>
                          </m:num>
                          <m:den>
                            <m: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  <m:t>0.250</m:t>
                            </m:r>
                          </m:den>
                        </m:f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  <m:t>2.1−1.9</m:t>
                            </m:r>
                          </m:num>
                          <m:den>
                            <m: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  <m:t>0.250</m:t>
                            </m:r>
                          </m:den>
                        </m:f>
                      </m:e>
                    </m:d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−0.8&lt;</m:t>
                        </m:r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&lt;0.8</m:t>
                        </m:r>
                      </m:e>
                    </m:d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=0.5762</m:t>
                    </m:r>
                  </m:oMath>
                </a14:m>
                <a:endParaRPr lang="en-US" altLang="ko-KR" sz="2000" spc="-150" dirty="0" smtClean="0"/>
              </a:p>
              <a:p>
                <a:r>
                  <a:rPr lang="ko-KR" altLang="en-US" sz="2400" dirty="0"/>
                  <a:t>표본크기가 </a:t>
                </a:r>
                <a:r>
                  <a:rPr lang="en-US" altLang="ko-KR" sz="2400" dirty="0" smtClean="0"/>
                  <a:t>100</a:t>
                </a:r>
                <a:r>
                  <a:rPr lang="ko-KR" altLang="en-US" sz="2400" dirty="0" smtClean="0"/>
                  <a:t>인 경우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/>
                  <a:t>중심극한 정리에 의해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1.9,  </m:t>
                        </m:r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rad>
                          </m:den>
                        </m:f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 spc="-1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1.7&lt;</m:t>
                        </m:r>
                        <m:acc>
                          <m:accPr>
                            <m:chr m:val="̅"/>
                            <m:ctrlPr>
                              <a:rPr lang="ko-KR" altLang="en-US" sz="2000" i="1" spc="-15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&lt;2.1</m:t>
                        </m:r>
                      </m:e>
                    </m:d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 spc="-1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  <m:t>1.7−1.9</m:t>
                            </m:r>
                          </m:num>
                          <m:den>
                            <m: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  <m:t>2.1−1.9</m:t>
                            </m:r>
                          </m:num>
                          <m:den>
                            <m:r>
                              <a:rPr lang="en-US" altLang="ko-KR" sz="2000" i="1" spc="-15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altLang="ko-KR" sz="2000" b="0" i="1" spc="-150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 spc="-1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0" i="1" spc="-150" smtClean="0">
                            <a:latin typeface="Cambria Math" panose="02040503050406030204" pitchFamily="18" charset="0"/>
                          </a:rPr>
                          <m:t>1.25</m:t>
                        </m:r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000" i="1" spc="-150">
                            <a:latin typeface="Cambria Math" panose="02040503050406030204" pitchFamily="18" charset="0"/>
                          </a:rPr>
                          <m:t>&lt;1.25</m:t>
                        </m:r>
                      </m:e>
                    </m:d>
                    <m:r>
                      <a:rPr lang="en-US" altLang="ko-KR" sz="2000" i="1" spc="-1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0.7888</m:t>
                    </m:r>
                  </m:oMath>
                </a14:m>
                <a:endParaRPr lang="en-US" altLang="ko-KR" sz="2000" spc="-15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 descr="figun_07_0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749" y="3108960"/>
            <a:ext cx="2742339" cy="2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45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중심극한정리의 실례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http://onlinestatbook.com/stat_sim/sampling_dist/index.html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8877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반품된 물품의 개수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8" y="1825625"/>
                <a:ext cx="7801599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000" dirty="0" smtClean="0"/>
                  <a:t>반품하러 온 사람들의 물품 개수를 크기가 </a:t>
                </a:r>
                <a:r>
                  <a:rPr lang="en-US" altLang="ko-KR" sz="2000" dirty="0" smtClean="0"/>
                  <a:t>300</a:t>
                </a:r>
                <a:r>
                  <a:rPr lang="ko-KR" altLang="en-US" sz="2000" dirty="0" smtClean="0"/>
                  <a:t>인 표본으로부터 상대도수를 구하여 확률 분포를 다음과 같이 제안</a:t>
                </a:r>
                <a:endParaRPr lang="en-US" altLang="ko-KR" sz="2000" dirty="0"/>
              </a:p>
              <a:p>
                <a:r>
                  <a:rPr lang="ko-KR" altLang="en-US" sz="2000" dirty="0" smtClean="0"/>
                  <a:t>반품된 선물들 개수에 대한 분포는 평균 </a:t>
                </a:r>
                <a:r>
                  <a:rPr lang="en-US" altLang="ko-KR" sz="2000" dirty="0" smtClean="0"/>
                  <a:t>2.61, </a:t>
                </a:r>
                <a:r>
                  <a:rPr lang="ko-KR" altLang="en-US" sz="2000" dirty="0" smtClean="0"/>
                  <a:t>표준 편차가 </a:t>
                </a:r>
                <a:r>
                  <a:rPr lang="en-US" altLang="ko-KR" sz="2000" dirty="0" smtClean="0"/>
                  <a:t>1.34</a:t>
                </a:r>
              </a:p>
              <a:p>
                <a:r>
                  <a:rPr lang="ko-KR" altLang="en-US" sz="2000" dirty="0" smtClean="0"/>
                  <a:t>만일 표본크기 </a:t>
                </a:r>
                <a:r>
                  <a:rPr lang="en-US" altLang="ko-KR" sz="2000" dirty="0" smtClean="0"/>
                  <a:t>45</a:t>
                </a:r>
                <a:r>
                  <a:rPr lang="ko-KR" altLang="en-US" sz="2000" dirty="0" smtClean="0"/>
                  <a:t>인 확률표본을 선택했다면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표본평균이 </a:t>
                </a:r>
                <a:r>
                  <a:rPr lang="en-US" altLang="ko-KR" sz="2000" dirty="0" smtClean="0"/>
                  <a:t>2.9</a:t>
                </a:r>
                <a:r>
                  <a:rPr lang="ko-KR" altLang="en-US" sz="2000" dirty="0" smtClean="0"/>
                  <a:t>물품보다 많을 확률</a:t>
                </a:r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sz="1600" dirty="0" smtClean="0"/>
                  <a:t>의 분포는 평균 </a:t>
                </a:r>
                <a:r>
                  <a:rPr lang="en-US" altLang="ko-KR" sz="1600" dirty="0" smtClean="0"/>
                  <a:t>2.61, </a:t>
                </a:r>
                <a:r>
                  <a:rPr lang="ko-KR" altLang="en-US" sz="1600" dirty="0" smtClean="0"/>
                  <a:t>표준편차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1.34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</m:rad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ko-KR" altLang="en-US" sz="1600" dirty="0" smtClean="0"/>
                  <a:t>의 정규분포에 </a:t>
                </a:r>
                <a:r>
                  <a:rPr lang="ko-KR" altLang="en-US" sz="1600" dirty="0" err="1" smtClean="0"/>
                  <a:t>근사됨</a:t>
                </a:r>
                <a:endParaRPr lang="en-US" altLang="ko-KR" sz="16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&gt;2.9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2.9−2.61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den>
                        </m:f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&gt;1.45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=1−0.9265=0.0735</m:t>
                    </m:r>
                  </m:oMath>
                </a14:m>
                <a:endParaRPr lang="en-US" altLang="ko-KR" sz="1600" dirty="0" smtClean="0"/>
              </a:p>
              <a:p>
                <a:r>
                  <a:rPr lang="en-US" altLang="ko-KR" sz="2000" dirty="0" smtClean="0"/>
                  <a:t>45</a:t>
                </a:r>
                <a:r>
                  <a:rPr lang="ko-KR" altLang="en-US" sz="2000" dirty="0" smtClean="0"/>
                  <a:t>명의 고객들이 반품한 물품의 총 개수가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000" dirty="0" smtClean="0"/>
                  <a:t>보다 작을 확률이 </a:t>
                </a:r>
                <a:r>
                  <a:rPr lang="en-US" altLang="ko-KR" sz="2000" dirty="0" smtClean="0"/>
                  <a:t>0.95</a:t>
                </a:r>
                <a:r>
                  <a:rPr lang="ko-KR" altLang="en-US" sz="2000" dirty="0" smtClean="0"/>
                  <a:t>가 될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2000" dirty="0" smtClean="0"/>
                  <a:t>의 </a:t>
                </a:r>
                <a:r>
                  <a:rPr lang="ko-KR" altLang="en-US" sz="2000" dirty="0" err="1" smtClean="0"/>
                  <a:t>상한값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sz="1600" i="0" dirty="0" smtClean="0">
                    <a:latin typeface="+mj-lt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acc>
                      <m:accPr>
                        <m:chr m:val="̅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/45]</m:t>
                    </m:r>
                  </m:oMath>
                </a14:m>
                <a:endParaRPr lang="en-US" altLang="ko-KR" sz="1600" b="0" i="0" dirty="0" smtClean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0.95=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≤1.645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−2.61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den>
                        </m:f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lin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den>
                            </m:f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−2.61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1600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=45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1.645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×0.2+2.61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=132.3</m:t>
                    </m:r>
                  </m:oMath>
                </a14:m>
                <a:r>
                  <a:rPr lang="en-US" altLang="ko-KR" sz="1600" b="0" dirty="0" smtClean="0"/>
                  <a:t>,  </a:t>
                </a:r>
                <a14:m>
                  <m:oMath xmlns:m="http://schemas.openxmlformats.org/officeDocument/2006/math"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b="0" dirty="0" smtClean="0"/>
                  <a:t>는 정수이므로 </a:t>
                </a:r>
                <a:r>
                  <a:rPr lang="en-US" altLang="ko-KR" sz="1600" b="0" dirty="0" smtClean="0"/>
                  <a:t>133</a:t>
                </a:r>
                <a:r>
                  <a:rPr lang="ko-KR" altLang="en-US" sz="1600" b="0" dirty="0" smtClean="0"/>
                  <a:t>을 선택</a:t>
                </a:r>
                <a:endParaRPr lang="en-US" altLang="ko-KR" sz="1600" b="0" dirty="0" smtClean="0"/>
              </a:p>
              <a:p>
                <a:pPr lvl="1"/>
                <a:endParaRPr lang="en-US" altLang="ko-KR" sz="2000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8" y="1825625"/>
                <a:ext cx="7801599" cy="4351338"/>
              </a:xfrm>
              <a:blipFill rotWithShape="0">
                <a:blip r:embed="rId2"/>
                <a:stretch>
                  <a:fillRect l="-625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내용 개체 틀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9585955"/>
              </p:ext>
            </p:extLst>
          </p:nvPr>
        </p:nvGraphicFramePr>
        <p:xfrm>
          <a:off x="8708163" y="1825625"/>
          <a:ext cx="2820114" cy="260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809"/>
                <a:gridCol w="803305"/>
              </a:tblGrid>
              <a:tr h="3762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반품된 물품의 개수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확률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0.25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0.28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0.20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0.17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0.08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0.02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766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현명하게 통계 사용하기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1800" dirty="0" smtClean="0"/>
                  <a:t>표집분포의 개념을 이해하라</a:t>
                </a:r>
                <a:r>
                  <a:rPr lang="en-US" altLang="ko-KR" sz="1800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1800" dirty="0" smtClean="0"/>
                  <a:t>근본적인 분포가 평균이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800" dirty="0" smtClean="0"/>
                  <a:t>이고 분산이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sz="1800" i="1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sz="1800" b="0" dirty="0" smtClean="0"/>
                  <a:t>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800" b="0" dirty="0" smtClean="0"/>
                  <a:t> </a:t>
                </a:r>
                <a:r>
                  <a:rPr lang="ko-KR" altLang="en-US" sz="1800" b="0" dirty="0" err="1" smtClean="0"/>
                  <a:t>표집분포의</a:t>
                </a:r>
                <a:r>
                  <a:rPr lang="ko-KR" altLang="en-US" sz="1800" b="0" dirty="0" smtClean="0"/>
                  <a:t> 평균과 분산이 다음과 같음을 기억하라</a:t>
                </a:r>
                <a:r>
                  <a:rPr lang="en-US" altLang="ko-KR" sz="1800" b="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b="0" dirty="0" smtClean="0"/>
                  <a:t> </a:t>
                </a:r>
                <a:r>
                  <a:rPr lang="ko-KR" altLang="en-US" sz="1600" b="0" dirty="0" smtClean="0"/>
                  <a:t>평균 </a:t>
                </a:r>
                <a:r>
                  <a:rPr lang="en-US" altLang="ko-KR" sz="1600" b="0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ko-KR" sz="1600" b="0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 smtClean="0"/>
                  <a:t>분산 </a:t>
                </a:r>
                <a:r>
                  <a:rPr lang="en-US" altLang="ko-KR" sz="16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ko-KR" altLang="en-US" sz="1600" dirty="0" smtClean="0"/>
                  <a:t> </a:t>
                </a:r>
                <a:endParaRPr lang="en-US" altLang="ko-KR" sz="16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1800" dirty="0" smtClean="0"/>
                  <a:t>기초적인 분포가 평균이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800" dirty="0"/>
                  <a:t>이고 분산이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800" b="0" dirty="0" smtClean="0"/>
                  <a:t>인 정규분포라면</a:t>
                </a:r>
                <a:r>
                  <a:rPr lang="en-US" altLang="ko-KR" sz="1800" b="0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ko-KR" altLang="en-US" sz="1800" b="0" dirty="0" smtClean="0"/>
                  <a:t>에 대한 정확한 확률들은 평균이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800" dirty="0"/>
                  <a:t>이고 분산이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ko-KR" altLang="en-US" sz="1800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en-US" altLang="ko-KR" sz="1800" b="0" dirty="0" smtClean="0"/>
                  <a:t> </a:t>
                </a:r>
                <a:r>
                  <a:rPr lang="ko-KR" altLang="en-US" sz="1800" b="0" dirty="0" smtClean="0"/>
                  <a:t>정규분포를 이용해 계산하라</a:t>
                </a:r>
                <a:r>
                  <a:rPr lang="en-US" altLang="ko-KR" sz="1800" b="0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1800" dirty="0" smtClean="0"/>
                  <a:t>표본크기가 클 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800" dirty="0"/>
                  <a:t> </a:t>
                </a:r>
                <a:r>
                  <a:rPr lang="ko-KR" altLang="en-US" sz="1800" dirty="0" err="1" smtClean="0"/>
                  <a:t>표집분포를</a:t>
                </a:r>
                <a:r>
                  <a:rPr lang="ko-KR" altLang="en-US" sz="1800" dirty="0" smtClean="0"/>
                  <a:t> 평균이 </a:t>
                </a:r>
                <a:r>
                  <a:rPr lang="ko-KR" altLang="en-US" sz="1800" dirty="0"/>
                  <a:t>이고 분산이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800" dirty="0"/>
                  <a:t>인 </a:t>
                </a:r>
                <a:r>
                  <a:rPr lang="ko-KR" altLang="en-US" sz="1800" dirty="0" smtClean="0"/>
                  <a:t>정규분포에 근사하기 위해 중심극한 정리를 이용하라</a:t>
                </a:r>
                <a:r>
                  <a:rPr lang="en-US" altLang="ko-KR" sz="1800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1800" b="0" dirty="0" smtClean="0"/>
                  <a:t>하나의 확률변수에 대한 변이를 설명하는 모집단 분포와 통계량의 </a:t>
                </a:r>
                <a:r>
                  <a:rPr lang="ko-KR" altLang="en-US" sz="1800" b="0" dirty="0" err="1" smtClean="0"/>
                  <a:t>표집분포를</a:t>
                </a:r>
                <a:r>
                  <a:rPr lang="ko-KR" altLang="en-US" sz="1800" b="0" dirty="0" smtClean="0"/>
                  <a:t> 혼동하지 마라</a:t>
                </a:r>
                <a:r>
                  <a:rPr lang="en-US" altLang="ko-KR" sz="1800" b="0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1800" dirty="0" smtClean="0"/>
                  <a:t>모집단 분포가 확실히 정규분포가 아닐 때</a:t>
                </a:r>
                <a:r>
                  <a:rPr lang="en-US" altLang="ko-KR" sz="1800" dirty="0" smtClean="0"/>
                  <a:t>, </a:t>
                </a:r>
                <a:r>
                  <a:rPr lang="ko-KR" altLang="en-US" sz="1800" dirty="0" smtClean="0"/>
                  <a:t>표본 크기가 적어도 적당히 큰 값 즉</a:t>
                </a:r>
                <a:r>
                  <a:rPr lang="en-US" altLang="ko-KR" sz="1800" dirty="0" smtClean="0"/>
                  <a:t>, 30 </a:t>
                </a:r>
                <a:r>
                  <a:rPr lang="ko-KR" altLang="en-US" sz="1800" dirty="0" smtClean="0"/>
                  <a:t>이상이 아니면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800" b="0" dirty="0" smtClean="0"/>
                  <a:t> </a:t>
                </a:r>
                <a:r>
                  <a:rPr lang="ko-KR" altLang="en-US" sz="1800" b="0" dirty="0" err="1" smtClean="0"/>
                  <a:t>표집분포가</a:t>
                </a:r>
                <a:r>
                  <a:rPr lang="ko-KR" altLang="en-US" sz="1800" b="0" dirty="0" smtClean="0"/>
                  <a:t> 정규분포라고 단정하지 마라</a:t>
                </a:r>
                <a:r>
                  <a:rPr lang="en-US" altLang="ko-KR" sz="1800" b="0" dirty="0" smtClean="0"/>
                  <a:t>.</a:t>
                </a:r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38" t="-1961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38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1167</Words>
  <Application>Microsoft Office PowerPoint</Application>
  <PresentationFormat>와이드스크린</PresentationFormat>
  <Paragraphs>535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Cambria Math</vt:lpstr>
      <vt:lpstr>Office 테마</vt:lpstr>
      <vt:lpstr>반복 표본에서의 변이 - 표집분포</vt:lpstr>
      <vt:lpstr>서론</vt:lpstr>
      <vt:lpstr>모수와 통계량</vt:lpstr>
      <vt:lpstr>표본평균</vt:lpstr>
      <vt:lpstr>예 : 표본평균</vt:lpstr>
      <vt:lpstr>통계량의 표집분포</vt:lpstr>
      <vt:lpstr>예제 : 표집분포</vt:lpstr>
      <vt:lpstr>예제: 표집분포(2)</vt:lpstr>
      <vt:lpstr>히스토그램</vt:lpstr>
      <vt:lpstr>확률표본(random sample)</vt:lpstr>
      <vt:lpstr>표본평균과 표본중앙값 각각의 표집분포</vt:lpstr>
      <vt:lpstr>표본평균과 표본중앙값의 표집분포(2)</vt:lpstr>
      <vt:lpstr>표본평균과 표본중앙값의 표집분포(3)</vt:lpstr>
      <vt:lpstr>표본평균 X ̅의 표집분포(4)</vt:lpstr>
      <vt:lpstr>표본중앙값 m의 표집분포(5)</vt:lpstr>
      <vt:lpstr>표집분포</vt:lpstr>
      <vt:lpstr>표본평균의 분포와 중심극한정리</vt:lpstr>
      <vt:lpstr>표본평균의 분포와 중심극한정리</vt:lpstr>
      <vt:lpstr>예제: X ̅의 표집분포의 평균과 분산</vt:lpstr>
      <vt:lpstr>표집분포의 모양</vt:lpstr>
      <vt:lpstr>X ̅와 관련된 확률의 결정 - 정규모집단</vt:lpstr>
      <vt:lpstr>중심극한정리</vt:lpstr>
      <vt:lpstr>예제: 대표본에 근거한 X ̅에 대한 확률 계산</vt:lpstr>
      <vt:lpstr>예제: 중심극한정리의 실례</vt:lpstr>
      <vt:lpstr>예제: 반품된 물품의 개수</vt:lpstr>
      <vt:lpstr>현명하게 통계 사용하기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반복 표본에서의 변이 - 표집분포</dc:title>
  <dc:creator>sw</dc:creator>
  <cp:lastModifiedBy>kyungsub@gmail.com</cp:lastModifiedBy>
  <cp:revision>64</cp:revision>
  <dcterms:created xsi:type="dcterms:W3CDTF">2016-03-09T11:46:18Z</dcterms:created>
  <dcterms:modified xsi:type="dcterms:W3CDTF">2017-04-28T02:49:37Z</dcterms:modified>
</cp:coreProperties>
</file>