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790E7-CFE3-4D67-A408-449198729D6C}" type="datetimeFigureOut">
              <a:rPr lang="ko-KR" altLang="en-US" smtClean="0"/>
              <a:t>2017-03-10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374FF-3161-4E4B-BC7C-F357A7C68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49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790E7-CFE3-4D67-A408-449198729D6C}" type="datetimeFigureOut">
              <a:rPr lang="ko-KR" altLang="en-US" smtClean="0"/>
              <a:t>2017-03-10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374FF-3161-4E4B-BC7C-F357A7C68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257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790E7-CFE3-4D67-A408-449198729D6C}" type="datetimeFigureOut">
              <a:rPr lang="ko-KR" altLang="en-US" smtClean="0"/>
              <a:t>2017-03-10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374FF-3161-4E4B-BC7C-F357A7C68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377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790E7-CFE3-4D67-A408-449198729D6C}" type="datetimeFigureOut">
              <a:rPr lang="ko-KR" altLang="en-US" smtClean="0"/>
              <a:t>2017-03-10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374FF-3161-4E4B-BC7C-F357A7C68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37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790E7-CFE3-4D67-A408-449198729D6C}" type="datetimeFigureOut">
              <a:rPr lang="ko-KR" altLang="en-US" smtClean="0"/>
              <a:t>2017-03-10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374FF-3161-4E4B-BC7C-F357A7C68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810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790E7-CFE3-4D67-A408-449198729D6C}" type="datetimeFigureOut">
              <a:rPr lang="ko-KR" altLang="en-US" smtClean="0"/>
              <a:t>2017-03-10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374FF-3161-4E4B-BC7C-F357A7C68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9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790E7-CFE3-4D67-A408-449198729D6C}" type="datetimeFigureOut">
              <a:rPr lang="ko-KR" altLang="en-US" smtClean="0"/>
              <a:t>2017-03-10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374FF-3161-4E4B-BC7C-F357A7C68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05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790E7-CFE3-4D67-A408-449198729D6C}" type="datetimeFigureOut">
              <a:rPr lang="ko-KR" altLang="en-US" smtClean="0"/>
              <a:t>2017-03-10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374FF-3161-4E4B-BC7C-F357A7C68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952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790E7-CFE3-4D67-A408-449198729D6C}" type="datetimeFigureOut">
              <a:rPr lang="ko-KR" altLang="en-US" smtClean="0"/>
              <a:t>2017-03-10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374FF-3161-4E4B-BC7C-F357A7C68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83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790E7-CFE3-4D67-A408-449198729D6C}" type="datetimeFigureOut">
              <a:rPr lang="ko-KR" altLang="en-US" smtClean="0"/>
              <a:t>2017-03-10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374FF-3161-4E4B-BC7C-F357A7C68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56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790E7-CFE3-4D67-A408-449198729D6C}" type="datetimeFigureOut">
              <a:rPr lang="ko-KR" altLang="en-US" smtClean="0"/>
              <a:t>2017-03-10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374FF-3161-4E4B-BC7C-F357A7C68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25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790E7-CFE3-4D67-A408-449198729D6C}" type="datetimeFigureOut">
              <a:rPr lang="ko-KR" altLang="en-US" smtClean="0"/>
              <a:t>2017-03-10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374FF-3161-4E4B-BC7C-F357A7C680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57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서론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610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통계학이란 무엇인가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통계학</a:t>
            </a:r>
            <a:r>
              <a:rPr lang="en-US" altLang="ko-KR" dirty="0" smtClean="0"/>
              <a:t>(statistics)</a:t>
            </a:r>
            <a:r>
              <a:rPr lang="ko-KR" altLang="en-US" dirty="0" smtClean="0"/>
              <a:t>이라는 말은 로마의 국가를 의미하는 </a:t>
            </a:r>
            <a:r>
              <a:rPr lang="en-US" altLang="ko-KR" dirty="0" smtClean="0"/>
              <a:t>'status'</a:t>
            </a:r>
            <a:r>
              <a:rPr lang="ko-KR" altLang="en-US" dirty="0" smtClean="0"/>
              <a:t>에서 유래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오랫동안 통계학은 한 나라의 경제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정치적 문제에 관계되는 데이터나 도표를 나타내기 위한 학문으로 여겨짐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20</a:t>
            </a:r>
            <a:r>
              <a:rPr lang="ko-KR" altLang="en-US" dirty="0" smtClean="0"/>
              <a:t>세기에 들어 괄목할 발전을 한 통계학은 데이터에 기초한 추론의 학문으로 중요성이 인식되고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데이터 나열이나 도표 작성 등은 통계학의 중요하지 않은 일부분이 됨</a:t>
            </a:r>
            <a:endParaRPr lang="en-US" altLang="ko-KR" dirty="0" smtClean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0507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6497"/>
          </a:xfrm>
        </p:spPr>
        <p:txBody>
          <a:bodyPr/>
          <a:lstStyle/>
          <a:p>
            <a:r>
              <a:rPr lang="ko-KR" altLang="en-US" dirty="0" smtClean="0"/>
              <a:t>과학적 학문으로서의 통계학의 역할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41622"/>
            <a:ext cx="10515600" cy="4735341"/>
          </a:xfrm>
        </p:spPr>
        <p:txBody>
          <a:bodyPr>
            <a:noAutofit/>
          </a:bodyPr>
          <a:lstStyle/>
          <a:p>
            <a:r>
              <a:rPr lang="ko-KR" altLang="en-US" sz="2400" dirty="0" smtClean="0"/>
              <a:t>통계학은 데이터를 나열하는데 한정되지 않고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정보를 가진 데이터를 모으고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이를 분석하고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연구하고자 하는 현상에 관한 결론을 이끌어 내는 추론의 문제를 다룸</a:t>
            </a:r>
            <a:endParaRPr lang="en-US" altLang="ko-KR" sz="2000" dirty="0" smtClean="0"/>
          </a:p>
          <a:p>
            <a:pPr lvl="1"/>
            <a:endParaRPr lang="en-US" altLang="ko-KR" sz="2000" dirty="0" smtClean="0"/>
          </a:p>
          <a:p>
            <a:r>
              <a:rPr lang="ko-KR" altLang="en-US" sz="2400" dirty="0" smtClean="0"/>
              <a:t>즉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통계학이란 데이터를 수집하고 검사하는 것을 통하여 새로운 사실을 발견하고 지식을 얻는 모든 과정</a:t>
            </a:r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ko-KR" altLang="en-US" sz="2400" dirty="0" smtClean="0"/>
              <a:t>통계학의 원리와 방법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어떤 종류의 데이터를 얼마나 많이 수집해야 하는가</a:t>
            </a:r>
            <a:r>
              <a:rPr lang="en-US" altLang="ko-KR" sz="2000" dirty="0" smtClean="0"/>
              <a:t>?</a:t>
            </a:r>
          </a:p>
          <a:p>
            <a:pPr lvl="1"/>
            <a:r>
              <a:rPr lang="ko-KR" altLang="en-US" sz="2000" dirty="0" smtClean="0"/>
              <a:t>어떤 종류의 데이터를 수집하여 해석해야 하는가</a:t>
            </a:r>
            <a:r>
              <a:rPr lang="en-US" altLang="ko-KR" sz="2000" dirty="0" smtClean="0"/>
              <a:t>?</a:t>
            </a:r>
          </a:p>
          <a:p>
            <a:pPr lvl="1"/>
            <a:r>
              <a:rPr lang="ko-KR" altLang="en-US" sz="2000" dirty="0" smtClean="0"/>
              <a:t>어떤 종류의 데이터를 분석하고 결론을 유도할 수 있는가</a:t>
            </a:r>
            <a:r>
              <a:rPr lang="en-US" altLang="ko-KR" sz="2000" dirty="0" smtClean="0"/>
              <a:t>?</a:t>
            </a:r>
          </a:p>
          <a:p>
            <a:pPr lvl="1"/>
            <a:r>
              <a:rPr lang="ko-KR" altLang="en-US" sz="2000" dirty="0" smtClean="0"/>
              <a:t>결론의 강점을 어떻게 평가하고 그들의 불확실성을 어떻게 측정하는가</a:t>
            </a:r>
            <a:r>
              <a:rPr lang="en-US" altLang="ko-KR" sz="2000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0703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요약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통계학은 데이터를 수집하는 과정을 설계하고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데이터를 요약하며 설명하고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결론 혹은 일반성을 이끌어 내는 데 쓰이는 원리와 방법을 다루는 학문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3015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일상 생활에서의 통계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고용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매달 인구조사의 일부로서 정부에서는 약 </a:t>
            </a:r>
            <a:r>
              <a:rPr lang="en-US" altLang="ko-KR" dirty="0" smtClean="0"/>
              <a:t>65,000</a:t>
            </a:r>
            <a:r>
              <a:rPr lang="ko-KR" altLang="en-US" dirty="0" smtClean="0"/>
              <a:t>가구의 표본으로부터 고용 상태에 관한 정보를 수집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조사한 데이터들은 통계청에 의해 분석되며 월별로 실업률을 발표</a:t>
            </a:r>
            <a:endParaRPr lang="en-US" altLang="ko-KR" dirty="0" smtClean="0"/>
          </a:p>
          <a:p>
            <a:r>
              <a:rPr lang="ko-KR" altLang="en-US" dirty="0" smtClean="0"/>
              <a:t>생계비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소비자 물가지수</a:t>
            </a:r>
            <a:r>
              <a:rPr lang="en-US" altLang="ko-KR" dirty="0" smtClean="0"/>
              <a:t>(CPI)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400</a:t>
            </a:r>
            <a:r>
              <a:rPr lang="ko-KR" altLang="en-US" dirty="0" smtClean="0"/>
              <a:t>개의 상품</a:t>
            </a:r>
            <a:r>
              <a:rPr lang="en-US" altLang="ko-KR" dirty="0" smtClean="0"/>
              <a:t>,</a:t>
            </a:r>
            <a:r>
              <a:rPr lang="ko-KR" altLang="en-US" dirty="0" smtClean="0"/>
              <a:t> 서비스의 물가를 조사하여 얻음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매월 </a:t>
            </a:r>
            <a:r>
              <a:rPr lang="en-US" altLang="ko-KR" dirty="0" smtClean="0"/>
              <a:t>85</a:t>
            </a:r>
            <a:r>
              <a:rPr lang="ko-KR" altLang="en-US" dirty="0" smtClean="0"/>
              <a:t>개가 넘는 대도시 지역의 </a:t>
            </a:r>
            <a:r>
              <a:rPr lang="en-US" altLang="ko-KR" dirty="0" smtClean="0"/>
              <a:t>18,000</a:t>
            </a:r>
            <a:r>
              <a:rPr lang="ko-KR" altLang="en-US" dirty="0" smtClean="0"/>
              <a:t>개가 넘는 소매점 표본을 조사하여 물가를 얻음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028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일상 생활에서의 통계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갤럽 여론 조사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최소 </a:t>
            </a:r>
            <a:r>
              <a:rPr lang="en-US" altLang="ko-KR" dirty="0" smtClean="0"/>
              <a:t>1500</a:t>
            </a:r>
            <a:r>
              <a:rPr lang="ko-KR" altLang="en-US" dirty="0" smtClean="0"/>
              <a:t>명의 성인에 대한 인터뷰에 근거하여 각 후보에 대한 선호투표의 비율에 대한 </a:t>
            </a:r>
            <a:r>
              <a:rPr lang="ko-KR" altLang="en-US" dirty="0" err="1" smtClean="0"/>
              <a:t>추정값을</a:t>
            </a:r>
            <a:r>
              <a:rPr lang="ko-KR" altLang="en-US" dirty="0" smtClean="0"/>
              <a:t> 생산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대통령 선거일 몇 달 전부터 조사결과가 주기적으로 발표</a:t>
            </a:r>
            <a:endParaRPr lang="en-US" altLang="ko-KR" dirty="0" smtClean="0"/>
          </a:p>
          <a:p>
            <a:r>
              <a:rPr lang="ko-KR" altLang="en-US" dirty="0" smtClean="0"/>
              <a:t>품질과 생산성 향상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어떤 과제가 개선을 위해 선택되면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현 상태를 평가하기 위해 데이터를 수집하고 나서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가능한 변화의 효과에 대해 더 많은 데이터가 수집되어야 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 단계에서 수집과 요약의 보고에 있어서 통계 기법의 기술이 필요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587304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과학적 탐구에서의 통계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 smtClean="0"/>
              <a:t>훈련 프로그램들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서로 다른 프로그램의 효과를 비교하기 위해서는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프로그램을 훈련 받은 사람들의 성적이나 기술의 정도에 관한 데이터 수집이 필수</a:t>
            </a:r>
            <a:endParaRPr lang="en-US" altLang="ko-KR" dirty="0" smtClean="0"/>
          </a:p>
          <a:p>
            <a:r>
              <a:rPr lang="ko-KR" altLang="en-US" dirty="0" smtClean="0"/>
              <a:t>광고의 감시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과장광고와 허위광고를 막기 위해 정부나 소비자 단체는 데이터를 수집하고 올바른 통계 방법을 제품의 품질을 비교해야 함</a:t>
            </a:r>
            <a:endParaRPr lang="en-US" altLang="ko-KR" dirty="0" smtClean="0"/>
          </a:p>
          <a:p>
            <a:r>
              <a:rPr lang="ko-KR" altLang="en-US" dirty="0" smtClean="0"/>
              <a:t>식물의 교잡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새로운 품종이 종래의 품종과 생산량에 차이가 있는지 분석</a:t>
            </a:r>
            <a:endParaRPr lang="en-US" altLang="ko-KR" dirty="0" smtClean="0"/>
          </a:p>
          <a:p>
            <a:r>
              <a:rPr lang="ko-KR" altLang="en-US" dirty="0" smtClean="0"/>
              <a:t>게놈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게놈 실험은 많은 수의 반응을 동시 측정하는 특징을 가지며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데이터를 분석하고 과학적 문제를 해결하는데 통계적 방법의 필요성이 증대되고 있음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2516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2929"/>
          </a:xfrm>
        </p:spPr>
        <p:txBody>
          <a:bodyPr/>
          <a:lstStyle/>
          <a:p>
            <a:r>
              <a:rPr lang="ko-KR" altLang="en-US" dirty="0" smtClean="0"/>
              <a:t>과학적 탐구에서의 통계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318054"/>
            <a:ext cx="10515600" cy="4858909"/>
          </a:xfrm>
        </p:spPr>
        <p:txBody>
          <a:bodyPr>
            <a:noAutofit/>
          </a:bodyPr>
          <a:lstStyle/>
          <a:p>
            <a:r>
              <a:rPr lang="ko-KR" altLang="en-US" sz="2000" dirty="0" smtClean="0"/>
              <a:t>실험계획법</a:t>
            </a:r>
            <a:r>
              <a:rPr lang="en-US" altLang="ko-KR" sz="2000" dirty="0" smtClean="0"/>
              <a:t>(experimental design)</a:t>
            </a:r>
          </a:p>
          <a:p>
            <a:pPr lvl="1"/>
            <a:r>
              <a:rPr lang="ko-KR" altLang="en-US" sz="1800" dirty="0" smtClean="0"/>
              <a:t>데이터 수집방법과 범위를 계획하는 가이드</a:t>
            </a:r>
            <a:endParaRPr lang="en-US" altLang="ko-KR" sz="1800" dirty="0" smtClean="0"/>
          </a:p>
          <a:p>
            <a:endParaRPr lang="en-US" altLang="ko-KR" sz="2000" dirty="0"/>
          </a:p>
          <a:p>
            <a:r>
              <a:rPr lang="ko-KR" altLang="en-US" sz="2000" dirty="0" smtClean="0"/>
              <a:t>기술통계학</a:t>
            </a:r>
            <a:r>
              <a:rPr lang="en-US" altLang="ko-KR" sz="2000" dirty="0" smtClean="0"/>
              <a:t>(descriptive statistics)</a:t>
            </a:r>
          </a:p>
          <a:p>
            <a:pPr lvl="1"/>
            <a:r>
              <a:rPr lang="ko-KR" altLang="en-US" sz="1800" dirty="0" smtClean="0"/>
              <a:t>데이터가 수집되면 여러 통계 방법들을 이용하여 데이터의 두드러진 특성을 요약하고 설명하는 것</a:t>
            </a:r>
            <a:endParaRPr lang="en-US" altLang="ko-KR" sz="1800" dirty="0" smtClean="0"/>
          </a:p>
          <a:p>
            <a:r>
              <a:rPr lang="ko-KR" altLang="en-US" sz="2000" dirty="0" smtClean="0"/>
              <a:t>추론통계학</a:t>
            </a:r>
            <a:r>
              <a:rPr lang="en-US" altLang="ko-KR" sz="2000" dirty="0" smtClean="0"/>
              <a:t>(inferential statistics)</a:t>
            </a:r>
          </a:p>
          <a:p>
            <a:pPr lvl="1"/>
            <a:r>
              <a:rPr lang="ko-KR" altLang="en-US" sz="1800" dirty="0" smtClean="0"/>
              <a:t>데이터에 나타난 정보를 평가하여 새로운 사실을 얻어내는 것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이와 관련된 방법을 통계적 추론</a:t>
            </a:r>
            <a:r>
              <a:rPr lang="en-US" altLang="ko-KR" sz="1800" dirty="0" smtClean="0"/>
              <a:t>(statistical inference)</a:t>
            </a:r>
            <a:r>
              <a:rPr lang="ko-KR" altLang="en-US" sz="1800" dirty="0" smtClean="0"/>
              <a:t>라고 함</a:t>
            </a:r>
            <a:endParaRPr lang="en-US" altLang="ko-KR" sz="1800" dirty="0" smtClean="0"/>
          </a:p>
          <a:p>
            <a:pPr lvl="1"/>
            <a:endParaRPr lang="en-US" altLang="ko-KR" sz="1800" dirty="0"/>
          </a:p>
          <a:p>
            <a:r>
              <a:rPr lang="ko-KR" altLang="en-US" sz="2000" dirty="0" smtClean="0"/>
              <a:t>과학적 조사는 전형적인 시행착오의 과정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한 번의 실험만으로 어떤 현상을 완전히 이해하기 </a:t>
            </a:r>
            <a:r>
              <a:rPr lang="ko-KR" altLang="en-US" sz="1800" dirty="0" err="1" smtClean="0"/>
              <a:t>힘듬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하나의 실험에서 얻은 데이터로 새로운 지식을 얻고</a:t>
            </a:r>
            <a:r>
              <a:rPr lang="en-US" altLang="ko-KR" sz="1800" dirty="0" smtClean="0"/>
              <a:t>, </a:t>
            </a:r>
          </a:p>
          <a:p>
            <a:pPr lvl="1"/>
            <a:r>
              <a:rPr lang="ko-KR" altLang="en-US" sz="1800" dirty="0" smtClean="0"/>
              <a:t>이 지식은 더 많은 실험과 데이터 분석을 통해 추가조사를 필요로 함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3180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 수집의 특징</a:t>
            </a:r>
            <a:endParaRPr lang="en-US" altLang="ko-KR" dirty="0" smtClean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 smtClean="0"/>
              <a:t>새로운 지식을 얻기 위해 적절한 데이터가 수집되어야 함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같은 조건 혹은 거의 비슷한 조건에서 관측이 이루어져도 데이터 값들은 조금씩 달라짐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감기에 대해 똑같은 치료를 하더라도 경과는 다를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고등학교 성적이 비슷한 대학교 </a:t>
            </a:r>
            <a:r>
              <a:rPr lang="en-US" altLang="ko-KR" dirty="0" smtClean="0"/>
              <a:t>1</a:t>
            </a:r>
            <a:r>
              <a:rPr lang="ko-KR" altLang="en-US" dirty="0" smtClean="0"/>
              <a:t>학년 학생들의 학업성취도는 다를 것임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완벽한 데이터 수집은 불가능할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전 국민을 대상으로 여론 조사는 불가능</a:t>
            </a:r>
            <a:endParaRPr lang="en-US" altLang="ko-KR" dirty="0"/>
          </a:p>
          <a:p>
            <a:pPr lvl="1"/>
            <a:r>
              <a:rPr lang="ko-KR" altLang="en-US" dirty="0" smtClean="0"/>
              <a:t>모든 생산품에 대한 실험은 불가능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따라서 실험이나 조사에서 얻어진 불완전한 정보로 결론을 이끌어야 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261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모집단과 표본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관측을 통하여 실제로 얻은 데이터 집합과 방대한 잠재적인 모든 </a:t>
            </a:r>
            <a:r>
              <a:rPr lang="ko-KR" altLang="en-US" dirty="0" err="1" smtClean="0"/>
              <a:t>관측값들의</a:t>
            </a:r>
            <a:r>
              <a:rPr lang="ko-KR" altLang="en-US" dirty="0" smtClean="0"/>
              <a:t> 모임은 분명한 차이가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전자를 표본</a:t>
            </a:r>
            <a:r>
              <a:rPr lang="en-US" altLang="ko-KR" dirty="0" smtClean="0"/>
              <a:t>(sample), </a:t>
            </a:r>
            <a:r>
              <a:rPr lang="ko-KR" altLang="en-US" dirty="0" smtClean="0"/>
              <a:t>후자를 모집단</a:t>
            </a:r>
            <a:r>
              <a:rPr lang="en-US" altLang="ko-KR" dirty="0" smtClean="0"/>
              <a:t>(population) </a:t>
            </a:r>
            <a:r>
              <a:rPr lang="ko-KR" altLang="en-US" dirty="0" smtClean="0"/>
              <a:t>또는 통계적 모집단</a:t>
            </a:r>
            <a:r>
              <a:rPr lang="en-US" altLang="ko-KR" dirty="0" smtClean="0"/>
              <a:t>(statistical population)</a:t>
            </a:r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데이터 집합의 각 </a:t>
            </a:r>
            <a:r>
              <a:rPr lang="ko-KR" altLang="en-US" dirty="0" err="1" smtClean="0"/>
              <a:t>관측값은</a:t>
            </a:r>
            <a:r>
              <a:rPr lang="ko-KR" altLang="en-US" dirty="0" smtClean="0"/>
              <a:t> 서로 다른 출처로부터 얻어짐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 측정대상을 </a:t>
            </a:r>
            <a:r>
              <a:rPr lang="ko-KR" altLang="en-US" dirty="0" err="1" smtClean="0"/>
              <a:t>표집단위</a:t>
            </a:r>
            <a:r>
              <a:rPr lang="en-US" altLang="ko-KR" dirty="0" smtClean="0"/>
              <a:t>(sampling unit) </a:t>
            </a:r>
            <a:r>
              <a:rPr lang="ko-KR" altLang="en-US" dirty="0" smtClean="0"/>
              <a:t>혹은 단위</a:t>
            </a:r>
            <a:r>
              <a:rPr lang="en-US" altLang="ko-KR" dirty="0" smtClean="0"/>
              <a:t>(unit)</a:t>
            </a:r>
          </a:p>
          <a:p>
            <a:r>
              <a:rPr lang="ko-KR" altLang="en-US" dirty="0" smtClean="0"/>
              <a:t>모집단이 단위</a:t>
            </a:r>
            <a:r>
              <a:rPr lang="en-US" altLang="ko-KR" dirty="0" smtClean="0"/>
              <a:t>(unit)</a:t>
            </a:r>
            <a:r>
              <a:rPr lang="ko-KR" altLang="en-US" dirty="0" smtClean="0"/>
              <a:t>들의 전체 집합임을 강조하기 위해 단위</a:t>
            </a:r>
            <a:r>
              <a:rPr lang="en-US" altLang="ko-KR" dirty="0" smtClean="0"/>
              <a:t>(unit)</a:t>
            </a:r>
            <a:r>
              <a:rPr lang="ko-KR" altLang="en-US" dirty="0" smtClean="0"/>
              <a:t>들의 모집단</a:t>
            </a:r>
            <a:r>
              <a:rPr lang="en-US" altLang="ko-KR" dirty="0" smtClean="0"/>
              <a:t>(population of units)</a:t>
            </a:r>
            <a:r>
              <a:rPr lang="ko-KR" altLang="en-US" dirty="0" smtClean="0"/>
              <a:t>라고 함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17558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모집단과 표본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통계적 모집단</a:t>
            </a:r>
            <a:r>
              <a:rPr lang="en-US" altLang="ko-KR" dirty="0" smtClean="0"/>
              <a:t>(statistical population) </a:t>
            </a:r>
            <a:r>
              <a:rPr lang="ko-KR" altLang="en-US" dirty="0" smtClean="0"/>
              <a:t>혹은 모집단</a:t>
            </a:r>
            <a:r>
              <a:rPr lang="en-US" altLang="ko-KR" dirty="0" smtClean="0"/>
              <a:t>(population)</a:t>
            </a:r>
          </a:p>
          <a:p>
            <a:pPr lvl="1"/>
            <a:r>
              <a:rPr lang="ko-KR" altLang="en-US" dirty="0" smtClean="0"/>
              <a:t>주어진 관심 있는 변수나 특성에 대해 모집단에 있는 모든 단위</a:t>
            </a:r>
            <a:r>
              <a:rPr lang="en-US" altLang="ko-KR" dirty="0" smtClean="0"/>
              <a:t>(unit)</a:t>
            </a:r>
            <a:r>
              <a:rPr lang="ko-KR" altLang="en-US" dirty="0" smtClean="0"/>
              <a:t>에 대해 측정된 값</a:t>
            </a:r>
            <a:endParaRPr lang="en-US" altLang="ko-KR" dirty="0" smtClean="0"/>
          </a:p>
          <a:p>
            <a:r>
              <a:rPr lang="ko-KR" altLang="en-US" dirty="0" smtClean="0"/>
              <a:t>표본</a:t>
            </a:r>
            <a:r>
              <a:rPr lang="en-US" altLang="ko-KR" dirty="0" smtClean="0"/>
              <a:t>(sample)</a:t>
            </a:r>
            <a:r>
              <a:rPr lang="ko-KR" altLang="en-US" dirty="0" smtClean="0"/>
              <a:t>이나 표본 데이터 집합</a:t>
            </a:r>
            <a:r>
              <a:rPr lang="en-US" altLang="ko-KR" dirty="0" smtClean="0"/>
              <a:t>(sample data set)</a:t>
            </a:r>
          </a:p>
          <a:p>
            <a:pPr lvl="1"/>
            <a:r>
              <a:rPr lang="ko-KR" altLang="en-US" dirty="0" smtClean="0"/>
              <a:t>실제로 관측된 단위</a:t>
            </a:r>
            <a:r>
              <a:rPr lang="en-US" altLang="ko-KR" dirty="0" smtClean="0"/>
              <a:t>(unit)</a:t>
            </a:r>
            <a:r>
              <a:rPr lang="ko-KR" altLang="en-US" dirty="0" smtClean="0"/>
              <a:t>에 대한 측정기록</a:t>
            </a:r>
            <a:endParaRPr lang="en-US" altLang="ko-KR" dirty="0" smtClean="0"/>
          </a:p>
          <a:p>
            <a:pPr marL="457200" lvl="1" indent="0"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1304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모집단과 표본</a:t>
            </a:r>
            <a:r>
              <a:rPr lang="en-US" altLang="ko-KR" dirty="0" smtClean="0"/>
              <a:t>(3)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779557"/>
              </p:ext>
            </p:extLst>
          </p:nvPr>
        </p:nvGraphicFramePr>
        <p:xfrm>
          <a:off x="838200" y="1811992"/>
          <a:ext cx="105156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8996"/>
                <a:gridCol w="1796432"/>
                <a:gridCol w="4880172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모집단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단위</a:t>
                      </a:r>
                      <a:r>
                        <a:rPr lang="en-US" altLang="ko-KR" dirty="0" smtClean="0"/>
                        <a:t>(unit)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변수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특성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등록된 유권자</a:t>
                      </a:r>
                      <a:endParaRPr lang="ko-KR" altLang="en-US" dirty="0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유권자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정당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지난 선거에서 투표여부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나이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성별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진보</a:t>
                      </a:r>
                      <a:r>
                        <a:rPr lang="en-US" altLang="ko-KR" dirty="0" smtClean="0"/>
                        <a:t>/</a:t>
                      </a:r>
                      <a:r>
                        <a:rPr lang="ko-KR" altLang="en-US" dirty="0" smtClean="0"/>
                        <a:t>보수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캠퍼스 근처의 모든 아파트</a:t>
                      </a:r>
                      <a:endParaRPr lang="ko-KR" altLang="en-US" dirty="0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아파트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임대료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넓이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침실 수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욕실 수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TV</a:t>
                      </a:r>
                      <a:r>
                        <a:rPr lang="ko-KR" altLang="en-US" dirty="0" smtClean="0"/>
                        <a:t>와 인터넷 연결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915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모집단과 표본의 확인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카페인의 대뇌 혈류에 미치는 영향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실험 대상 </a:t>
            </a:r>
            <a:r>
              <a:rPr lang="en-US" altLang="ko-KR" dirty="0" smtClean="0"/>
              <a:t>20</a:t>
            </a:r>
            <a:r>
              <a:rPr lang="ko-KR" altLang="en-US" dirty="0" smtClean="0"/>
              <a:t>명에게 카페인 약을 복용하게 하고 대뇌 혈류 측정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다른 날에는 위약을 복용하게 하고 대뇌 혈류 측정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두 테스트의 순서는 무작위이고 복용하는 약이 무엇인지는 알려주지 않음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모집단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 세계의 모든 카페인 섭취자의 대뇌 혈류 감소치</a:t>
            </a:r>
            <a:endParaRPr lang="en-US" altLang="ko-KR" dirty="0" smtClean="0"/>
          </a:p>
          <a:p>
            <a:r>
              <a:rPr lang="ko-KR" altLang="en-US" dirty="0" smtClean="0"/>
              <a:t>표본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이 연구에 참여한 </a:t>
            </a:r>
            <a:r>
              <a:rPr lang="en-US" altLang="ko-KR" dirty="0" smtClean="0"/>
              <a:t>20</a:t>
            </a:r>
            <a:r>
              <a:rPr lang="ko-KR" altLang="en-US" dirty="0" smtClean="0"/>
              <a:t>명의 혈류 감소치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4158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잘못된 결론을 유도하는 표본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pc="-150" dirty="0" smtClean="0"/>
              <a:t>어느 도시의 라디오 프로그램에서 이 도시에서는 어느 가수가 인기가 좋은지 조사하려고 함</a:t>
            </a:r>
            <a:endParaRPr lang="en-US" altLang="ko-KR" spc="-150" dirty="0" smtClean="0"/>
          </a:p>
          <a:p>
            <a:r>
              <a:rPr lang="ko-KR" altLang="en-US" spc="-150" dirty="0" smtClean="0"/>
              <a:t>진행자는 청취자가 전화를 걸어 가수의 이름을 말해달라고 요청</a:t>
            </a:r>
            <a:endParaRPr lang="en-US" altLang="ko-KR" spc="-150" dirty="0" smtClean="0"/>
          </a:p>
          <a:p>
            <a:endParaRPr lang="en-US" altLang="ko-KR" spc="-150" dirty="0"/>
          </a:p>
          <a:p>
            <a:r>
              <a:rPr lang="ko-KR" altLang="en-US" spc="-150" dirty="0" smtClean="0"/>
              <a:t>모집단 </a:t>
            </a:r>
            <a:r>
              <a:rPr lang="en-US" altLang="ko-KR" spc="-150" dirty="0" smtClean="0"/>
              <a:t>: </a:t>
            </a:r>
            <a:r>
              <a:rPr lang="ko-KR" altLang="en-US" spc="-150" dirty="0" smtClean="0"/>
              <a:t>도시 전체 거주민이 선호하는 가수의 모임</a:t>
            </a:r>
            <a:endParaRPr lang="en-US" altLang="ko-KR" spc="-150" dirty="0" smtClean="0"/>
          </a:p>
          <a:p>
            <a:r>
              <a:rPr lang="ko-KR" altLang="en-US" spc="-150" dirty="0" smtClean="0"/>
              <a:t>표본</a:t>
            </a:r>
            <a:endParaRPr lang="en-US" altLang="ko-KR" spc="-150" dirty="0" smtClean="0"/>
          </a:p>
          <a:p>
            <a:pPr lvl="1"/>
            <a:r>
              <a:rPr lang="ko-KR" altLang="en-US" spc="-150" dirty="0" smtClean="0"/>
              <a:t>특정 라디오 방송을 듣는 사람들은 취향이 비슷할 수 있음</a:t>
            </a:r>
            <a:endParaRPr lang="en-US" altLang="ko-KR" spc="-150" dirty="0" smtClean="0"/>
          </a:p>
          <a:p>
            <a:pPr lvl="1"/>
            <a:r>
              <a:rPr lang="ko-KR" altLang="en-US" spc="-150" dirty="0" smtClean="0"/>
              <a:t>주장이 강한 사람들이 직접 전화를 할 가능성이 높음</a:t>
            </a:r>
            <a:endParaRPr lang="en-US" altLang="ko-KR" spc="-150" dirty="0" smtClean="0"/>
          </a:p>
          <a:p>
            <a:pPr lvl="1"/>
            <a:endParaRPr lang="en-US" altLang="ko-KR" spc="-150" dirty="0" smtClean="0"/>
          </a:p>
          <a:p>
            <a:r>
              <a:rPr lang="ko-KR" altLang="en-US" spc="-150" dirty="0" smtClean="0"/>
              <a:t>전화번호를 무작위 선택하여 전화 설문 조사를 하는 것이 적합</a:t>
            </a:r>
            <a:endParaRPr lang="en-US" altLang="ko-KR" spc="-150" dirty="0"/>
          </a:p>
          <a:p>
            <a:endParaRPr lang="ko-KR" altLang="en-US" spc="-150" dirty="0"/>
          </a:p>
        </p:txBody>
      </p:sp>
    </p:spTree>
    <p:extLst>
      <p:ext uri="{BB962C8B-B14F-4D97-AF65-F5344CB8AC3E}">
        <p14:creationId xmlns:p14="http://schemas.microsoft.com/office/powerpoint/2010/main" val="2478479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표본선택을 위한 난수표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표본 선택은 공정하고 객관적이어야 함</a:t>
            </a:r>
            <a:endParaRPr lang="en-US" altLang="ko-KR" dirty="0" smtClean="0"/>
          </a:p>
          <a:p>
            <a:r>
              <a:rPr lang="ko-KR" altLang="en-US" dirty="0" smtClean="0"/>
              <a:t>난수표</a:t>
            </a:r>
            <a:r>
              <a:rPr lang="en-US" altLang="ko-KR" dirty="0" smtClean="0"/>
              <a:t>(random number table)</a:t>
            </a:r>
          </a:p>
          <a:p>
            <a:pPr lvl="1"/>
            <a:r>
              <a:rPr lang="ko-KR" altLang="en-US" dirty="0" smtClean="0"/>
              <a:t>임의의 숫자를 고를 때 사용하는 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크기 </a:t>
            </a:r>
            <a:r>
              <a:rPr lang="en-US" altLang="ko-KR" dirty="0" smtClean="0"/>
              <a:t>N</a:t>
            </a:r>
            <a:r>
              <a:rPr lang="ko-KR" altLang="en-US" dirty="0" smtClean="0"/>
              <a:t>의 모집단으로부터 단위들의 무작위 표본을 얻기 위해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먼저 단위들에 </a:t>
            </a:r>
            <a:r>
              <a:rPr lang="en-US" altLang="ko-KR" dirty="0" smtClean="0"/>
              <a:t>1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N</a:t>
            </a:r>
            <a:r>
              <a:rPr lang="ko-KR" altLang="en-US" dirty="0" smtClean="0"/>
              <a:t>까지 숫자 배정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난수표에서 필요한 만큼 숫자 선택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컴퓨터의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발생기</a:t>
            </a:r>
            <a:r>
              <a:rPr lang="en-US" altLang="ko-KR" dirty="0" smtClean="0"/>
              <a:t>(random number generator)</a:t>
            </a:r>
            <a:r>
              <a:rPr lang="ko-KR" altLang="en-US" dirty="0" smtClean="0"/>
              <a:t>를 이용하면 편리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0901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목적을 가진 데이터 수집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 smtClean="0"/>
              <a:t>목적을 구체적이고 모호하지 않게 서술하는 것이 중요</a:t>
            </a:r>
            <a:endParaRPr lang="en-US" altLang="ko-KR" dirty="0" smtClean="0"/>
          </a:p>
          <a:p>
            <a:pPr lvl="1"/>
            <a:r>
              <a:rPr lang="ko-KR" altLang="en-US" spc="-150" dirty="0" smtClean="0"/>
              <a:t>만약 연착하는 대중 교통이 연구의 대상이면</a:t>
            </a:r>
            <a:r>
              <a:rPr lang="en-US" altLang="ko-KR" spc="-150" dirty="0" smtClean="0"/>
              <a:t>, </a:t>
            </a:r>
            <a:r>
              <a:rPr lang="ko-KR" altLang="en-US" spc="-150" dirty="0" smtClean="0"/>
              <a:t>늦는다는 것의 정의를 명확히 하는 것이 필요</a:t>
            </a:r>
            <a:endParaRPr lang="en-US" altLang="ko-KR" spc="-150" dirty="0" smtClean="0"/>
          </a:p>
          <a:p>
            <a:pPr lvl="2"/>
            <a:r>
              <a:rPr lang="en-US" altLang="ko-KR" dirty="0" smtClean="0"/>
              <a:t>1</a:t>
            </a:r>
            <a:r>
              <a:rPr lang="ko-KR" altLang="en-US" dirty="0" smtClean="0"/>
              <a:t>분</a:t>
            </a:r>
            <a:r>
              <a:rPr lang="en-US" altLang="ko-KR" dirty="0" smtClean="0"/>
              <a:t>, 5</a:t>
            </a:r>
            <a:r>
              <a:rPr lang="ko-KR" altLang="en-US" dirty="0" smtClean="0"/>
              <a:t>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또는 </a:t>
            </a:r>
            <a:r>
              <a:rPr lang="en-US" altLang="ko-KR" dirty="0" smtClean="0"/>
              <a:t>10</a:t>
            </a:r>
            <a:r>
              <a:rPr lang="ko-KR" altLang="en-US" dirty="0" smtClean="0"/>
              <a:t>분 이상 늦어야 늦었다고 할 것인가</a:t>
            </a:r>
            <a:r>
              <a:rPr lang="en-US" altLang="ko-KR" dirty="0" smtClean="0"/>
              <a:t>?</a:t>
            </a:r>
          </a:p>
          <a:p>
            <a:pPr lvl="1"/>
            <a:r>
              <a:rPr lang="ko-KR" altLang="en-US" dirty="0" smtClean="0"/>
              <a:t>부드러움이나 불편함 같은 단어의 수량화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1: </a:t>
            </a:r>
            <a:r>
              <a:rPr lang="ko-KR" altLang="en-US" dirty="0" smtClean="0"/>
              <a:t>매우 불편   </a:t>
            </a:r>
            <a:r>
              <a:rPr lang="en-US" altLang="ko-KR" dirty="0" smtClean="0"/>
              <a:t>2: </a:t>
            </a:r>
            <a:r>
              <a:rPr lang="ko-KR" altLang="en-US" dirty="0" smtClean="0"/>
              <a:t>불편   </a:t>
            </a:r>
            <a:r>
              <a:rPr lang="en-US" altLang="ko-KR" dirty="0" smtClean="0"/>
              <a:t>3: </a:t>
            </a:r>
            <a:r>
              <a:rPr lang="ko-KR" altLang="en-US" dirty="0" smtClean="0"/>
              <a:t>보통   </a:t>
            </a:r>
            <a:r>
              <a:rPr lang="en-US" altLang="ko-KR" dirty="0" smtClean="0"/>
              <a:t>4: </a:t>
            </a:r>
            <a:r>
              <a:rPr lang="ko-KR" altLang="en-US" dirty="0" smtClean="0"/>
              <a:t>편함   </a:t>
            </a:r>
            <a:r>
              <a:rPr lang="en-US" altLang="ko-KR" dirty="0" smtClean="0"/>
              <a:t>5: </a:t>
            </a:r>
            <a:r>
              <a:rPr lang="ko-KR" altLang="en-US" dirty="0" smtClean="0"/>
              <a:t>매우 편함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일반적인 목적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방사선 물질을 처리하는 완전 자동화된 공장에서 데이터 수집과 프로그램 모니터링을 설계하라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목적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만일 어느 중요한 위치에서도 무게가 </a:t>
            </a:r>
            <a:r>
              <a:rPr lang="en-US" altLang="ko-KR" dirty="0" smtClean="0"/>
              <a:t>1.2kg</a:t>
            </a:r>
            <a:r>
              <a:rPr lang="ko-KR" altLang="en-US" dirty="0" smtClean="0"/>
              <a:t>을 초과하면 신속히 폐쇄한다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명확하게 명시된 목적 문장은 어떤 데이터를 수집해야 </a:t>
            </a:r>
            <a:r>
              <a:rPr lang="ko-KR" altLang="en-US" dirty="0" smtClean="0"/>
              <a:t>하는 지와 </a:t>
            </a:r>
            <a:endParaRPr lang="en-US" altLang="ko-KR" dirty="0" smtClean="0"/>
          </a:p>
          <a:p>
            <a:r>
              <a:rPr lang="ko-KR" altLang="en-US" dirty="0" smtClean="0"/>
              <a:t>이들이 목적에 부합하는 지를 확실히 하는데 도움이 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7632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상황별</a:t>
            </a:r>
            <a:r>
              <a:rPr lang="ko-KR" altLang="en-US" dirty="0" smtClean="0"/>
              <a:t> 통계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보건 시설에서 환자들의 문의 정화에 응답 전화를 해주는데 시간이 너무 오래 걸린다고 생각</a:t>
            </a:r>
            <a:r>
              <a:rPr lang="en-US" altLang="ko-KR" sz="2400" dirty="0" smtClean="0"/>
              <a:t>.</a:t>
            </a:r>
          </a:p>
          <a:p>
            <a:r>
              <a:rPr lang="ko-KR" altLang="en-US" sz="2400" spc="-150" dirty="0" smtClean="0"/>
              <a:t>현 상황에서 응답 전화를 거는데 시간이 얼마나 걸리는지 알아보기로 결정</a:t>
            </a:r>
            <a:endParaRPr lang="en-US" altLang="ko-KR" sz="2400" spc="-150" dirty="0" smtClean="0"/>
          </a:p>
          <a:p>
            <a:r>
              <a:rPr lang="ko-KR" altLang="en-US" sz="2400" dirty="0" smtClean="0"/>
              <a:t>목적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현 상황에서 환자의 전화에 응답해주는데 걸린 시간을 수집하여 현재 절차에 대한 상황을 파악하라</a:t>
            </a:r>
            <a:r>
              <a:rPr lang="en-US" altLang="ko-KR" sz="2000" dirty="0" smtClean="0"/>
              <a:t>.</a:t>
            </a:r>
          </a:p>
          <a:p>
            <a:r>
              <a:rPr lang="ko-KR" altLang="en-US" sz="2400" dirty="0" smtClean="0"/>
              <a:t>통화의 삼분의 일 이상이 응답 전화를 거는데 </a:t>
            </a:r>
            <a:r>
              <a:rPr lang="en-US" altLang="ko-KR" sz="2400" dirty="0" smtClean="0"/>
              <a:t>120</a:t>
            </a:r>
            <a:r>
              <a:rPr lang="ko-KR" altLang="en-US" sz="2400" dirty="0" smtClean="0"/>
              <a:t>분 이상이 걸림</a:t>
            </a:r>
            <a:endParaRPr lang="en-US" altLang="ko-KR" sz="2400" dirty="0" smtClean="0"/>
          </a:p>
          <a:p>
            <a:r>
              <a:rPr lang="ko-KR" altLang="en-US" sz="2400" dirty="0" smtClean="0"/>
              <a:t>응답 시간이 </a:t>
            </a:r>
            <a:r>
              <a:rPr lang="en-US" altLang="ko-KR" sz="2400" dirty="0" smtClean="0"/>
              <a:t>"</a:t>
            </a:r>
            <a:r>
              <a:rPr lang="ko-KR" altLang="en-US" sz="2400" dirty="0" smtClean="0"/>
              <a:t>너무 오래</a:t>
            </a:r>
            <a:r>
              <a:rPr lang="en-US" altLang="ko-KR" sz="2400" dirty="0" smtClean="0"/>
              <a:t>" </a:t>
            </a:r>
            <a:r>
              <a:rPr lang="ko-KR" altLang="en-US" sz="2400" dirty="0" smtClean="0"/>
              <a:t>걸린다고 생각할 수 있음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"</a:t>
            </a:r>
            <a:r>
              <a:rPr lang="ko-KR" altLang="en-US" sz="2000" dirty="0" smtClean="0"/>
              <a:t>너무 오래</a:t>
            </a:r>
            <a:r>
              <a:rPr lang="en-US" altLang="ko-KR" sz="2000" dirty="0" smtClean="0"/>
              <a:t>"</a:t>
            </a:r>
            <a:r>
              <a:rPr lang="ko-KR" altLang="en-US" sz="2000" dirty="0" smtClean="0"/>
              <a:t>의 정의를 구체적인 몇 분으로 명확하게 하는 것이 타당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47421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통계학의 목적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통계학의 목적은 표본 데이터를 추출하고 분석하여 모집단에 관해 추론</a:t>
            </a:r>
            <a:r>
              <a:rPr lang="en-US" altLang="ko-KR" dirty="0" smtClean="0"/>
              <a:t>(inference)</a:t>
            </a:r>
            <a:r>
              <a:rPr lang="ko-KR" altLang="en-US" dirty="0" smtClean="0"/>
              <a:t>하는 방법을 마련하는데 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이들 방법을 이용하면 표본으로부터 모집단에 대한 일반화를 유도할 수 있으며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일반화에 따른 불확실성의 정도를 평가할 수 있다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 smtClean="0"/>
          </a:p>
          <a:p>
            <a:r>
              <a:rPr lang="ko-KR" altLang="en-US" dirty="0" err="1" smtClean="0"/>
              <a:t>관측값들의</a:t>
            </a:r>
            <a:r>
              <a:rPr lang="ko-KR" altLang="en-US" dirty="0" smtClean="0"/>
              <a:t> 타당한 추론을 이끌어 내는 기초가 되도록 표본추출 과정과 범위를 설계하는 것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아무리 좋은 데이터 분석방법도 잘 설계되지 못한 실험이나 조사에서 얻어진 데이터로부터는 모집단에 대한 올바를 정보를 얻을 수 없다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4826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현명하게 통계 사용하기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 smtClean="0"/>
              <a:t>목적을 명확한 문장으로 작성하고 이를 바탕으로 어떤 변수를 관측할지를 결정하라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관심 집단을 주의해서 정하라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가능하면 </a:t>
            </a:r>
            <a:r>
              <a:rPr lang="ko-KR" altLang="en-US" dirty="0" err="1" smtClean="0"/>
              <a:t>난수</a:t>
            </a:r>
            <a:r>
              <a:rPr lang="ko-KR" altLang="en-US" dirty="0" smtClean="0"/>
              <a:t> 발생 장치나 난수표를 사용하여 표본을 선택하라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자기가 선택한 표본에 근거하여 내린 결론을 의심 없이 받아들이지 마라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TV, </a:t>
            </a:r>
            <a:r>
              <a:rPr lang="ko-KR" altLang="en-US" dirty="0" smtClean="0"/>
              <a:t>잡지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신문 등에서 보도되는 결론은 보도된 것만큼 명백하지 않을 수 있음을 명심하라</a:t>
            </a:r>
            <a:r>
              <a:rPr lang="en-US" altLang="ko-KR" dirty="0" smtClean="0"/>
              <a:t>. </a:t>
            </a:r>
            <a:r>
              <a:rPr lang="ko-KR" altLang="en-US" dirty="0" smtClean="0"/>
              <a:t>보고서를 읽거나 들을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지지자</a:t>
            </a:r>
            <a:r>
              <a:rPr lang="en-US" altLang="ko-KR" dirty="0" smtClean="0"/>
              <a:t>, </a:t>
            </a:r>
            <a:r>
              <a:rPr lang="ko-KR" altLang="en-US" dirty="0" smtClean="0"/>
              <a:t>종종 정치인 또는 광고주와 같은 사람들은 자기가 강조하는 통계치만 제시할 수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6462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요점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관심 있는 특성에 대한 데이터를 수집하기 전에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단위</a:t>
            </a:r>
            <a:r>
              <a:rPr lang="en-US" altLang="ko-KR" dirty="0" smtClean="0"/>
              <a:t>(unit) </a:t>
            </a:r>
            <a:r>
              <a:rPr lang="ko-KR" altLang="en-US" dirty="0" smtClean="0"/>
              <a:t>또는 </a:t>
            </a:r>
            <a:r>
              <a:rPr lang="ko-KR" altLang="en-US" dirty="0" err="1" smtClean="0"/>
              <a:t>표집단위</a:t>
            </a:r>
            <a:r>
              <a:rPr lang="en-US" altLang="ko-KR" dirty="0" smtClean="0"/>
              <a:t>(sampling unit)</a:t>
            </a:r>
            <a:r>
              <a:rPr lang="ko-KR" altLang="en-US" dirty="0" smtClean="0"/>
              <a:t>를 확인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보통 사람이나 개체</a:t>
            </a:r>
            <a:endParaRPr lang="en-US" altLang="ko-KR" dirty="0" smtClean="0"/>
          </a:p>
          <a:p>
            <a:r>
              <a:rPr lang="ko-KR" altLang="en-US" dirty="0" smtClean="0"/>
              <a:t>단위들의 모집단</a:t>
            </a:r>
            <a:r>
              <a:rPr lang="en-US" altLang="ko-KR" dirty="0" smtClean="0"/>
              <a:t>(population of unit)</a:t>
            </a:r>
            <a:r>
              <a:rPr lang="ko-KR" altLang="en-US" dirty="0" smtClean="0"/>
              <a:t>은 단위들의 전체 모임</a:t>
            </a:r>
            <a:endParaRPr lang="en-US" altLang="ko-KR" dirty="0" smtClean="0"/>
          </a:p>
          <a:p>
            <a:r>
              <a:rPr lang="ko-KR" altLang="en-US" dirty="0" smtClean="0"/>
              <a:t>통계학에서는 모집단의 각 단위에 대해 평가한 특성 값들의 모임이나 질적 특성의 기록에 집중한다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통계적 모집단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혹은 모집단</a:t>
            </a:r>
            <a:r>
              <a:rPr lang="en-US" altLang="ko-KR" dirty="0" smtClean="0"/>
              <a:t>(population)</a:t>
            </a:r>
            <a:r>
              <a:rPr lang="ko-KR" altLang="en-US" dirty="0" smtClean="0"/>
              <a:t>이라 부름</a:t>
            </a:r>
            <a:endParaRPr lang="en-US" altLang="ko-KR" dirty="0" smtClean="0"/>
          </a:p>
          <a:p>
            <a:r>
              <a:rPr lang="ko-KR" altLang="en-US" dirty="0" smtClean="0"/>
              <a:t>모집단으로부터 얻은 표본</a:t>
            </a:r>
            <a:r>
              <a:rPr lang="en-US" altLang="ko-KR" dirty="0" smtClean="0"/>
              <a:t>(sample)</a:t>
            </a:r>
            <a:r>
              <a:rPr lang="ko-KR" altLang="en-US" dirty="0" smtClean="0"/>
              <a:t>은 실제로 수집한 측정값들의 부분집합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444440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요점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통계학</a:t>
            </a:r>
            <a:r>
              <a:rPr lang="en-US" altLang="ko-KR" dirty="0" smtClean="0"/>
              <a:t>(statistics)</a:t>
            </a:r>
            <a:r>
              <a:rPr lang="ko-KR" altLang="en-US" dirty="0" smtClean="0"/>
              <a:t>은 먼저 표본추출 과정과 범위를 설계하는 것을 도와주고</a:t>
            </a:r>
            <a:endParaRPr lang="en-US" altLang="ko-KR" dirty="0" smtClean="0"/>
          </a:p>
          <a:p>
            <a:r>
              <a:rPr lang="ko-KR" altLang="en-US" dirty="0" smtClean="0"/>
              <a:t>모집단에 관한 추론</a:t>
            </a:r>
            <a:r>
              <a:rPr lang="en-US" altLang="ko-KR" dirty="0" smtClean="0"/>
              <a:t>(inference)</a:t>
            </a:r>
            <a:r>
              <a:rPr lang="ko-KR" altLang="en-US" dirty="0" smtClean="0"/>
              <a:t>의 방법을 정하는 학문</a:t>
            </a:r>
            <a:endParaRPr lang="en-US" altLang="ko-KR" dirty="0" smtClean="0"/>
          </a:p>
          <a:p>
            <a:r>
              <a:rPr lang="ko-KR" altLang="en-US" dirty="0" smtClean="0"/>
              <a:t>기술통계학</a:t>
            </a:r>
            <a:r>
              <a:rPr lang="en-US" altLang="ko-KR" dirty="0" smtClean="0"/>
              <a:t>(descriptive statistics)</a:t>
            </a:r>
            <a:r>
              <a:rPr lang="ko-KR" altLang="en-US" dirty="0" smtClean="0"/>
              <a:t>은 표본을 요약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통계적 추론</a:t>
            </a:r>
            <a:r>
              <a:rPr lang="en-US" altLang="ko-KR" dirty="0" smtClean="0"/>
              <a:t>(statistical inference)</a:t>
            </a:r>
            <a:r>
              <a:rPr lang="ko-KR" altLang="en-US" dirty="0" smtClean="0"/>
              <a:t> 절차를 통해 표본에 내재된 정보로부터 모집단에 관한 일반화를 </a:t>
            </a:r>
            <a:r>
              <a:rPr lang="ko-KR" altLang="en-US" dirty="0" err="1" smtClean="0"/>
              <a:t>만듬</a:t>
            </a:r>
            <a:endParaRPr lang="en-US" altLang="ko-KR" dirty="0" smtClean="0"/>
          </a:p>
          <a:p>
            <a:r>
              <a:rPr lang="ko-KR" altLang="en-US" dirty="0" smtClean="0"/>
              <a:t>목적 문장</a:t>
            </a:r>
            <a:r>
              <a:rPr lang="en-US" altLang="ko-KR" dirty="0" smtClean="0"/>
              <a:t>(statement of purpose)</a:t>
            </a:r>
            <a:r>
              <a:rPr lang="ko-KR" altLang="en-US" dirty="0" smtClean="0"/>
              <a:t>는 데이터 수집 과정을 설계하는 핵심 단계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20388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1304</Words>
  <Application>Microsoft Office PowerPoint</Application>
  <PresentationFormat>와이드스크린</PresentationFormat>
  <Paragraphs>178</Paragraphs>
  <Slides>21</Slides>
  <Notes>0</Notes>
  <HiddenSlides>2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서론</vt:lpstr>
      <vt:lpstr>통계학이란 무엇인가?</vt:lpstr>
      <vt:lpstr>과학적 학문으로서의 통계학의 역할</vt:lpstr>
      <vt:lpstr>요약</vt:lpstr>
      <vt:lpstr>일상 생활에서의 통계</vt:lpstr>
      <vt:lpstr>일상 생활에서의 통계(2)</vt:lpstr>
      <vt:lpstr>과학적 탐구에서의 통계</vt:lpstr>
      <vt:lpstr>과학적 탐구에서의 통계(2)</vt:lpstr>
      <vt:lpstr>데이터 수집의 특징</vt:lpstr>
      <vt:lpstr>모집단과 표본</vt:lpstr>
      <vt:lpstr>모집단과 표본(2)</vt:lpstr>
      <vt:lpstr>모집단과 표본(3)</vt:lpstr>
      <vt:lpstr>모집단과 표본의 확인</vt:lpstr>
      <vt:lpstr>잘못된 결론을 유도하는 표본</vt:lpstr>
      <vt:lpstr>표본선택을 위한 난수표</vt:lpstr>
      <vt:lpstr>목적을 가진 데이터 수집</vt:lpstr>
      <vt:lpstr>상황별 통계</vt:lpstr>
      <vt:lpstr>통계학의 목적</vt:lpstr>
      <vt:lpstr>현명하게 통계 사용하기</vt:lpstr>
      <vt:lpstr>요점</vt:lpstr>
      <vt:lpstr>요점(2)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서론</dc:title>
  <dc:creator>sw</dc:creator>
  <cp:lastModifiedBy>kyungsub@gmail.com</cp:lastModifiedBy>
  <cp:revision>37</cp:revision>
  <dcterms:created xsi:type="dcterms:W3CDTF">2016-02-26T05:43:24Z</dcterms:created>
  <dcterms:modified xsi:type="dcterms:W3CDTF">2017-03-10T00:53:18Z</dcterms:modified>
</cp:coreProperties>
</file>