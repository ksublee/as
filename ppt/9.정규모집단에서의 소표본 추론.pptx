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3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D05FD-3C5D-4492-9E94-CC845713AFF8}" type="datetimeFigureOut">
              <a:rPr lang="ko-KR" altLang="en-US" smtClean="0"/>
              <a:t>2017-04-28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1CAFDE-FF20-4CAB-8F96-2AE8D75D47D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11185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D05FD-3C5D-4492-9E94-CC845713AFF8}" type="datetimeFigureOut">
              <a:rPr lang="ko-KR" altLang="en-US" smtClean="0"/>
              <a:t>2017-04-28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1CAFDE-FF20-4CAB-8F96-2AE8D75D47D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12401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D05FD-3C5D-4492-9E94-CC845713AFF8}" type="datetimeFigureOut">
              <a:rPr lang="ko-KR" altLang="en-US" smtClean="0"/>
              <a:t>2017-04-28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1CAFDE-FF20-4CAB-8F96-2AE8D75D47D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72720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D05FD-3C5D-4492-9E94-CC845713AFF8}" type="datetimeFigureOut">
              <a:rPr lang="ko-KR" altLang="en-US" smtClean="0"/>
              <a:t>2017-04-28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1CAFDE-FF20-4CAB-8F96-2AE8D75D47D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3340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D05FD-3C5D-4492-9E94-CC845713AFF8}" type="datetimeFigureOut">
              <a:rPr lang="ko-KR" altLang="en-US" smtClean="0"/>
              <a:t>2017-04-28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1CAFDE-FF20-4CAB-8F96-2AE8D75D47D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77947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D05FD-3C5D-4492-9E94-CC845713AFF8}" type="datetimeFigureOut">
              <a:rPr lang="ko-KR" altLang="en-US" smtClean="0"/>
              <a:t>2017-04-28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1CAFDE-FF20-4CAB-8F96-2AE8D75D47D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61012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D05FD-3C5D-4492-9E94-CC845713AFF8}" type="datetimeFigureOut">
              <a:rPr lang="ko-KR" altLang="en-US" smtClean="0"/>
              <a:t>2017-04-28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1CAFDE-FF20-4CAB-8F96-2AE8D75D47D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080509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D05FD-3C5D-4492-9E94-CC845713AFF8}" type="datetimeFigureOut">
              <a:rPr lang="ko-KR" altLang="en-US" smtClean="0"/>
              <a:t>2017-04-28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1CAFDE-FF20-4CAB-8F96-2AE8D75D47D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83246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D05FD-3C5D-4492-9E94-CC845713AFF8}" type="datetimeFigureOut">
              <a:rPr lang="ko-KR" altLang="en-US" smtClean="0"/>
              <a:t>2017-04-28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1CAFDE-FF20-4CAB-8F96-2AE8D75D47D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92423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D05FD-3C5D-4492-9E94-CC845713AFF8}" type="datetimeFigureOut">
              <a:rPr lang="ko-KR" altLang="en-US" smtClean="0"/>
              <a:t>2017-04-28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1CAFDE-FF20-4CAB-8F96-2AE8D75D47D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03014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D05FD-3C5D-4492-9E94-CC845713AFF8}" type="datetimeFigureOut">
              <a:rPr lang="ko-KR" altLang="en-US" smtClean="0"/>
              <a:t>2017-04-28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1CAFDE-FF20-4CAB-8F96-2AE8D75D47D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80514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7D05FD-3C5D-4492-9E94-CC845713AFF8}" type="datetimeFigureOut">
              <a:rPr lang="ko-KR" altLang="en-US" smtClean="0"/>
              <a:t>2017-04-28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1CAFDE-FF20-4CAB-8F96-2AE8D75D47D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06777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8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 smtClean="0"/>
              <a:t>정규모집단에서의 </a:t>
            </a:r>
            <a:r>
              <a:rPr lang="ko-KR" altLang="en-US" dirty="0" err="1" smtClean="0"/>
              <a:t>소표본</a:t>
            </a:r>
            <a:r>
              <a:rPr lang="ko-KR" altLang="en-US" dirty="0" smtClean="0"/>
              <a:t> 추론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759598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서론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 dirty="0" smtClean="0"/>
                  <a:t>대표본이 이용 가능할 때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  <m:r>
                      <a:rPr lang="ko-KR" altLang="en-US" i="1">
                        <a:latin typeface="Cambria Math" panose="02040503050406030204" pitchFamily="18" charset="0"/>
                      </a:rPr>
                      <m:t>의</m:t>
                    </m:r>
                  </m:oMath>
                </a14:m>
                <a:r>
                  <a:rPr lang="ko-KR" altLang="en-US" dirty="0" smtClean="0"/>
                  <a:t> 분포가 근사적으로 정규분포를 따르게 되므로</a:t>
                </a:r>
                <a:r>
                  <a:rPr lang="en-US" altLang="ko-KR" dirty="0" smtClean="0"/>
                  <a:t>, </a:t>
                </a:r>
                <a:r>
                  <a:rPr lang="ko-KR" altLang="en-US" dirty="0" smtClean="0"/>
                  <a:t>이를 이용하여 통계적 추론 실시</a:t>
                </a:r>
                <a:endParaRPr lang="en-US" altLang="ko-KR" dirty="0" smtClean="0"/>
              </a:p>
              <a:p>
                <a:r>
                  <a:rPr lang="ko-KR" altLang="en-US" dirty="0" smtClean="0"/>
                  <a:t>작은 표본</a:t>
                </a:r>
                <a:r>
                  <a:rPr lang="en-US" altLang="ko-KR" dirty="0" smtClean="0"/>
                  <a:t>(</a:t>
                </a:r>
                <a:r>
                  <a:rPr lang="ko-KR" altLang="en-US" dirty="0" smtClean="0"/>
                  <a:t>대체로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≤30</m:t>
                    </m:r>
                  </m:oMath>
                </a14:m>
                <a:r>
                  <a:rPr lang="en-US" altLang="ko-KR" dirty="0" smtClean="0"/>
                  <a:t>)</a:t>
                </a:r>
                <a:r>
                  <a:rPr lang="ko-KR" altLang="en-US" dirty="0" smtClean="0"/>
                  <a:t>에서 유도되는 통계적 추론도 필요</a:t>
                </a:r>
                <a:endParaRPr lang="en-US" altLang="ko-KR" dirty="0" smtClean="0"/>
              </a:p>
              <a:p>
                <a:pPr lvl="1"/>
                <a:r>
                  <a:rPr lang="ko-KR" altLang="en-US" dirty="0" smtClean="0"/>
                  <a:t>표본이 작을 때는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  <m:r>
                      <a:rPr lang="ko-KR" altLang="en-US" i="1">
                        <a:latin typeface="Cambria Math" panose="02040503050406030204" pitchFamily="18" charset="0"/>
                      </a:rPr>
                      <m:t>의</m:t>
                    </m:r>
                  </m:oMath>
                </a14:m>
                <a:r>
                  <a:rPr lang="ko-KR" altLang="en-US" dirty="0" smtClean="0"/>
                  <a:t> 분포는 모집단 분포의 형태에 상당히 좌우됨</a:t>
                </a:r>
                <a:endParaRPr lang="en-US" altLang="ko-KR" dirty="0" smtClean="0"/>
              </a:p>
              <a:p>
                <a:pPr lvl="1"/>
                <a:r>
                  <a:rPr lang="ko-KR" altLang="en-US" dirty="0" smtClean="0"/>
                  <a:t>이 장에서는 모집단 분포가 정규분포를 따를 때</a:t>
                </a:r>
                <a:endParaRPr lang="en-US" altLang="ko-KR" dirty="0" smtClean="0"/>
              </a:p>
              <a:p>
                <a:pPr lvl="2"/>
                <a:r>
                  <a:rPr lang="ko-KR" altLang="en-US" dirty="0" smtClean="0"/>
                  <a:t>신뢰구간</a:t>
                </a:r>
                <a:endParaRPr lang="en-US" altLang="ko-KR" dirty="0" smtClean="0"/>
              </a:p>
              <a:p>
                <a:pPr lvl="2"/>
                <a:r>
                  <a:rPr lang="ko-KR" altLang="en-US" dirty="0" smtClean="0"/>
                  <a:t>가설 검정</a:t>
                </a:r>
                <a:endParaRPr lang="en-US" altLang="ko-KR" dirty="0" smtClean="0"/>
              </a:p>
              <a:p>
                <a:pPr lvl="1"/>
                <a:r>
                  <a:rPr lang="ko-KR" altLang="en-US" dirty="0" smtClean="0"/>
                  <a:t>다음의 통계량의 </a:t>
                </a:r>
                <a:r>
                  <a:rPr lang="ko-KR" altLang="en-US" dirty="0" err="1" smtClean="0"/>
                  <a:t>표집분포는</a:t>
                </a:r>
                <a:r>
                  <a:rPr lang="ko-KR" altLang="en-US" dirty="0" smtClean="0"/>
                  <a:t> 스튜던트 </a:t>
                </a:r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altLang="ko-KR" dirty="0" smtClean="0"/>
                  <a:t> </a:t>
                </a:r>
                <a:r>
                  <a:rPr lang="ko-KR" altLang="en-US" dirty="0" smtClean="0"/>
                  <a:t>분포를 따른다</a:t>
                </a:r>
                <a:r>
                  <a:rPr lang="en-US" altLang="ko-KR" dirty="0" smtClean="0"/>
                  <a:t>.</a:t>
                </a:r>
                <a:br>
                  <a:rPr lang="en-US" altLang="ko-KR" dirty="0" smtClean="0"/>
                </a:br>
                <a14:m>
                  <m:oMath xmlns:m="http://schemas.openxmlformats.org/officeDocument/2006/math">
                    <m:f>
                      <m:f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acc>
                          <m:accPr>
                            <m:chr m:val="̅"/>
                            <m:ctrlPr>
                              <a:rPr lang="en-US" altLang="ko-KR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acc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num>
                      <m:den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/</m:t>
                        </m:r>
                        <m:rad>
                          <m:radPr>
                            <m:degHide m:val="on"/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rad>
                      </m:den>
                    </m:f>
                  </m:oMath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750753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제목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ko-KR" altLang="en-US" dirty="0" smtClean="0"/>
                  <a:t>스튜던트 </a:t>
                </a:r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altLang="ko-KR" dirty="0" smtClean="0"/>
                  <a:t> </a:t>
                </a:r>
                <a:r>
                  <a:rPr lang="ko-KR" altLang="en-US" dirty="0" smtClean="0"/>
                  <a:t>분포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2" name="제목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 rotWithShape="0"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ko-KR" sz="24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ko-KR" altLang="en-US" sz="2400" dirty="0" smtClean="0"/>
                  <a:t>가 정규 </a:t>
                </a:r>
                <a14:m>
                  <m:oMath xmlns:m="http://schemas.openxmlformats.org/officeDocument/2006/math"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𝑁</m:t>
                    </m:r>
                    <m:d>
                      <m:d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p>
                          <m:sSupPr>
                            <m:ctrlP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p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lang="ko-KR" altLang="en-US" sz="2400" dirty="0" smtClean="0"/>
                  <a:t> 모집단에서 크기 </a:t>
                </a:r>
                <a14:m>
                  <m:oMath xmlns:m="http://schemas.openxmlformats.org/officeDocument/2006/math">
                    <m:r>
                      <a:rPr lang="en-US" altLang="ko-KR" sz="24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ko-KR" altLang="en-US" sz="2400" dirty="0" smtClean="0"/>
                  <a:t>인 확률표본의 표본평균일 때</a:t>
                </a:r>
                <a:r>
                  <a:rPr lang="en-US" altLang="ko-KR" sz="2400" dirty="0" smtClean="0"/>
                  <a:t>,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ko-KR" sz="24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  <m:r>
                      <a:rPr lang="ko-KR" altLang="en-US" sz="2400" i="1">
                        <a:latin typeface="Cambria Math" panose="02040503050406030204" pitchFamily="18" charset="0"/>
                      </a:rPr>
                      <m:t>는</m:t>
                    </m:r>
                  </m:oMath>
                </a14:m>
                <a:r>
                  <a:rPr lang="ko-KR" altLang="en-US" sz="2400" dirty="0" smtClean="0"/>
                  <a:t> 정확히 </a:t>
                </a:r>
                <a14:m>
                  <m:oMath xmlns:m="http://schemas.openxmlformats.org/officeDocument/2006/math"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𝑁</m:t>
                    </m:r>
                    <m:d>
                      <m:d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p>
                          <m:sSupPr>
                            <m:ctrlP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p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ko-KR" altLang="en-US" sz="2400" dirty="0" smtClean="0"/>
                  <a:t> 분포를 따른다</a:t>
                </a:r>
                <a:r>
                  <a:rPr lang="en-US" altLang="ko-KR" sz="2400" dirty="0" smtClean="0"/>
                  <a:t>.</a:t>
                </a:r>
              </a:p>
              <a:p>
                <a:r>
                  <a:rPr lang="ko-KR" altLang="en-US" sz="2400" dirty="0" smtClean="0"/>
                  <a:t>따라서 표준화된 변수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acc>
                          <m:accPr>
                            <m:chr m:val="̅"/>
                            <m:ctrlPr>
                              <a:rPr lang="en-US" altLang="ko-KR" sz="24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acc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num>
                      <m:den>
                        <m:sSup>
                          <m:sSupPr>
                            <m:ctrlP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p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/</m:t>
                        </m:r>
                        <m:rad>
                          <m:radPr>
                            <m:degHide m:val="on"/>
                            <m:ctrlP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rad>
                      </m:den>
                    </m:f>
                    <m:r>
                      <a:rPr lang="ko-KR" altLang="en-US" sz="2400" i="1">
                        <a:latin typeface="Cambria Math" panose="02040503050406030204" pitchFamily="18" charset="0"/>
                      </a:rPr>
                      <m:t>는</m:t>
                    </m:r>
                  </m:oMath>
                </a14:m>
                <a:r>
                  <a:rPr lang="ko-KR" altLang="en-US" sz="2400" dirty="0" smtClean="0"/>
                  <a:t> 정확히 표준정규분포를 따름</a:t>
                </a:r>
                <a:endParaRPr lang="en-US" altLang="ko-KR" sz="2400" dirty="0" smtClean="0"/>
              </a:p>
              <a:p>
                <a:r>
                  <a:rPr lang="ko-KR" altLang="en-US" sz="2400" dirty="0" smtClean="0"/>
                  <a:t>일반적으로 </a:t>
                </a:r>
                <a14:m>
                  <m:oMath xmlns:m="http://schemas.openxmlformats.org/officeDocument/2006/math"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ko-KR" altLang="en-US" sz="2400" dirty="0" smtClean="0"/>
                  <a:t>는 모르는 값이므로</a:t>
                </a:r>
                <a:r>
                  <a:rPr lang="en-US" altLang="ko-KR" sz="2400" dirty="0" smtClean="0"/>
                  <a:t>, </a:t>
                </a:r>
                <a:r>
                  <a:rPr lang="ko-KR" altLang="en-US" sz="2400" dirty="0" smtClean="0"/>
                  <a:t>표본표준편차 </a:t>
                </a:r>
                <a14:m>
                  <m:oMath xmlns:m="http://schemas.openxmlformats.org/officeDocument/2006/math"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ko-KR" altLang="en-US" sz="2400" dirty="0" smtClean="0"/>
                  <a:t>로 </a:t>
                </a:r>
                <a14:m>
                  <m:oMath xmlns:m="http://schemas.openxmlformats.org/officeDocument/2006/math"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ko-KR" altLang="en-US" sz="2400" dirty="0" smtClean="0"/>
                  <a:t>를 추정</a:t>
                </a:r>
                <a:endParaRPr lang="en-US" altLang="ko-KR" sz="2400" dirty="0" smtClean="0"/>
              </a:p>
              <a:p>
                <a:r>
                  <a:rPr lang="ko-KR" altLang="en-US" sz="2400" dirty="0" smtClean="0"/>
                  <a:t>다음의 </a:t>
                </a:r>
                <a14:m>
                  <m:oMath xmlns:m="http://schemas.openxmlformats.org/officeDocument/2006/math">
                    <m:r>
                      <a:rPr lang="en-US" altLang="ko-KR" sz="2400" i="1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ko-KR" sz="24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2400" dirty="0" smtClean="0"/>
                  <a:t>통계량을 생각해 보자</a:t>
                </a:r>
                <a:r>
                  <a:rPr lang="en-US" altLang="ko-KR" sz="2400" dirty="0" smtClean="0"/>
                  <a:t>.</a:t>
                </a:r>
                <a:br>
                  <a:rPr lang="en-US" altLang="ko-KR" sz="2400" dirty="0" smtClean="0"/>
                </a:br>
                <a14:m>
                  <m:oMath xmlns:m="http://schemas.openxmlformats.org/officeDocument/2006/math"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altLang="ko-KR" sz="2400" b="0" i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acc>
                          <m:accPr>
                            <m:chr m:val="̅"/>
                            <m:ctrlPr>
                              <a:rPr lang="en-US" altLang="ko-KR" sz="24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acc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num>
                      <m:den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/</m:t>
                        </m:r>
                        <m:rad>
                          <m:radPr>
                            <m:degHide m:val="on"/>
                            <m:ctrlP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rad>
                      </m:den>
                    </m:f>
                  </m:oMath>
                </a14:m>
                <a:endParaRPr lang="en-US" altLang="ko-KR" sz="2400" dirty="0" smtClean="0"/>
              </a:p>
              <a:p>
                <a:pPr lvl="1"/>
                <a:r>
                  <a:rPr lang="en-US" altLang="ko-KR" sz="2000" dirty="0" smtClean="0"/>
                  <a:t>0</a:t>
                </a:r>
                <a:r>
                  <a:rPr lang="ko-KR" altLang="en-US" sz="2000" dirty="0" smtClean="0"/>
                  <a:t>에 대해 대칭</a:t>
                </a:r>
                <a:endParaRPr lang="en-US" altLang="ko-KR" sz="2000" dirty="0" smtClean="0"/>
              </a:p>
              <a:p>
                <a:pPr lvl="1"/>
                <a:r>
                  <a:rPr lang="ko-KR" altLang="en-US" sz="2000" dirty="0" smtClean="0"/>
                  <a:t>표본이 크면 </a:t>
                </a:r>
                <a14:m>
                  <m:oMath xmlns:m="http://schemas.openxmlformats.org/officeDocument/2006/math">
                    <m:r>
                      <a:rPr lang="en-US" altLang="ko-KR" sz="20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ko-KR" altLang="en-US" sz="2000" dirty="0" smtClean="0"/>
                  <a:t>는 정규분포 </a:t>
                </a:r>
                <a14:m>
                  <m:oMath xmlns:m="http://schemas.openxmlformats.org/officeDocument/2006/math"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ko-KR" altLang="en-US" sz="2000" dirty="0" smtClean="0"/>
                  <a:t>와 크게 다르지 않지만 표본이 작으면 상당한 차이를 보임</a:t>
                </a:r>
                <a:endParaRPr lang="en-US" altLang="ko-KR" sz="2000" dirty="0" smtClean="0"/>
              </a:p>
              <a:p>
                <a:pPr lvl="1"/>
                <a14:m>
                  <m:oMath xmlns:m="http://schemas.openxmlformats.org/officeDocument/2006/math"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ko-KR" altLang="en-US" sz="2000" i="1">
                        <a:latin typeface="Cambria Math" panose="02040503050406030204" pitchFamily="18" charset="0"/>
                      </a:rPr>
                      <m:t>의</m:t>
                    </m:r>
                  </m:oMath>
                </a14:m>
                <a:r>
                  <a:rPr lang="en-US" altLang="ko-KR" sz="2000" dirty="0" smtClean="0"/>
                  <a:t> </a:t>
                </a:r>
                <a:r>
                  <a:rPr lang="ko-KR" altLang="en-US" sz="2000" dirty="0" smtClean="0"/>
                  <a:t>표준편차는 </a:t>
                </a:r>
                <a:r>
                  <a:rPr lang="en-US" altLang="ko-KR" sz="2000" dirty="0" smtClean="0"/>
                  <a:t>1</a:t>
                </a:r>
                <a:r>
                  <a:rPr lang="ko-KR" altLang="en-US" sz="2000" dirty="0" smtClean="0"/>
                  <a:t>보다 크게 됨</a:t>
                </a:r>
                <a:endParaRPr lang="en-US" altLang="ko-KR" sz="2000" dirty="0" smtClean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3"/>
                <a:stretch>
                  <a:fillRect l="-812" t="-1961" b="-23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699336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제목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ko-KR" altLang="en-US" dirty="0" smtClean="0"/>
                  <a:t>스튜던트 </a:t>
                </a:r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altLang="ko-KR" dirty="0" smtClean="0"/>
                  <a:t> </a:t>
                </a:r>
                <a:r>
                  <a:rPr lang="ko-KR" altLang="en-US" dirty="0" smtClean="0"/>
                  <a:t>분포</a:t>
                </a:r>
                <a:r>
                  <a:rPr lang="en-US" altLang="ko-KR" dirty="0" smtClean="0"/>
                  <a:t>(2)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2" name="제목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 rotWithShape="0"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ko-KR" altLang="en-US" dirty="0" smtClean="0"/>
                  <a:t>만일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⋯,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ko-KR" altLang="en-US" dirty="0" smtClean="0"/>
                  <a:t>이 정규모집단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, </m:t>
                    </m:r>
                    <m:sSup>
                      <m:sSup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 dirty="0" smtClean="0"/>
                  <a:t>에서의 확률표본이고</a:t>
                </a:r>
                <a:r>
                  <a:rPr lang="en-US" altLang="ko-KR" dirty="0" smtClean="0"/>
                  <a:t/>
                </a:r>
                <a:br>
                  <a:rPr lang="en-US" altLang="ko-KR" dirty="0" smtClean="0"/>
                </a:br>
                <a:r>
                  <a:rPr lang="en-US" altLang="ko-KR" dirty="0" smtClean="0"/>
                  <a:t/>
                </a:r>
                <a:br>
                  <a:rPr lang="en-US" altLang="ko-KR" dirty="0" smtClean="0"/>
                </a:b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subHide m:val="on"/>
                        <m:supHide m:val="on"/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ko-KR" altLang="en-US" i="1">
                        <a:latin typeface="Cambria Math" panose="02040503050406030204" pitchFamily="18" charset="0"/>
                      </a:rPr>
                      <m:t>이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며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  </m:t>
                    </m:r>
                    <m:sSup>
                      <m:sSup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∑"/>
                            <m:subHide m:val="on"/>
                            <m:supHide m:val="on"/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/>
                          <m:sup/>
                          <m:e>
                            <m:sSup>
                              <m:sSupPr>
                                <m:ctrlP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ko-KR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ko-KR" b="0" i="1" smtClean="0">
                                            <a:latin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</m:e>
                                      <m:sub>
                                        <m:r>
                                          <a:rPr lang="en-US" altLang="ko-KR" b="0" i="1" smtClean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acc>
                                      <m:accPr>
                                        <m:chr m:val="̅"/>
                                        <m:ctrlPr>
                                          <a:rPr lang="en-US" altLang="ko-KR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ko-KR" b="0" i="1" smtClean="0">
                                            <a:latin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</m:e>
                                    </m:acc>
                                  </m:e>
                                </m:d>
                              </m:e>
                              <m:sup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num>
                      <m:den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den>
                    </m:f>
                  </m:oMath>
                </a14:m>
                <a:r>
                  <a:rPr lang="en-US" altLang="ko-KR" b="0" dirty="0" smtClean="0"/>
                  <a:t/>
                </a:r>
                <a:br>
                  <a:rPr lang="en-US" altLang="ko-KR" b="0" dirty="0" smtClean="0"/>
                </a:br>
                <a:r>
                  <a:rPr lang="ko-KR" altLang="en-US" b="0" dirty="0" smtClean="0"/>
                  <a:t>일 </a:t>
                </a:r>
                <a:r>
                  <a:rPr lang="ko-KR" altLang="en-US" dirty="0" smtClean="0"/>
                  <a:t>때 </a:t>
                </a:r>
                <a:endParaRPr lang="en-US" altLang="ko-KR" b="0" i="1" dirty="0" smtClean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acc>
                            <m:accPr>
                              <m:chr m:val="̅"/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acc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/</m:t>
                          </m:r>
                          <m:rad>
                            <m:radPr>
                              <m:degHide m:val="on"/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r>
                  <a:rPr lang="en-US" altLang="ko-KR" dirty="0" smtClean="0"/>
                  <a:t/>
                </a:r>
                <a:br>
                  <a:rPr lang="en-US" altLang="ko-KR" dirty="0" smtClean="0"/>
                </a:br>
                <a:r>
                  <a:rPr lang="en-US" altLang="ko-KR" dirty="0" smtClean="0"/>
                  <a:t>  </a:t>
                </a:r>
                <a:r>
                  <a:rPr lang="ko-KR" altLang="en-US" dirty="0" smtClean="0"/>
                  <a:t>의 분포를 </a:t>
                </a:r>
                <a:r>
                  <a:rPr lang="ko-KR" altLang="en-US" b="1" dirty="0" smtClean="0"/>
                  <a:t>자유도</a:t>
                </a:r>
                <a:r>
                  <a:rPr lang="ko-KR" altLang="en-US" dirty="0" smtClean="0"/>
                  <a:t>가 </a:t>
                </a:r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ko-KR" altLang="en-US" dirty="0" smtClean="0"/>
                  <a:t>인 </a:t>
                </a:r>
                <a:r>
                  <a:rPr lang="ko-KR" altLang="en-US" b="1" dirty="0" smtClean="0"/>
                  <a:t>스튜던트 </a:t>
                </a:r>
                <a14:m>
                  <m:oMath xmlns:m="http://schemas.openxmlformats.org/officeDocument/2006/math">
                    <m:r>
                      <a:rPr lang="en-US" altLang="ko-KR" b="1" i="1" dirty="0" smtClean="0">
                        <a:latin typeface="Cambria Math" panose="02040503050406030204" pitchFamily="18" charset="0"/>
                      </a:rPr>
                      <m:t>𝒕</m:t>
                    </m:r>
                  </m:oMath>
                </a14:m>
                <a:r>
                  <a:rPr lang="ko-KR" altLang="en-US" b="1" dirty="0" smtClean="0"/>
                  <a:t>분포</a:t>
                </a:r>
                <a:r>
                  <a:rPr lang="ko-KR" altLang="en-US" dirty="0" smtClean="0"/>
                  <a:t>라고 한다</a:t>
                </a:r>
                <a:r>
                  <a:rPr lang="en-US" altLang="ko-KR" dirty="0" smtClean="0"/>
                  <a:t>.</a:t>
                </a:r>
              </a:p>
              <a:p>
                <a:pPr lvl="1"/>
                <a:r>
                  <a:rPr lang="ko-KR" altLang="en-US" dirty="0" smtClean="0"/>
                  <a:t>자유도 </a:t>
                </a:r>
                <a:r>
                  <a:rPr lang="en-US" altLang="ko-KR" dirty="0" smtClean="0"/>
                  <a:t>= degree of freedom = </a:t>
                </a:r>
                <a:r>
                  <a:rPr lang="en-US" altLang="ko-KR" dirty="0" err="1" smtClean="0"/>
                  <a:t>d.f.</a:t>
                </a:r>
                <a:r>
                  <a:rPr lang="en-US" altLang="ko-KR" dirty="0" smtClean="0"/>
                  <a:t/>
                </a:r>
                <a:br>
                  <a:rPr lang="en-US" altLang="ko-KR" dirty="0" smtClean="0"/>
                </a:br>
                <a:r>
                  <a:rPr lang="en-US" altLang="ko-KR" dirty="0" smtClean="0"/>
                  <a:t/>
                </a:r>
                <a:br>
                  <a:rPr lang="en-US" altLang="ko-KR" dirty="0" smtClean="0"/>
                </a:br>
                <a:endParaRPr lang="ko-KR" altLang="en-US" dirty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3"/>
                <a:stretch>
                  <a:fillRect l="-1043" t="-336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360764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제목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ko-KR" altLang="en-US" dirty="0" smtClean="0"/>
                  <a:t>스튜던트 </a:t>
                </a:r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altLang="ko-KR" dirty="0" smtClean="0"/>
                  <a:t> </a:t>
                </a:r>
                <a:r>
                  <a:rPr lang="ko-KR" altLang="en-US" dirty="0" smtClean="0"/>
                  <a:t>분포</a:t>
                </a:r>
                <a:r>
                  <a:rPr lang="en-US" altLang="ko-KR" dirty="0" smtClean="0"/>
                  <a:t>(3)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2" name="제목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 rotWithShape="0"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5"/>
                <a:ext cx="6185687" cy="4351338"/>
              </a:xfrm>
            </p:spPr>
            <p:txBody>
              <a:bodyPr/>
              <a:lstStyle/>
              <a:p>
                <a:r>
                  <a:rPr lang="ko-KR" altLang="en-US" sz="2400" dirty="0" smtClean="0"/>
                  <a:t>표본크기 또는 </a:t>
                </a:r>
                <a14:m>
                  <m:oMath xmlns:m="http://schemas.openxmlformats.org/officeDocument/2006/math">
                    <m:r>
                      <a:rPr lang="en-US" altLang="ko-KR" sz="2400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altLang="ko-KR" sz="2400" i="1" dirty="0" smtClean="0">
                        <a:latin typeface="Cambria Math" panose="02040503050406030204" pitchFamily="18" charset="0"/>
                      </a:rPr>
                      <m:t>−1</m:t>
                    </m:r>
                    <m:r>
                      <a:rPr lang="ko-KR" altLang="en-US" sz="2400" i="1" dirty="0">
                        <a:latin typeface="Cambria Math" panose="02040503050406030204" pitchFamily="18" charset="0"/>
                      </a:rPr>
                      <m:t>의</m:t>
                    </m:r>
                  </m:oMath>
                </a14:m>
                <a:r>
                  <a:rPr lang="ko-KR" altLang="en-US" sz="2400" dirty="0" smtClean="0"/>
                  <a:t> 값에 따라 </a:t>
                </a:r>
                <a14:m>
                  <m:oMath xmlns:m="http://schemas.openxmlformats.org/officeDocument/2006/math">
                    <m:r>
                      <a:rPr lang="en-US" altLang="ko-KR" sz="24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sz="2400" dirty="0" smtClean="0"/>
                  <a:t>분포가 달라지기 때문에 </a:t>
                </a:r>
                <a:r>
                  <a:rPr lang="en-US" altLang="ko-KR" sz="2400" dirty="0" smtClean="0"/>
                  <a:t>"</a:t>
                </a:r>
                <a:r>
                  <a:rPr lang="ko-KR" altLang="en-US" sz="2400" dirty="0" smtClean="0"/>
                  <a:t>자유도 </a:t>
                </a:r>
                <a14:m>
                  <m:oMath xmlns:m="http://schemas.openxmlformats.org/officeDocument/2006/math">
                    <m:r>
                      <a:rPr lang="en-US" altLang="ko-KR" sz="2400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altLang="ko-KR" sz="2400" i="1" dirty="0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altLang="ko-KR" sz="2400" dirty="0" smtClean="0"/>
                  <a:t>"</a:t>
                </a:r>
                <a:r>
                  <a:rPr lang="ko-KR" altLang="en-US" sz="2400" dirty="0" smtClean="0"/>
                  <a:t>이라는 단서는 반드시 필요</a:t>
                </a:r>
                <a:endParaRPr lang="en-US" altLang="ko-KR" sz="2400" dirty="0" smtClean="0"/>
              </a:p>
              <a:p>
                <a14:m>
                  <m:oMath xmlns:m="http://schemas.openxmlformats.org/officeDocument/2006/math">
                    <m:r>
                      <a:rPr lang="en-US" altLang="ko-KR" sz="2400" i="1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ko-KR" altLang="en-US" sz="2400" i="1" dirty="0">
                        <a:latin typeface="Cambria Math" panose="02040503050406030204" pitchFamily="18" charset="0"/>
                      </a:rPr>
                      <m:t>분</m:t>
                    </m:r>
                  </m:oMath>
                </a14:m>
                <a:r>
                  <a:rPr lang="ko-KR" altLang="en-US" sz="2400" dirty="0" smtClean="0"/>
                  <a:t>포는 항상 </a:t>
                </a:r>
                <a:r>
                  <a:rPr lang="en-US" altLang="ko-KR" sz="2400" dirty="0" smtClean="0"/>
                  <a:t>0</a:t>
                </a:r>
                <a:r>
                  <a:rPr lang="ko-KR" altLang="en-US" sz="2400" dirty="0" smtClean="0"/>
                  <a:t>에 관대 대칭이지만 표준정규분포보다는 두꺼운 꼬리</a:t>
                </a:r>
                <a:endParaRPr lang="en-US" altLang="ko-KR" sz="2400" dirty="0" smtClean="0"/>
              </a:p>
              <a:p>
                <a:pPr lvl="1"/>
                <a:r>
                  <a:rPr lang="ko-KR" altLang="en-US" sz="2000" dirty="0" smtClean="0"/>
                  <a:t>자유도가 증가할수록 </a:t>
                </a:r>
                <a14:m>
                  <m:oMath xmlns:m="http://schemas.openxmlformats.org/officeDocument/2006/math">
                    <m:r>
                      <a:rPr lang="en-US" altLang="ko-KR" sz="20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sz="2000" dirty="0" smtClean="0"/>
                  <a:t>분포는 표준정규분포에 가까워짐</a:t>
                </a:r>
                <a:endParaRPr lang="en-US" altLang="ko-KR" sz="2000" dirty="0" smtClean="0"/>
              </a:p>
              <a:p>
                <a:r>
                  <a:rPr lang="ko-KR" altLang="en-US" sz="2400" dirty="0" smtClean="0"/>
                  <a:t>부록 </a:t>
                </a:r>
                <a:r>
                  <a:rPr lang="en-US" altLang="ko-KR" sz="2400" dirty="0" smtClean="0"/>
                  <a:t>B</a:t>
                </a:r>
                <a:r>
                  <a:rPr lang="ko-KR" altLang="en-US" sz="2400" dirty="0" smtClean="0"/>
                  <a:t>의 표</a:t>
                </a:r>
                <a:r>
                  <a:rPr lang="en-US" altLang="ko-KR" sz="2400" dirty="0" smtClean="0"/>
                  <a:t>4</a:t>
                </a:r>
                <a:r>
                  <a:rPr lang="ko-KR" altLang="en-US" sz="2400" dirty="0" smtClean="0"/>
                  <a:t>는 몇 가지 선택된 </a:t>
                </a:r>
                <a14:m>
                  <m:oMath xmlns:m="http://schemas.openxmlformats.org/officeDocument/2006/math"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ko-KR" altLang="en-US" sz="2400" i="1">
                        <a:latin typeface="Cambria Math" panose="02040503050406030204" pitchFamily="18" charset="0"/>
                      </a:rPr>
                      <m:t>값</m:t>
                    </m:r>
                  </m:oMath>
                </a14:m>
                <a:r>
                  <a:rPr lang="ko-KR" altLang="en-US" sz="2400" dirty="0" smtClean="0"/>
                  <a:t>과 여러 가지 </a:t>
                </a:r>
                <a:r>
                  <a:rPr lang="ko-KR" altLang="en-US" sz="2400" dirty="0" err="1" smtClean="0"/>
                  <a:t>자유도에</a:t>
                </a:r>
                <a:r>
                  <a:rPr lang="ko-KR" altLang="en-US" sz="2400" dirty="0" smtClean="0"/>
                  <a:t> 대한 </a:t>
                </a:r>
                <a14:m>
                  <m:oMath xmlns:m="http://schemas.openxmlformats.org/officeDocument/2006/math">
                    <m:r>
                      <a:rPr lang="en-US" altLang="ko-KR" sz="2400" i="1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ko-KR" altLang="en-US" sz="2400" i="1" dirty="0">
                        <a:latin typeface="Cambria Math" panose="02040503050406030204" pitchFamily="18" charset="0"/>
                      </a:rPr>
                      <m:t>분</m:t>
                    </m:r>
                  </m:oMath>
                </a14:m>
                <a:r>
                  <a:rPr lang="ko-KR" altLang="en-US" sz="2400" dirty="0" smtClean="0"/>
                  <a:t>포의 상위 </a:t>
                </a:r>
                <a14:m>
                  <m:oMath xmlns:m="http://schemas.openxmlformats.org/officeDocument/2006/math"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ko-KR" altLang="en-US" sz="2400" dirty="0" smtClean="0"/>
                  <a:t>인 점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  <m:r>
                      <a:rPr lang="ko-KR" altLang="en-US" sz="2400" i="1">
                        <a:latin typeface="Cambria Math" panose="02040503050406030204" pitchFamily="18" charset="0"/>
                      </a:rPr>
                      <m:t>값</m:t>
                    </m:r>
                  </m:oMath>
                </a14:m>
                <a:r>
                  <a:rPr lang="ko-KR" altLang="en-US" sz="2400" dirty="0" smtClean="0"/>
                  <a:t>이 주어짐</a:t>
                </a:r>
                <a:endParaRPr lang="en-US" altLang="ko-KR" sz="2400" dirty="0" smtClean="0"/>
              </a:p>
              <a:p>
                <a:pPr marL="457200" lvl="1" indent="0">
                  <a:buNone/>
                </a:pPr>
                <a:endParaRPr lang="ko-KR" altLang="en-US" dirty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5"/>
                <a:ext cx="6185687" cy="4351338"/>
              </a:xfrm>
              <a:blipFill rotWithShape="0">
                <a:blip r:embed="rId3"/>
                <a:stretch>
                  <a:fillRect l="-1381" t="-1961" r="-4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4"/>
          <p:cNvPicPr>
            <a:picLocks noGrp="1" noChangeAspect="1" noChangeArrowheads="1"/>
          </p:cNvPicPr>
          <p:nvPr>
            <p:ph sz="half" idx="2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183395" y="1979096"/>
            <a:ext cx="4096264" cy="3660752"/>
          </a:xfrm>
          <a:ln/>
        </p:spPr>
      </p:pic>
    </p:spTree>
    <p:extLst>
      <p:ext uri="{BB962C8B-B14F-4D97-AF65-F5344CB8AC3E}">
        <p14:creationId xmlns:p14="http://schemas.microsoft.com/office/powerpoint/2010/main" val="5866873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제목 4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ko-KR" altLang="en-US" dirty="0" smtClean="0"/>
                  <a:t>예제</a:t>
                </a:r>
                <a:r>
                  <a:rPr lang="en-US" altLang="ko-KR" dirty="0" smtClean="0"/>
                  <a:t>: </a:t>
                </a:r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dirty="0" smtClean="0"/>
                  <a:t>분포의 백분위 점 구하기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5" name="제목 4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 rotWithShape="0"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내용 개체 틀 5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 sz="2400" dirty="0" smtClean="0"/>
                  <a:t>부록 </a:t>
                </a:r>
                <a:r>
                  <a:rPr lang="en-US" altLang="ko-KR" sz="2400" dirty="0" smtClean="0"/>
                  <a:t>B</a:t>
                </a:r>
                <a:r>
                  <a:rPr lang="ko-KR" altLang="en-US" sz="2400" dirty="0" smtClean="0"/>
                  <a:t>의 표 </a:t>
                </a:r>
                <a:r>
                  <a:rPr lang="en-US" altLang="ko-KR" sz="2400" dirty="0" smtClean="0"/>
                  <a:t>4</a:t>
                </a:r>
                <a:r>
                  <a:rPr lang="ko-KR" altLang="en-US" sz="2400" dirty="0" smtClean="0"/>
                  <a:t>를 이용하여</a:t>
                </a:r>
                <a:r>
                  <a:rPr lang="en-US" altLang="ko-KR" sz="2400" dirty="0" smtClean="0"/>
                  <a:t>, </a:t>
                </a:r>
                <a:r>
                  <a:rPr lang="ko-KR" altLang="en-US" sz="2400" dirty="0" smtClean="0"/>
                  <a:t>자유도 </a:t>
                </a:r>
                <a:r>
                  <a:rPr lang="en-US" altLang="ko-KR" sz="2400" dirty="0" smtClean="0"/>
                  <a:t>5</a:t>
                </a:r>
                <a:r>
                  <a:rPr lang="ko-KR" altLang="en-US" sz="2400" dirty="0" smtClean="0"/>
                  <a:t>인 </a:t>
                </a:r>
                <a14:m>
                  <m:oMath xmlns:m="http://schemas.openxmlformats.org/officeDocument/2006/math">
                    <m:r>
                      <a:rPr lang="en-US" altLang="ko-KR" sz="24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sz="2400" dirty="0" smtClean="0"/>
                  <a:t>분포의 상위 </a:t>
                </a:r>
                <a:r>
                  <a:rPr lang="en-US" altLang="ko-KR" sz="2400" dirty="0" smtClean="0"/>
                  <a:t>0.10</a:t>
                </a:r>
                <a:r>
                  <a:rPr lang="ko-KR" altLang="en-US" sz="2400" dirty="0" smtClean="0"/>
                  <a:t>인 점을 결정하라</a:t>
                </a:r>
                <a:r>
                  <a:rPr lang="en-US" altLang="ko-KR" sz="2400" dirty="0" smtClean="0"/>
                  <a:t>. </a:t>
                </a:r>
                <a:r>
                  <a:rPr lang="ko-KR" altLang="en-US" sz="2400" dirty="0" smtClean="0"/>
                  <a:t>또한 하위 </a:t>
                </a:r>
                <a:r>
                  <a:rPr lang="en-US" altLang="ko-KR" sz="2400" dirty="0" smtClean="0"/>
                  <a:t>0.10</a:t>
                </a:r>
                <a:r>
                  <a:rPr lang="ko-KR" altLang="en-US" sz="2400" dirty="0" smtClean="0"/>
                  <a:t>인 점도 구하라</a:t>
                </a:r>
                <a:r>
                  <a:rPr lang="en-US" altLang="ko-KR" sz="2400" dirty="0" smtClean="0"/>
                  <a:t>.</a:t>
                </a:r>
              </a:p>
              <a:p>
                <a:r>
                  <a:rPr lang="ko-KR" altLang="en-US" sz="2400" dirty="0" smtClean="0"/>
                  <a:t>자유도가 </a:t>
                </a:r>
                <a:r>
                  <a:rPr lang="en-US" altLang="ko-KR" sz="2400" dirty="0" smtClean="0"/>
                  <a:t>5</a:t>
                </a:r>
                <a:r>
                  <a:rPr lang="ko-KR" altLang="en-US" sz="2400" dirty="0" smtClean="0"/>
                  <a:t>인 </a:t>
                </a:r>
                <a:r>
                  <a:rPr lang="en-US" altLang="ko-KR" sz="2400" dirty="0" smtClean="0"/>
                  <a:t>t</a:t>
                </a:r>
                <a:r>
                  <a:rPr lang="ko-KR" altLang="en-US" sz="2400" dirty="0" smtClean="0"/>
                  <a:t>분포의 상위 </a:t>
                </a:r>
                <a:r>
                  <a:rPr lang="en-US" altLang="ko-KR" sz="2400" dirty="0" smtClean="0"/>
                  <a:t>0.10</a:t>
                </a:r>
                <a:r>
                  <a:rPr lang="ko-KR" altLang="en-US" sz="2400" dirty="0" smtClean="0"/>
                  <a:t>인 점은 부록 </a:t>
                </a:r>
                <a:r>
                  <a:rPr lang="en-US" altLang="ko-KR" sz="2400" dirty="0" smtClean="0"/>
                  <a:t>B</a:t>
                </a:r>
                <a:r>
                  <a:rPr lang="ko-KR" altLang="en-US" sz="2400" dirty="0" smtClean="0"/>
                  <a:t>의 표 </a:t>
                </a:r>
                <a:r>
                  <a:rPr lang="en-US" altLang="ko-KR" sz="2400" dirty="0" smtClean="0"/>
                  <a:t>4</a:t>
                </a:r>
                <a:r>
                  <a:rPr lang="ko-KR" altLang="en-US" sz="2400" dirty="0" smtClean="0"/>
                  <a:t>에 의해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altLang="ko-KR" sz="2400" b="0" i="0" dirty="0" smtClean="0">
                            <a:latin typeface="Cambria Math" panose="02040503050406030204" pitchFamily="18" charset="0"/>
                          </a:rPr>
                          <m:t>0.10</m:t>
                        </m:r>
                      </m:sub>
                    </m:sSub>
                    <m:r>
                      <a:rPr lang="en-US" altLang="ko-KR" sz="2400" b="0" i="0" dirty="0" smtClean="0">
                        <a:latin typeface="Cambria Math" panose="02040503050406030204" pitchFamily="18" charset="0"/>
                      </a:rPr>
                      <m:t>=1.476</m:t>
                    </m:r>
                  </m:oMath>
                </a14:m>
                <a:endParaRPr lang="en-US" altLang="ko-KR" sz="2400" dirty="0" smtClean="0"/>
              </a:p>
              <a:p>
                <a14:m>
                  <m:oMath xmlns:m="http://schemas.openxmlformats.org/officeDocument/2006/math">
                    <m:r>
                      <a:rPr lang="en-US" altLang="ko-KR" sz="24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sz="2400" dirty="0" smtClean="0"/>
                  <a:t>분포는 좌우 대칭이므로</a:t>
                </a:r>
                <a:r>
                  <a:rPr lang="en-US" altLang="ko-KR" sz="2400" dirty="0" smtClean="0"/>
                  <a:t>, </a:t>
                </a:r>
                <a:r>
                  <a:rPr lang="ko-KR" altLang="en-US" sz="2400" dirty="0" smtClean="0"/>
                  <a:t>하위 </a:t>
                </a:r>
                <a:r>
                  <a:rPr lang="en-US" altLang="ko-KR" sz="2400" dirty="0" smtClean="0"/>
                  <a:t>0.10</a:t>
                </a:r>
                <a:r>
                  <a:rPr lang="ko-KR" altLang="en-US" sz="2400" dirty="0" smtClean="0"/>
                  <a:t>인 점은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sz="240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altLang="ko-KR" sz="2400" b="0" i="0" dirty="0" smtClean="0">
                            <a:latin typeface="Cambria Math" panose="02040503050406030204" pitchFamily="18" charset="0"/>
                          </a:rPr>
                          <m:t>0.10</m:t>
                        </m:r>
                      </m:sub>
                    </m:sSub>
                    <m:r>
                      <a:rPr lang="en-US" altLang="ko-KR" sz="2400" b="0" i="0" dirty="0" smtClean="0">
                        <a:latin typeface="Cambria Math" panose="02040503050406030204" pitchFamily="18" charset="0"/>
                      </a:rPr>
                      <m:t>=−1.476</m:t>
                    </m:r>
                  </m:oMath>
                </a14:m>
                <a:endParaRPr lang="en-US" altLang="ko-KR" sz="2400" dirty="0" smtClean="0"/>
              </a:p>
              <a:p>
                <a:endParaRPr lang="ko-KR" altLang="en-US" dirty="0"/>
              </a:p>
            </p:txBody>
          </p:sp>
        </mc:Choice>
        <mc:Fallback xmlns="">
          <p:sp>
            <p:nvSpPr>
              <p:cNvPr id="6" name="내용 개체 틀 5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3"/>
                <a:stretch>
                  <a:fillRect l="-812" t="-1961" r="-243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표 6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97789560"/>
                  </p:ext>
                </p:extLst>
              </p:nvPr>
            </p:nvGraphicFramePr>
            <p:xfrm>
              <a:off x="7307109" y="4186177"/>
              <a:ext cx="3896763" cy="156619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298921"/>
                    <a:gridCol w="1298921"/>
                    <a:gridCol w="1298921"/>
                  </a:tblGrid>
                  <a:tr h="453679"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err="1" smtClean="0"/>
                            <a:t>d.f.</a:t>
                          </a:r>
                          <a:r>
                            <a:rPr lang="en-US" altLang="ko-KR" dirty="0" smtClean="0"/>
                            <a:t>       </a:t>
                          </a:r>
                          <a14:m>
                            <m:oMath xmlns:m="http://schemas.openxmlformats.org/officeDocument/2006/math">
                              <m:r>
                                <a:rPr lang="en-US" altLang="ko-KR" b="1" i="1" smtClean="0">
                                  <a:latin typeface="Cambria Math" panose="02040503050406030204" pitchFamily="18" charset="0"/>
                                </a:rPr>
                                <m:t>𝜶</m:t>
                              </m:r>
                            </m:oMath>
                          </a14:m>
                          <a:endParaRPr lang="ko-KR" altLang="en-US" dirty="0"/>
                        </a:p>
                      </a:txBody>
                      <a:tcPr>
                        <a:lnTlToB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lToBr>
                      </a:tcPr>
                    </a:tc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ko-KR" altLang="en-US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oMath>
                            </m:oMathPara>
                          </a14:m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.10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.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.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.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.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.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.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5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.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mtClean="0"/>
                            <a:t>1.476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표 6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97789560"/>
                  </p:ext>
                </p:extLst>
              </p:nvPr>
            </p:nvGraphicFramePr>
            <p:xfrm>
              <a:off x="7307109" y="4186177"/>
              <a:ext cx="3896763" cy="156619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298921"/>
                    <a:gridCol w="1298921"/>
                    <a:gridCol w="1298921"/>
                  </a:tblGrid>
                  <a:tr h="453679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lnTlToB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lToBr>
                        <a:blipFill rotWithShape="0">
                          <a:blip r:embed="rId4"/>
                          <a:stretch>
                            <a:fillRect l="-469" t="-6667" r="-202817" b="-26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100000" t="-6667" r="-101869" b="-26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.10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.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.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.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.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.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.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5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.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mtClean="0"/>
                            <a:t>1.476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</a:tbl>
              </a:graphicData>
            </a:graphic>
          </p:graphicFrame>
        </mc:Fallback>
      </mc:AlternateContent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2104767" y="3879415"/>
            <a:ext cx="3529913" cy="2169903"/>
          </a:xfrm>
          <a:prstGeom prst="rect">
            <a:avLst/>
          </a:prstGeom>
          <a:ln/>
        </p:spPr>
      </p:pic>
    </p:spTree>
    <p:extLst>
      <p:ext uri="{BB962C8B-B14F-4D97-AF65-F5344CB8AC3E}">
        <p14:creationId xmlns:p14="http://schemas.microsoft.com/office/powerpoint/2010/main" val="35370996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6920"/>
          </a:xfrm>
        </p:spPr>
        <p:txBody>
          <a:bodyPr/>
          <a:lstStyle/>
          <a:p>
            <a:r>
              <a:rPr lang="ko-KR" altLang="en-US" dirty="0" smtClean="0"/>
              <a:t>예제</a:t>
            </a:r>
            <a:r>
              <a:rPr lang="en-US" altLang="ko-KR" dirty="0" smtClean="0"/>
              <a:t>: </a:t>
            </a:r>
            <a:r>
              <a:rPr lang="ko-KR" altLang="en-US" dirty="0" smtClean="0"/>
              <a:t>확률이 </a:t>
            </a:r>
            <a:r>
              <a:rPr lang="en-US" altLang="ko-KR" dirty="0" smtClean="0"/>
              <a:t>0.90</a:t>
            </a:r>
            <a:r>
              <a:rPr lang="ko-KR" altLang="en-US" dirty="0" smtClean="0"/>
              <a:t>인 중심구간 결정</a:t>
            </a:r>
            <a:endParaRPr lang="ko-KR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41622"/>
                <a:ext cx="10515600" cy="4735341"/>
              </a:xfrm>
            </p:spPr>
            <p:txBody>
              <a:bodyPr>
                <a:normAutofit/>
              </a:bodyPr>
              <a:lstStyle/>
              <a:p>
                <a:r>
                  <a:rPr lang="ko-KR" altLang="en-US" sz="2400" dirty="0" smtClean="0"/>
                  <a:t>자유도 </a:t>
                </a:r>
                <a:r>
                  <a:rPr lang="en-US" altLang="ko-KR" sz="2400" dirty="0" smtClean="0"/>
                  <a:t>9</a:t>
                </a:r>
                <a:r>
                  <a:rPr lang="ko-KR" altLang="en-US" sz="2400" dirty="0" smtClean="0"/>
                  <a:t>인 </a:t>
                </a:r>
                <a14:m>
                  <m:oMath xmlns:m="http://schemas.openxmlformats.org/officeDocument/2006/math">
                    <m:r>
                      <a:rPr lang="en-US" altLang="ko-KR" sz="24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sz="2400" dirty="0" smtClean="0"/>
                  <a:t>분포에서</a:t>
                </a:r>
                <a:r>
                  <a:rPr lang="en-US" altLang="ko-KR" sz="2400" dirty="0" smtClean="0"/>
                  <a:t>, </a:t>
                </a:r>
                <a14:m>
                  <m:oMath xmlns:m="http://schemas.openxmlformats.org/officeDocument/2006/math"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=0.90</m:t>
                    </m:r>
                    <m:r>
                      <a:rPr lang="ko-KR" altLang="en-US" sz="2400" i="1">
                        <a:latin typeface="Cambria Math" panose="02040503050406030204" pitchFamily="18" charset="0"/>
                      </a:rPr>
                      <m:t>을</m:t>
                    </m:r>
                  </m:oMath>
                </a14:m>
                <a:r>
                  <a:rPr lang="ko-KR" altLang="en-US" sz="2400" dirty="0" smtClean="0"/>
                  <a:t> 만족하는 </a:t>
                </a:r>
                <a14:m>
                  <m:oMath xmlns:m="http://schemas.openxmlformats.org/officeDocument/2006/math">
                    <m:r>
                      <a:rPr lang="en-US" altLang="ko-KR" sz="2400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ko-KR" altLang="en-US" sz="2400" dirty="0" smtClean="0"/>
                  <a:t>값을 구하라</a:t>
                </a:r>
                <a:r>
                  <a:rPr lang="en-US" altLang="ko-KR" sz="2400" dirty="0" smtClean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ko-KR" altLang="en-US" sz="2400" dirty="0" smtClean="0"/>
                  <a:t>보다 클 확률과 </a:t>
                </a:r>
                <a14:m>
                  <m:oMath xmlns:m="http://schemas.openxmlformats.org/officeDocument/2006/math"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ko-KR" altLang="en-US" sz="2400" dirty="0" smtClean="0"/>
                  <a:t>보다 작을 확률이 각각 </a:t>
                </a:r>
                <a:r>
                  <a:rPr lang="en-US" altLang="ko-KR" sz="2400" dirty="0" smtClean="0"/>
                  <a:t>0.05</a:t>
                </a:r>
                <a:r>
                  <a:rPr lang="ko-KR" altLang="en-US" sz="2400" dirty="0" smtClean="0"/>
                  <a:t>이어야 함</a:t>
                </a:r>
                <a:endParaRPr lang="en-US" altLang="ko-KR" sz="2400" dirty="0" smtClean="0"/>
              </a:p>
              <a:p>
                <a:r>
                  <a:rPr lang="ko-KR" altLang="en-US" sz="2400" dirty="0" smtClean="0"/>
                  <a:t>그러므로 </a:t>
                </a:r>
                <a14:m>
                  <m:oMath xmlns:m="http://schemas.openxmlformats.org/officeDocument/2006/math"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ko-KR" altLang="en-US" sz="2400" dirty="0" smtClean="0"/>
                  <a:t>는 </a:t>
                </a:r>
                <a14:m>
                  <m:oMath xmlns:m="http://schemas.openxmlformats.org/officeDocument/2006/math">
                    <m:r>
                      <a:rPr lang="en-US" altLang="ko-KR" sz="24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sz="2400" dirty="0" smtClean="0"/>
                  <a:t>분포의 상위 </a:t>
                </a:r>
                <a14:m>
                  <m:oMath xmlns:m="http://schemas.openxmlformats.org/officeDocument/2006/math"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=0.05</m:t>
                    </m:r>
                  </m:oMath>
                </a14:m>
                <a:r>
                  <a:rPr lang="ko-KR" altLang="en-US" sz="2400" dirty="0" smtClean="0"/>
                  <a:t>인 점이 된다</a:t>
                </a:r>
                <a:r>
                  <a:rPr lang="en-US" altLang="ko-KR" sz="2400" dirty="0" smtClean="0"/>
                  <a:t>.</a:t>
                </a:r>
              </a:p>
              <a:p>
                <a:r>
                  <a:rPr lang="ko-KR" altLang="en-US" sz="2400" dirty="0" smtClean="0"/>
                  <a:t>부록 </a:t>
                </a:r>
                <a:r>
                  <a:rPr lang="en-US" altLang="ko-KR" sz="2400" dirty="0" smtClean="0"/>
                  <a:t>B</a:t>
                </a:r>
                <a:r>
                  <a:rPr lang="ko-KR" altLang="en-US" sz="2400" dirty="0" smtClean="0"/>
                  <a:t>의 표</a:t>
                </a:r>
                <a:r>
                  <a:rPr lang="en-US" altLang="ko-KR" sz="2400" dirty="0" smtClean="0"/>
                  <a:t>4</a:t>
                </a:r>
                <a:r>
                  <a:rPr lang="ko-KR" altLang="en-US" sz="2400" dirty="0" smtClean="0"/>
                  <a:t>에서 </a:t>
                </a:r>
                <a14:m>
                  <m:oMath xmlns:m="http://schemas.openxmlformats.org/officeDocument/2006/math"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=0.05</m:t>
                    </m:r>
                  </m:oMath>
                </a14:m>
                <a:r>
                  <a:rPr lang="ko-KR" altLang="en-US" sz="2400" dirty="0" smtClean="0"/>
                  <a:t>이고 </a:t>
                </a:r>
                <a:r>
                  <a:rPr lang="en-US" altLang="ko-KR" sz="2400" dirty="0" err="1" smtClean="0"/>
                  <a:t>d.f.</a:t>
                </a:r>
                <a:r>
                  <a:rPr lang="en-US" altLang="ko-KR" sz="2400" dirty="0" smtClean="0"/>
                  <a:t>=9</a:t>
                </a:r>
                <a:r>
                  <a:rPr lang="ko-KR" altLang="en-US" sz="2400" dirty="0" smtClean="0"/>
                  <a:t>에 해당하는 값은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0.05</m:t>
                        </m:r>
                      </m:sub>
                    </m:sSub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=1.833</m:t>
                    </m:r>
                  </m:oMath>
                </a14:m>
                <a:endParaRPr lang="en-US" altLang="ko-KR" sz="2400" dirty="0" smtClean="0"/>
              </a:p>
              <a:p>
                <a:r>
                  <a:rPr lang="ko-KR" altLang="en-US" sz="2400" dirty="0" smtClean="0"/>
                  <a:t>따라서 </a:t>
                </a:r>
                <a14:m>
                  <m:oMath xmlns:m="http://schemas.openxmlformats.org/officeDocument/2006/math">
                    <m:r>
                      <a:rPr lang="en-US" altLang="ko-KR" sz="2400" i="1" dirty="0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altLang="ko-KR" sz="2400" i="1" dirty="0" smtClean="0">
                        <a:latin typeface="Cambria Math" panose="02040503050406030204" pitchFamily="18" charset="0"/>
                      </a:rPr>
                      <m:t>=1.833</m:t>
                    </m:r>
                  </m:oMath>
                </a14:m>
                <a:endParaRPr lang="ko-KR" altLang="en-US" sz="2400" dirty="0"/>
              </a:p>
            </p:txBody>
          </p:sp>
        </mc:Choice>
        <mc:Fallback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41622"/>
                <a:ext cx="10515600" cy="4735341"/>
              </a:xfrm>
              <a:blipFill rotWithShape="0">
                <a:blip r:embed="rId2"/>
                <a:stretch>
                  <a:fillRect l="-812" t="-167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3674076" y="3322862"/>
            <a:ext cx="5257071" cy="2973677"/>
          </a:xfrm>
          <a:prstGeom prst="rect">
            <a:avLst/>
          </a:prstGeom>
          <a:ln/>
        </p:spPr>
      </p:pic>
    </p:spTree>
    <p:extLst>
      <p:ext uri="{BB962C8B-B14F-4D97-AF65-F5344CB8AC3E}">
        <p14:creationId xmlns:p14="http://schemas.microsoft.com/office/powerpoint/2010/main" val="7885859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제목 1"/>
              <p:cNvSpPr>
                <a:spLocks noGrp="1"/>
              </p:cNvSpPr>
              <p:nvPr>
                <p:ph type="title"/>
              </p:nvPr>
            </p:nvSpPr>
            <p:spPr>
              <a:xfrm>
                <a:off x="838200" y="365126"/>
                <a:ext cx="10515600" cy="1027070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ko-KR" altLang="en-US" dirty="0" smtClean="0"/>
                  <a:t>에 관한 추론 </a:t>
                </a:r>
                <a:r>
                  <a:rPr lang="en-US" altLang="ko-KR" dirty="0" smtClean="0"/>
                  <a:t>- </a:t>
                </a:r>
                <a:r>
                  <a:rPr lang="ko-KR" altLang="en-US" dirty="0" err="1" smtClean="0"/>
                  <a:t>소표본</a:t>
                </a:r>
                <a:endParaRPr lang="ko-KR" altLang="en-US" dirty="0"/>
              </a:p>
            </p:txBody>
          </p:sp>
        </mc:Choice>
        <mc:Fallback>
          <p:sp>
            <p:nvSpPr>
              <p:cNvPr id="2" name="제목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8200" y="365126"/>
                <a:ext cx="10515600" cy="1027070"/>
              </a:xfrm>
              <a:blipFill rotWithShape="0">
                <a:blip r:embed="rId2"/>
                <a:stretch>
                  <a:fillRect t="-2381" b="-125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91049"/>
                <a:ext cx="10515600" cy="4685914"/>
              </a:xfrm>
            </p:spPr>
            <p:txBody>
              <a:bodyPr>
                <a:normAutofit/>
              </a:bodyPr>
              <a:lstStyle/>
              <a:p>
                <a:r>
                  <a:rPr lang="ko-KR" altLang="en-US" sz="2400" dirty="0" smtClean="0"/>
                  <a:t>앞에서의</a:t>
                </a:r>
                <a:r>
                  <a:rPr lang="en-US" altLang="ko-KR" sz="2400" dirty="0" smtClean="0"/>
                  <a:t/>
                </a:r>
                <a:br>
                  <a:rPr lang="en-US" altLang="ko-KR" sz="2400" dirty="0" smtClean="0"/>
                </a:br>
                <a14:m>
                  <m:oMath xmlns:m="http://schemas.openxmlformats.org/officeDocument/2006/math"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acc>
                          <m:accPr>
                            <m:chr m:val="̅"/>
                            <m:ctrlP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acc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num>
                      <m:den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/</m:t>
                        </m:r>
                        <m:rad>
                          <m:radPr>
                            <m:degHide m:val="on"/>
                            <m:ctrlP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rad>
                      </m:den>
                    </m:f>
                  </m:oMath>
                </a14:m>
                <a:r>
                  <a:rPr lang="en-US" altLang="ko-KR" sz="2400" dirty="0" smtClean="0"/>
                  <a:t/>
                </a:r>
                <a:br>
                  <a:rPr lang="en-US" altLang="ko-KR" sz="2400" dirty="0" smtClean="0"/>
                </a:br>
                <a14:m>
                  <m:oMath xmlns:m="http://schemas.openxmlformats.org/officeDocument/2006/math">
                    <m:r>
                      <a:rPr lang="ko-KR" altLang="en-US" sz="2400" i="1" dirty="0">
                        <a:latin typeface="Cambria Math" panose="02040503050406030204" pitchFamily="18" charset="0"/>
                      </a:rPr>
                      <m:t>의</m:t>
                    </m:r>
                  </m:oMath>
                </a14:m>
                <a:r>
                  <a:rPr lang="en-US" altLang="ko-KR" sz="2400" dirty="0" smtClean="0"/>
                  <a:t> </a:t>
                </a:r>
                <a:r>
                  <a:rPr lang="ko-KR" altLang="en-US" sz="2400" dirty="0" smtClean="0"/>
                  <a:t>분포는 정규모집단의 평균 </a:t>
                </a:r>
                <a14:m>
                  <m:oMath xmlns:m="http://schemas.openxmlformats.org/officeDocument/2006/math"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ko-KR" altLang="en-US" sz="2400" dirty="0" smtClean="0"/>
                  <a:t>의 신뢰구간을 결정하는 실마리를 제공</a:t>
                </a:r>
                <a:r>
                  <a:rPr lang="en-US" altLang="ko-KR" sz="2400" dirty="0" smtClean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100</m:t>
                    </m:r>
                    <m:d>
                      <m:d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</m:d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%</m:t>
                    </m:r>
                  </m:oMath>
                </a14:m>
                <a:r>
                  <a:rPr lang="ko-KR" altLang="en-US" sz="2400" dirty="0" smtClean="0"/>
                  <a:t> 신뢰구간을 구하기 위해서는 </a:t>
                </a:r>
                <a14:m>
                  <m:oMath xmlns:m="http://schemas.openxmlformats.org/officeDocument/2006/math">
                    <m:r>
                      <a:rPr lang="en-US" altLang="ko-KR" sz="24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sz="2400" dirty="0" smtClean="0"/>
                  <a:t>분포표</a:t>
                </a:r>
                <a:r>
                  <a:rPr lang="en-US" altLang="ko-KR" sz="2400" dirty="0" smtClean="0"/>
                  <a:t>(</a:t>
                </a:r>
                <a:r>
                  <a:rPr lang="ko-KR" altLang="en-US" sz="2400" dirty="0" smtClean="0"/>
                  <a:t>부록 </a:t>
                </a:r>
                <a:r>
                  <a:rPr lang="en-US" altLang="ko-KR" sz="2400" dirty="0" smtClean="0"/>
                  <a:t>B</a:t>
                </a:r>
                <a:r>
                  <a:rPr lang="ko-KR" altLang="en-US" sz="2400" dirty="0" smtClean="0"/>
                  <a:t>의 표</a:t>
                </a:r>
                <a:r>
                  <a:rPr lang="en-US" altLang="ko-KR" sz="2400" dirty="0" smtClean="0"/>
                  <a:t>4)</a:t>
                </a:r>
                <a:r>
                  <a:rPr lang="ko-KR" altLang="en-US" sz="2400" dirty="0" smtClean="0"/>
                  <a:t>에서 자유도가 </a:t>
                </a:r>
                <a14:m>
                  <m:oMath xmlns:m="http://schemas.openxmlformats.org/officeDocument/2006/math">
                    <m:r>
                      <a:rPr lang="en-US" altLang="ko-KR" sz="2400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altLang="ko-KR" sz="2400" i="1" dirty="0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ko-KR" altLang="en-US" sz="2400" dirty="0" smtClean="0"/>
                  <a:t>인 </a:t>
                </a:r>
                <a14:m>
                  <m:oMath xmlns:m="http://schemas.openxmlformats.org/officeDocument/2006/math">
                    <m:r>
                      <a:rPr lang="en-US" altLang="ko-KR" sz="24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sz="2400" dirty="0" smtClean="0"/>
                  <a:t>분포의 상위 </a:t>
                </a:r>
                <a14:m>
                  <m:oMath xmlns:m="http://schemas.openxmlformats.org/officeDocument/2006/math"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/2</m:t>
                    </m:r>
                  </m:oMath>
                </a14:m>
                <a:r>
                  <a:rPr lang="ko-KR" altLang="en-US" sz="2400" dirty="0" smtClean="0"/>
                  <a:t>인 점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altLang="ko-KR" sz="2400" b="0" i="1" dirty="0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n-US" altLang="ko-KR" sz="2400" b="0" i="1" dirty="0" smtClean="0">
                            <a:latin typeface="Cambria Math" panose="02040503050406030204" pitchFamily="18" charset="0"/>
                          </a:rPr>
                          <m:t>/2</m:t>
                        </m:r>
                      </m:sub>
                    </m:sSub>
                    <m:r>
                      <a:rPr lang="ko-KR" altLang="en-US" sz="2400" i="1" dirty="0">
                        <a:latin typeface="Cambria Math" panose="02040503050406030204" pitchFamily="18" charset="0"/>
                      </a:rPr>
                      <m:t>를</m:t>
                    </m:r>
                  </m:oMath>
                </a14:m>
                <a:r>
                  <a:rPr lang="en-US" altLang="ko-KR" sz="2400" dirty="0" smtClean="0"/>
                  <a:t> </a:t>
                </a:r>
                <a:r>
                  <a:rPr lang="ko-KR" altLang="en-US" sz="2400" dirty="0" smtClean="0"/>
                  <a:t>구해야 함</a:t>
                </a:r>
                <a:r>
                  <a:rPr lang="en-US" altLang="ko-KR" sz="2400" dirty="0" smtClean="0"/>
                  <a:t>.</a:t>
                </a:r>
              </a:p>
            </p:txBody>
          </p:sp>
        </mc:Choice>
        <mc:Fallback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91049"/>
                <a:ext cx="10515600" cy="4685914"/>
              </a:xfrm>
              <a:blipFill rotWithShape="0">
                <a:blip r:embed="rId3"/>
                <a:stretch>
                  <a:fillRect l="-812" t="-182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4011827" y="3760648"/>
            <a:ext cx="4219316" cy="2631913"/>
          </a:xfrm>
          <a:prstGeom prst="rect">
            <a:avLst/>
          </a:prstGeom>
          <a:ln/>
        </p:spPr>
      </p:pic>
    </p:spTree>
    <p:extLst>
      <p:ext uri="{BB962C8B-B14F-4D97-AF65-F5344CB8AC3E}">
        <p14:creationId xmlns:p14="http://schemas.microsoft.com/office/powerpoint/2010/main" val="26310894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제목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ko-KR" altLang="en-US" spc="-150" dirty="0" smtClean="0"/>
                  <a:t>정규모집단 평균의 </a:t>
                </a:r>
                <a14:m>
                  <m:oMath xmlns:m="http://schemas.openxmlformats.org/officeDocument/2006/math">
                    <m:r>
                      <a:rPr lang="en-US" altLang="ko-KR" b="0" i="1" spc="-150" smtClean="0">
                        <a:latin typeface="Cambria Math" panose="02040503050406030204" pitchFamily="18" charset="0"/>
                      </a:rPr>
                      <m:t>100</m:t>
                    </m:r>
                    <m:d>
                      <m:dPr>
                        <m:ctrlPr>
                          <a:rPr lang="en-US" altLang="ko-KR" b="0" i="1" spc="-15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0" i="1" spc="-150" smtClean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altLang="ko-KR" b="0" i="1" spc="-150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</m:d>
                    <m:r>
                      <a:rPr lang="en-US" altLang="ko-KR" b="0" i="1" spc="-150" smtClean="0">
                        <a:latin typeface="Cambria Math" panose="02040503050406030204" pitchFamily="18" charset="0"/>
                      </a:rPr>
                      <m:t>%</m:t>
                    </m:r>
                  </m:oMath>
                </a14:m>
                <a:r>
                  <a:rPr lang="ko-KR" altLang="en-US" spc="-150" dirty="0" smtClean="0"/>
                  <a:t> 신뢰구간 </a:t>
                </a:r>
                <a:endParaRPr lang="ko-KR" altLang="en-US" spc="-150" dirty="0"/>
              </a:p>
            </p:txBody>
          </p:sp>
        </mc:Choice>
        <mc:Fallback xmlns="">
          <p:sp>
            <p:nvSpPr>
              <p:cNvPr id="2" name="제목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 rotWithShape="0">
                <a:blip r:embed="rId2"/>
                <a:stretch>
                  <a:fillRect l="-2377" r="-17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acc>
                          <m:accPr>
                            <m:chr m:val="̅"/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acc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num>
                      <m:den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/</m:t>
                        </m:r>
                        <m:rad>
                          <m:radPr>
                            <m:degHide m:val="on"/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rad>
                      </m:den>
                    </m:f>
                  </m:oMath>
                </a14:m>
                <a:r>
                  <a:rPr lang="ko-KR" altLang="en-US" sz="2000" dirty="0" smtClean="0"/>
                  <a:t>이 자유도가 </a:t>
                </a:r>
                <a:r>
                  <a:rPr lang="en-US" altLang="ko-KR" sz="2000" dirty="0" smtClean="0"/>
                  <a:t>n-1</a:t>
                </a:r>
                <a:r>
                  <a:rPr lang="ko-KR" altLang="en-US" sz="2000" dirty="0" smtClean="0"/>
                  <a:t>인 </a:t>
                </a:r>
                <a:r>
                  <a:rPr lang="en-US" altLang="ko-KR" sz="2000" dirty="0" smtClean="0"/>
                  <a:t>t</a:t>
                </a:r>
                <a:r>
                  <a:rPr lang="ko-KR" altLang="en-US" sz="2000" dirty="0" smtClean="0"/>
                  <a:t>분포를 따르므로</a:t>
                </a:r>
                <a:r>
                  <a:rPr lang="en-US" altLang="ko-KR" sz="2000" dirty="0" smtClean="0"/>
                  <a:t/>
                </a:r>
                <a:br>
                  <a:rPr lang="en-US" altLang="ko-KR" sz="2000" dirty="0" smtClean="0"/>
                </a:b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1−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f>
                              <m:fPr>
                                <m:type m:val="lin"/>
                                <m:ctrlPr>
                                  <a:rPr lang="en-US" altLang="ko-KR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ko-KR" sz="1600" b="0" i="1" smtClean="0"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num>
                              <m:den>
                                <m:r>
                                  <a:rPr lang="en-US" altLang="ko-KR" sz="16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sub>
                        </m:s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&lt;</m:t>
                        </m:r>
                        <m:f>
                          <m:f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acc>
                              <m:accPr>
                                <m:chr m:val="̅"/>
                                <m:ctrlPr>
                                  <a:rPr lang="en-US" altLang="ko-KR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ko-KR" sz="16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</m:acc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𝜇</m:t>
                            </m:r>
                          </m:num>
                          <m:den>
                            <m:f>
                              <m:fPr>
                                <m:type m:val="lin"/>
                                <m:ctrlPr>
                                  <a:rPr lang="en-US" altLang="ko-KR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ko-KR" sz="1600" b="0" i="1" smtClean="0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rad>
                              </m:den>
                            </m:f>
                          </m:den>
                        </m:f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&lt;</m:t>
                        </m:r>
                        <m:sSub>
                          <m:sSub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f>
                              <m:fPr>
                                <m:type m:val="lin"/>
                                <m:ctrlPr>
                                  <a:rPr lang="en-US" altLang="ko-KR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ko-KR" sz="1600" b="0" i="1" smtClean="0"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num>
                              <m:den>
                                <m:r>
                                  <a:rPr lang="en-US" altLang="ko-KR" sz="16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sub>
                        </m:sSub>
                      </m:e>
                    </m:d>
                  </m:oMath>
                </a14:m>
                <a:r>
                  <a:rPr lang="en-US" altLang="ko-KR" sz="1600" b="0" dirty="0" smtClean="0"/>
                  <a:t/>
                </a:r>
                <a:br>
                  <a:rPr lang="en-US" altLang="ko-KR" sz="1600" b="0" dirty="0" smtClean="0"/>
                </a:b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ko-KR" sz="1600" b="0" dirty="0" smtClean="0"/>
                  <a:t/>
                </a:r>
                <a:br>
                  <a:rPr lang="en-US" altLang="ko-KR" sz="1600" b="0" dirty="0" smtClean="0"/>
                </a:br>
                <a14:m>
                  <m:oMath xmlns:m="http://schemas.openxmlformats.org/officeDocument/2006/math">
                    <m:r>
                      <a:rPr lang="en-US" altLang="ko-KR" sz="1600" b="0" i="0" smtClean="0">
                        <a:latin typeface="Cambria Math" panose="02040503050406030204" pitchFamily="18" charset="0"/>
                      </a:rPr>
                      <m:t>           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 =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f>
                              <m:fPr>
                                <m:type m:val="lin"/>
                                <m:ctrlPr>
                                  <a:rPr lang="en-US" altLang="ko-KR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ko-KR" sz="1600" b="0" i="1" smtClean="0"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num>
                              <m:den>
                                <m:r>
                                  <a:rPr lang="en-US" altLang="ko-KR" sz="16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sub>
                        </m:s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&lt;</m:t>
                        </m:r>
                        <m:acc>
                          <m:accPr>
                            <m:chr m:val="̅"/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acc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&lt;</m:t>
                        </m:r>
                        <m:sSub>
                          <m:sSub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f>
                              <m:fPr>
                                <m:type m:val="lin"/>
                                <m:ctrlPr>
                                  <a:rPr lang="en-US" altLang="ko-KR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ko-KR" sz="1600" b="0" i="1" smtClean="0"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num>
                              <m:den>
                                <m:r>
                                  <a:rPr lang="en-US" altLang="ko-KR" sz="16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sub>
                        </m:sSub>
                        <m:f>
                          <m:f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altLang="ko-KR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US" altLang="ko-KR" sz="16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rad>
                          </m:den>
                        </m:f>
                      </m:e>
                    </m:d>
                  </m:oMath>
                </a14:m>
                <a:r>
                  <a:rPr lang="en-US" altLang="ko-KR" sz="2400" dirty="0" smtClean="0"/>
                  <a:t/>
                </a:r>
                <a:br>
                  <a:rPr lang="en-US" altLang="ko-KR" sz="2400" dirty="0" smtClean="0"/>
                </a:br>
                <a:r>
                  <a:rPr lang="en-US" altLang="ko-KR" sz="2400" dirty="0" smtClean="0"/>
                  <a:t/>
                </a:r>
                <a:br>
                  <a:rPr lang="en-US" altLang="ko-KR" sz="2400" dirty="0" smtClean="0"/>
                </a:br>
                <a:r>
                  <a:rPr lang="ko-KR" altLang="en-US" sz="2000" dirty="0" smtClean="0"/>
                  <a:t>이 성립</a:t>
                </a:r>
                <a:r>
                  <a:rPr lang="en-US" altLang="ko-KR" sz="2000" dirty="0" smtClean="0"/>
                  <a:t>. </a:t>
                </a:r>
                <a:r>
                  <a:rPr lang="ko-KR" altLang="en-US" sz="2000" dirty="0" smtClean="0"/>
                  <a:t>신뢰구간을 구하기 위해 괄호 안의 식을 </a:t>
                </a:r>
                <a14:m>
                  <m:oMath xmlns:m="http://schemas.openxmlformats.org/officeDocument/2006/math"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ko-KR" altLang="en-US" sz="2000" dirty="0" smtClean="0"/>
                  <a:t>에 관해 정리</a:t>
                </a:r>
                <a:r>
                  <a:rPr lang="en-US" altLang="ko-KR" sz="2000" dirty="0" smtClean="0"/>
                  <a:t/>
                </a:r>
                <a:br>
                  <a:rPr lang="en-US" altLang="ko-KR" sz="2000" dirty="0" smtClean="0"/>
                </a:br>
                <a:endParaRPr lang="en-US" altLang="ko-KR" sz="2000" dirty="0" smtClean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ko-KR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̅"/>
                              <m:ctrlPr>
                                <a:rPr lang="en-US" altLang="ko-KR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18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acc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ko-KR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8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f>
                                <m:fPr>
                                  <m:type m:val="lin"/>
                                  <m:ctrlPr>
                                    <a:rPr lang="en-US" altLang="ko-K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ko-KR" sz="1800" b="0" i="1" smtClean="0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num>
                                <m:den>
                                  <m:r>
                                    <a:rPr lang="en-US" altLang="ko-KR" sz="1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sub>
                          </m:sSub>
                          <m:f>
                            <m:fPr>
                              <m:ctrlPr>
                                <a:rPr lang="en-US" altLang="ko-KR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ko-KR" sz="1800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altLang="ko-K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altLang="ko-KR" sz="18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rad>
                            </m:den>
                          </m:f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acc>
                            <m:accPr>
                              <m:chr m:val="̅"/>
                              <m:ctrlPr>
                                <a:rPr lang="en-US" altLang="ko-KR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18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acc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ko-KR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8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f>
                                <m:fPr>
                                  <m:type m:val="lin"/>
                                  <m:ctrlPr>
                                    <a:rPr lang="en-US" altLang="ko-K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ko-KR" sz="1800" b="0" i="1" smtClean="0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num>
                                <m:den>
                                  <m:r>
                                    <a:rPr lang="en-US" altLang="ko-KR" sz="1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sub>
                          </m:sSub>
                          <m:f>
                            <m:fPr>
                              <m:ctrlPr>
                                <a:rPr lang="en-US" altLang="ko-KR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ko-KR" sz="1800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altLang="ko-K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altLang="ko-KR" sz="18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rad>
                            </m:den>
                          </m:f>
                        </m:e>
                      </m:d>
                      <m:r>
                        <a:rPr lang="en-US" altLang="ko-KR" sz="1800" b="0" i="1" smtClean="0">
                          <a:latin typeface="Cambria Math" panose="02040503050406030204" pitchFamily="18" charset="0"/>
                        </a:rPr>
                        <m:t>=1−</m:t>
                      </m:r>
                      <m:r>
                        <a:rPr lang="en-US" altLang="ko-KR" sz="1800" b="0" i="1" smtClean="0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altLang="ko-KR" sz="2400" dirty="0" smtClean="0"/>
              </a:p>
              <a:p>
                <a:r>
                  <a:rPr lang="ko-KR" altLang="en-US" sz="2000" dirty="0" smtClean="0"/>
                  <a:t>따라서 </a:t>
                </a:r>
                <a:r>
                  <a:rPr lang="ko-KR" altLang="en-US" sz="2000" spc="-150" dirty="0" smtClean="0"/>
                  <a:t>정규모집단 평균의 </a:t>
                </a:r>
                <a14:m>
                  <m:oMath xmlns:m="http://schemas.openxmlformats.org/officeDocument/2006/math">
                    <m:r>
                      <a:rPr lang="en-US" altLang="ko-KR" sz="2000" b="0" i="1" spc="-150" smtClean="0">
                        <a:latin typeface="Cambria Math" panose="02040503050406030204" pitchFamily="18" charset="0"/>
                      </a:rPr>
                      <m:t>100</m:t>
                    </m:r>
                    <m:d>
                      <m:dPr>
                        <m:ctrlPr>
                          <a:rPr lang="en-US" altLang="ko-KR" sz="2000" b="0" i="1" spc="-15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000" b="0" i="1" spc="-150" smtClean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altLang="ko-KR" sz="2000" b="0" i="1" spc="-150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</m:d>
                    <m:r>
                      <a:rPr lang="en-US" altLang="ko-KR" sz="2000" b="0" i="1" spc="-150" smtClean="0">
                        <a:latin typeface="Cambria Math" panose="02040503050406030204" pitchFamily="18" charset="0"/>
                      </a:rPr>
                      <m:t>%</m:t>
                    </m:r>
                  </m:oMath>
                </a14:m>
                <a:r>
                  <a:rPr lang="ko-KR" altLang="en-US" sz="2000" spc="-150" dirty="0" smtClean="0"/>
                  <a:t> 신뢰구간은</a:t>
                </a:r>
                <a:r>
                  <a:rPr lang="en-US" altLang="ko-KR" sz="2000" spc="-150" dirty="0" smtClean="0"/>
                  <a:t/>
                </a:r>
                <a:br>
                  <a:rPr lang="en-US" altLang="ko-KR" sz="2000" spc="-150" dirty="0" smtClean="0"/>
                </a:br>
                <a:r>
                  <a:rPr lang="en-US" altLang="ko-KR" sz="2000" spc="-150" dirty="0" smtClean="0"/>
                  <a:t/>
                </a:r>
                <a:br>
                  <a:rPr lang="en-US" altLang="ko-KR" sz="2000" spc="-150" dirty="0" smtClean="0"/>
                </a:br>
                <a14:m>
                  <m:oMath xmlns:m="http://schemas.openxmlformats.org/officeDocument/2006/math">
                    <m:d>
                      <m:d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acc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f>
                              <m:fPr>
                                <m:type m:val="lin"/>
                                <m:ctrlP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num>
                              <m:den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sub>
                        </m:sSub>
                        <m:f>
                          <m:fPr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rad>
                          </m:den>
                        </m:f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,  </m:t>
                        </m:r>
                        <m:acc>
                          <m:accPr>
                            <m:chr m:val="̅"/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acc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f>
                              <m:fPr>
                                <m:type m:val="lin"/>
                                <m:ctrlP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num>
                              <m:den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sub>
                        </m:sSub>
                        <m:f>
                          <m:fPr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rad>
                          </m:den>
                        </m:f>
                      </m:e>
                    </m:d>
                  </m:oMath>
                </a14:m>
                <a:r>
                  <a:rPr lang="en-US" altLang="ko-KR" sz="2000" dirty="0" smtClean="0"/>
                  <a:t/>
                </a:r>
                <a:br>
                  <a:rPr lang="en-US" altLang="ko-KR" sz="2000" dirty="0" smtClean="0"/>
                </a:br>
                <a:endParaRPr lang="ko-KR" altLang="en-US" sz="2000" dirty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3"/>
                <a:stretch>
                  <a:fillRect l="-522" b="-196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207631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신뢰구간의 의미</a:t>
            </a:r>
            <a:endParaRPr lang="ko-KR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내용 개체 틀 2"/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199" y="1825625"/>
                <a:ext cx="7259595" cy="4351338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ko-KR" altLang="en-US" sz="2400" dirty="0" smtClean="0"/>
                  <a:t>정규모집단에서 </a:t>
                </a:r>
                <a:r>
                  <a:rPr lang="en-US" altLang="ko-KR" sz="2400" dirty="0" smtClean="0"/>
                  <a:t>n</a:t>
                </a:r>
                <a:r>
                  <a:rPr lang="ko-KR" altLang="en-US" sz="2400" dirty="0" smtClean="0"/>
                  <a:t>을 반복해서 추출하여 각 구간의 </a:t>
                </a:r>
                <a:r>
                  <a:rPr lang="en-US" altLang="ko-KR" sz="2400" dirty="0" smtClean="0"/>
                  <a:t/>
                </a:r>
                <a:br>
                  <a:rPr lang="en-US" altLang="ko-KR" sz="2400" dirty="0" smtClean="0"/>
                </a:br>
                <a14:m>
                  <m:oMath xmlns:m="http://schemas.openxmlformats.org/officeDocument/2006/math">
                    <m:d>
                      <m:d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f>
                              <m:fPr>
                                <m:type m:val="lin"/>
                                <m:ctrlPr>
                                  <a:rPr lang="en-US" altLang="ko-KR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ko-KR" sz="2400" b="0" i="1" smtClean="0"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num>
                              <m:den>
                                <m:r>
                                  <a:rPr lang="en-US" altLang="ko-KR" sz="2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sub>
                        </m:sSub>
                        <m:f>
                          <m:fPr>
                            <m:type m:val="lin"/>
                            <m:ctrlP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altLang="ko-KR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US" altLang="ko-KR" sz="24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rad>
                          </m:den>
                        </m:f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,  </m:t>
                        </m:r>
                        <m:acc>
                          <m:accPr>
                            <m:chr m:val="̅"/>
                            <m:ctrlP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f>
                              <m:fPr>
                                <m:type m:val="lin"/>
                                <m:ctrlPr>
                                  <a:rPr lang="en-US" altLang="ko-KR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ko-KR" sz="2400" b="0" i="1" smtClean="0"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num>
                              <m:den>
                                <m:r>
                                  <a:rPr lang="en-US" altLang="ko-KR" sz="2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sub>
                        </m:sSub>
                        <m:f>
                          <m:fPr>
                            <m:type m:val="lin"/>
                            <m:ctrlP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altLang="ko-KR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US" altLang="ko-KR" sz="24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rad>
                          </m:den>
                        </m:f>
                      </m:e>
                    </m:d>
                    <m:r>
                      <a:rPr lang="ko-KR" altLang="en-US" sz="2400" i="1">
                        <a:latin typeface="Cambria Math" panose="02040503050406030204" pitchFamily="18" charset="0"/>
                      </a:rPr>
                      <m:t>을</m:t>
                    </m:r>
                  </m:oMath>
                </a14:m>
                <a:r>
                  <a:rPr lang="ko-KR" altLang="en-US" sz="2400" dirty="0" smtClean="0"/>
                  <a:t> 계산한다고 </a:t>
                </a:r>
                <a:r>
                  <a:rPr lang="ko-KR" altLang="en-US" sz="2400" dirty="0" smtClean="0"/>
                  <a:t>생각</a:t>
                </a:r>
                <a:endParaRPr lang="en-US" altLang="ko-KR" sz="2400" dirty="0" smtClean="0"/>
              </a:p>
              <a:p>
                <a:pPr lvl="1"/>
                <a:endParaRPr lang="en-US" altLang="ko-KR" sz="2000" dirty="0" smtClean="0"/>
              </a:p>
              <a:p>
                <a:pPr lvl="1"/>
                <a:r>
                  <a:rPr lang="ko-KR" altLang="en-US" sz="2000" dirty="0" smtClean="0"/>
                  <a:t>구간은 중심이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ko-KR" altLang="en-US" sz="20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ko-KR" altLang="en-US" sz="2000" dirty="0" smtClean="0"/>
                  <a:t>이고</a:t>
                </a:r>
                <a:r>
                  <a:rPr lang="en-US" altLang="ko-KR" sz="2000" dirty="0" smtClean="0"/>
                  <a:t>, </a:t>
                </a:r>
                <a:r>
                  <a:rPr lang="ko-KR" altLang="en-US" sz="2000" dirty="0" smtClean="0"/>
                  <a:t>그 중심은 표본에 따라 </a:t>
                </a:r>
                <a:r>
                  <a:rPr lang="ko-KR" altLang="en-US" sz="2000" dirty="0" smtClean="0"/>
                  <a:t>변함</a:t>
                </a:r>
                <a:endParaRPr lang="en-US" altLang="ko-KR" sz="2000" dirty="0" smtClean="0"/>
              </a:p>
              <a:p>
                <a:pPr lvl="1"/>
                <a:endParaRPr lang="en-US" altLang="ko-KR" sz="2000" dirty="0" smtClean="0"/>
              </a:p>
              <a:p>
                <a:pPr lvl="1"/>
                <a:r>
                  <a:rPr lang="ko-KR" altLang="en-US" sz="2000" dirty="0" smtClean="0"/>
                  <a:t>구간의 길이 </a:t>
                </a:r>
                <a14:m>
                  <m:oMath xmlns:m="http://schemas.openxmlformats.org/officeDocument/2006/math">
                    <m:r>
                      <a:rPr lang="en-US" altLang="ko-KR" sz="2000" b="0" i="0" smtClean="0">
                        <a:latin typeface="Cambria Math" panose="02040503050406030204" pitchFamily="18" charset="0"/>
                      </a:rPr>
                      <m:t>2</m:t>
                    </m:r>
                    <m:sSub>
                      <m:sSub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/2</m:t>
                        </m:r>
                      </m:sub>
                    </m:sSub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/</m:t>
                    </m:r>
                    <m:rad>
                      <m:radPr>
                        <m:degHide m:val="on"/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rad>
                  </m:oMath>
                </a14:m>
                <a:r>
                  <a:rPr lang="ko-KR" altLang="en-US" sz="2000" dirty="0" smtClean="0"/>
                  <a:t> 역시 표본표준편차 </a:t>
                </a:r>
                <a14:m>
                  <m:oMath xmlns:m="http://schemas.openxmlformats.org/officeDocument/2006/math"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ko-KR" altLang="en-US" sz="2000" i="1">
                        <a:latin typeface="Cambria Math" panose="02040503050406030204" pitchFamily="18" charset="0"/>
                      </a:rPr>
                      <m:t>의</m:t>
                    </m:r>
                  </m:oMath>
                </a14:m>
                <a:r>
                  <a:rPr lang="ko-KR" altLang="en-US" sz="2000" dirty="0" smtClean="0"/>
                  <a:t> 다양성 때문에 표본에 따라 </a:t>
                </a:r>
                <a:r>
                  <a:rPr lang="ko-KR" altLang="en-US" sz="2000" dirty="0" smtClean="0"/>
                  <a:t>변함</a:t>
                </a:r>
                <a:endParaRPr lang="en-US" altLang="ko-KR" sz="2000" dirty="0" smtClean="0"/>
              </a:p>
              <a:p>
                <a:pPr lvl="1"/>
                <a:endParaRPr lang="en-US" altLang="ko-KR" sz="2000" dirty="0" smtClean="0"/>
              </a:p>
              <a:p>
                <a:pPr lvl="1"/>
                <a:r>
                  <a:rPr lang="ko-KR" altLang="en-US" sz="2000" dirty="0" smtClean="0"/>
                  <a:t>반복추출에서 구간들의 중심과 길이는 </a:t>
                </a:r>
                <a:r>
                  <a:rPr lang="ko-KR" altLang="en-US" sz="2000" dirty="0" smtClean="0"/>
                  <a:t>변수</a:t>
                </a:r>
                <a:endParaRPr lang="en-US" altLang="ko-KR" sz="2000" dirty="0" smtClean="0"/>
              </a:p>
              <a:p>
                <a:pPr lvl="1"/>
                <a:endParaRPr lang="en-US" altLang="ko-KR" sz="2000" dirty="0" smtClean="0"/>
              </a:p>
              <a:p>
                <a:pPr lvl="1"/>
                <a:r>
                  <a:rPr lang="ko-KR" altLang="en-US" sz="2000" dirty="0" smtClean="0"/>
                  <a:t>만일 표본추출을 많이 반복하면 이렇게 구한 신뢰구간 중 약 </a:t>
                </a:r>
                <a14:m>
                  <m:oMath xmlns:m="http://schemas.openxmlformats.org/officeDocument/2006/math">
                    <m:r>
                      <a:rPr lang="en-US" altLang="ko-KR" sz="2000" i="1" spc="-150">
                        <a:latin typeface="Cambria Math" panose="02040503050406030204" pitchFamily="18" charset="0"/>
                      </a:rPr>
                      <m:t>100</m:t>
                    </m:r>
                    <m:d>
                      <m:dPr>
                        <m:ctrlPr>
                          <a:rPr lang="en-US" altLang="ko-KR" sz="2000" i="1" spc="-1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000" i="1" spc="-15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altLang="ko-KR" sz="2000" i="1" spc="-15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</m:d>
                    <m:r>
                      <a:rPr lang="en-US" altLang="ko-KR" sz="2000" i="1" spc="-150">
                        <a:latin typeface="Cambria Math" panose="02040503050406030204" pitchFamily="18" charset="0"/>
                      </a:rPr>
                      <m:t>%</m:t>
                    </m:r>
                  </m:oMath>
                </a14:m>
                <a:r>
                  <a:rPr lang="ko-KR" altLang="en-US" sz="2000" spc="-150" dirty="0"/>
                  <a:t> </a:t>
                </a:r>
                <a:r>
                  <a:rPr lang="ko-KR" altLang="en-US" sz="2000" spc="-150" dirty="0" smtClean="0"/>
                  <a:t>정도는 실제 모평균 </a:t>
                </a:r>
                <a14:m>
                  <m:oMath xmlns:m="http://schemas.openxmlformats.org/officeDocument/2006/math">
                    <m:r>
                      <a:rPr lang="en-US" altLang="ko-KR" sz="2000" b="0" i="1" spc="-150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ko-KR" altLang="en-US" sz="2000" dirty="0" smtClean="0"/>
                  <a:t>를 포함하리라 기대할 수 있음</a:t>
                </a:r>
                <a:endParaRPr lang="en-US" altLang="ko-KR" sz="2000" dirty="0" smtClean="0"/>
              </a:p>
            </p:txBody>
          </p:sp>
        </mc:Choice>
        <mc:Fallback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199" y="1825625"/>
                <a:ext cx="7259595" cy="4351338"/>
              </a:xfrm>
              <a:blipFill rotWithShape="0">
                <a:blip r:embed="rId2"/>
                <a:stretch>
                  <a:fillRect l="-1092" t="-2801" r="-100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4"/>
          <p:cNvPicPr>
            <a:picLocks noGrp="1" noChangeAspect="1" noChangeArrowheads="1"/>
          </p:cNvPicPr>
          <p:nvPr>
            <p:ph sz="half" idx="2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097794" y="1883290"/>
            <a:ext cx="3820982" cy="3446591"/>
          </a:xfrm>
          <a:prstGeom prst="rect">
            <a:avLst/>
          </a:prstGeom>
          <a:ln/>
        </p:spPr>
      </p:pic>
    </p:spTree>
    <p:extLst>
      <p:ext uri="{BB962C8B-B14F-4D97-AF65-F5344CB8AC3E}">
        <p14:creationId xmlns:p14="http://schemas.microsoft.com/office/powerpoint/2010/main" val="41326920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신뢰구간의 이해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ko-KR" altLang="en-US" sz="2400" dirty="0" smtClean="0"/>
                  <a:t>암컷 늑대 </a:t>
                </a:r>
                <a:r>
                  <a:rPr lang="en-US" altLang="ko-KR" sz="2400" dirty="0" smtClean="0"/>
                  <a:t>8</a:t>
                </a:r>
                <a:r>
                  <a:rPr lang="ko-KR" altLang="en-US" sz="2400" dirty="0" smtClean="0"/>
                  <a:t>마리의 무게를 측정한 결과</a:t>
                </a:r>
                <a:endParaRPr lang="en-US" altLang="ko-KR" sz="2400" dirty="0"/>
              </a:p>
              <a:p>
                <a:pPr lvl="1"/>
                <a:r>
                  <a:rPr lang="en-US" altLang="ko-KR" sz="2000" dirty="0" smtClean="0"/>
                  <a:t>57 84 90 71 77 68 73 71</a:t>
                </a:r>
              </a:p>
              <a:p>
                <a:r>
                  <a:rPr lang="ko-KR" altLang="en-US" sz="2400" dirty="0" smtClean="0"/>
                  <a:t>이 무게들을 정규분포에서의 확률표본으로 간주하고</a:t>
                </a:r>
                <a:endParaRPr lang="en-US" altLang="ko-KR" sz="2400" dirty="0" smtClean="0"/>
              </a:p>
              <a:p>
                <a:r>
                  <a:rPr lang="ko-KR" altLang="en-US" sz="2400" dirty="0" smtClean="0"/>
                  <a:t>모집단 암컷 늑대들의 평균 몸무게의 </a:t>
                </a:r>
                <a:r>
                  <a:rPr lang="en-US" altLang="ko-KR" sz="2400" dirty="0" smtClean="0"/>
                  <a:t>90% </a:t>
                </a:r>
                <a:r>
                  <a:rPr lang="ko-KR" altLang="en-US" sz="2400" dirty="0" smtClean="0"/>
                  <a:t>신뢰구간</a:t>
                </a:r>
                <a:endParaRPr lang="en-US" altLang="ko-KR" sz="2400" dirty="0" smtClean="0"/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altLang="ko-KR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altLang="ko-KR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200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acc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ko-KR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0.05</m:t>
                            </m:r>
                          </m:sub>
                        </m:sSub>
                        <m:f>
                          <m:fPr>
                            <m:ctrlPr>
                              <a:rPr lang="en-US" altLang="ko-KR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altLang="ko-KR" sz="2000" i="1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US" altLang="ko-KR" sz="20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rad>
                          </m:den>
                        </m:f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,  </m:t>
                        </m:r>
                        <m:acc>
                          <m:accPr>
                            <m:chr m:val="̅"/>
                            <m:ctrlPr>
                              <a:rPr lang="en-US" altLang="ko-KR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200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acc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altLang="ko-KR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0.05</m:t>
                            </m:r>
                          </m:sub>
                        </m:sSub>
                        <m:f>
                          <m:fPr>
                            <m:ctrlPr>
                              <a:rPr lang="en-US" altLang="ko-KR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altLang="ko-KR" sz="2000" i="1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US" altLang="ko-KR" sz="20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rad>
                          </m:den>
                        </m:f>
                      </m:e>
                    </m:d>
                  </m:oMath>
                </a14:m>
                <a:endParaRPr lang="en-US" altLang="ko-KR" sz="2000" dirty="0" smtClean="0"/>
              </a:p>
              <a:p>
                <a:pPr lvl="1"/>
                <a14:m>
                  <m:oMath xmlns:m="http://schemas.openxmlformats.org/officeDocument/2006/math">
                    <m:r>
                      <a:rPr lang="en-US" altLang="ko-KR" sz="2000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altLang="ko-KR" sz="2000" i="1" dirty="0" smtClean="0">
                        <a:latin typeface="Cambria Math" panose="02040503050406030204" pitchFamily="18" charset="0"/>
                      </a:rPr>
                      <m:t>=8</m:t>
                    </m:r>
                  </m:oMath>
                </a14:m>
                <a:r>
                  <a:rPr lang="ko-KR" altLang="en-US" sz="2000" dirty="0" smtClean="0"/>
                  <a:t>이며 </a:t>
                </a:r>
                <a:r>
                  <a:rPr lang="ko-KR" altLang="en-US" sz="2000" dirty="0" err="1" smtClean="0"/>
                  <a:t>자유도는</a:t>
                </a:r>
                <a:r>
                  <a:rPr lang="ko-KR" altLang="en-US" sz="2000" dirty="0" smtClean="0"/>
                  <a:t> </a:t>
                </a:r>
                <a14:m>
                  <m:oMath xmlns:m="http://schemas.openxmlformats.org/officeDocument/2006/math">
                    <m:r>
                      <a:rPr lang="en-US" altLang="ko-KR" sz="2000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altLang="ko-KR" sz="2000" i="1" dirty="0" smtClean="0">
                        <a:latin typeface="Cambria Math" panose="02040503050406030204" pitchFamily="18" charset="0"/>
                      </a:rPr>
                      <m:t>−1=7</m:t>
                    </m:r>
                  </m:oMath>
                </a14:m>
                <a:r>
                  <a:rPr lang="en-US" altLang="ko-KR" sz="2000" dirty="0" smtClean="0"/>
                  <a:t>, </a:t>
                </a:r>
                <a:r>
                  <a:rPr lang="ko-KR" altLang="en-US" sz="2000" dirty="0" smtClean="0"/>
                  <a:t>따라서 </a:t>
                </a:r>
                <a:r>
                  <a:rPr lang="en-US" altLang="ko-KR" sz="2000" dirty="0" smtClean="0"/>
                  <a:t>t</a:t>
                </a:r>
                <a:r>
                  <a:rPr lang="ko-KR" altLang="en-US" sz="2000" dirty="0" smtClean="0"/>
                  <a:t>분포표에서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0.05</m:t>
                        </m:r>
                      </m:sub>
                    </m:sSub>
                  </m:oMath>
                </a14:m>
                <a:r>
                  <a:rPr lang="en-US" altLang="ko-KR" sz="2000" dirty="0" smtClean="0"/>
                  <a:t>=1.895</a:t>
                </a:r>
              </a:p>
              <a:p>
                <a:pPr lvl="1"/>
                <a:r>
                  <a:rPr lang="ko-KR" altLang="en-US" sz="2000" dirty="0" smtClean="0"/>
                  <a:t>한편</a:t>
                </a:r>
                <a:r>
                  <a:rPr lang="en-US" altLang="ko-KR" sz="2000" dirty="0" smtClean="0"/>
                  <a:t>,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ko-KR" sz="20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=73.975,</m:t>
                    </m:r>
                  </m:oMath>
                </a14:m>
                <a:r>
                  <a:rPr lang="ko-KR" altLang="en-US" sz="2000" dirty="0" smtClean="0"/>
                  <a:t>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  <m:t>708.875</m:t>
                        </m:r>
                      </m:num>
                      <m:den>
                        <m: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  <m:t>7</m:t>
                        </m:r>
                      </m:den>
                    </m:f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=101.268,   </m:t>
                    </m:r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=10.063</m:t>
                    </m:r>
                  </m:oMath>
                </a14:m>
                <a:endParaRPr lang="en-US" altLang="ko-KR" sz="2000" dirty="0" smtClean="0"/>
              </a:p>
              <a:p>
                <a:pPr lvl="1"/>
                <a14:m>
                  <m:oMath xmlns:m="http://schemas.openxmlformats.org/officeDocument/2006/math"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ko-KR" altLang="en-US" sz="2000" dirty="0" smtClean="0"/>
                  <a:t>의 </a:t>
                </a:r>
                <a:r>
                  <a:rPr lang="en-US" altLang="ko-KR" sz="2000" dirty="0" smtClean="0"/>
                  <a:t>90% </a:t>
                </a:r>
                <a:r>
                  <a:rPr lang="ko-KR" altLang="en-US" sz="2000" dirty="0" smtClean="0"/>
                  <a:t>신뢰구간은</a:t>
                </a:r>
                <a:r>
                  <a:rPr lang="en-US" altLang="ko-KR" sz="2000" dirty="0" smtClean="0"/>
                  <a:t/>
                </a:r>
                <a:br>
                  <a:rPr lang="en-US" altLang="ko-KR" sz="2000" dirty="0" smtClean="0"/>
                </a:br>
                <a14:m>
                  <m:oMath xmlns:m="http://schemas.openxmlformats.org/officeDocument/2006/math">
                    <m:r>
                      <a:rPr lang="en-US" altLang="ko-KR" sz="1800" b="0" i="1" smtClean="0">
                        <a:latin typeface="Cambria Math" panose="02040503050406030204" pitchFamily="18" charset="0"/>
                      </a:rPr>
                      <m:t>73.975±1.895</m:t>
                    </m:r>
                    <m:r>
                      <a:rPr lang="en-US" altLang="ko-KR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US" altLang="ko-K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10.063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altLang="ko-K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altLang="ko-K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8</m:t>
                            </m:r>
                          </m:e>
                        </m:rad>
                      </m:den>
                    </m:f>
                    <m:r>
                      <a:rPr lang="en-US" altLang="ko-KR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=73.875±6.742</m:t>
                    </m:r>
                  </m:oMath>
                </a14:m>
                <a:endParaRPr lang="en-US" altLang="ko-KR" sz="2000" dirty="0" smtClean="0"/>
              </a:p>
              <a:p>
                <a:r>
                  <a:rPr lang="ko-KR" altLang="en-US" sz="2400" dirty="0" smtClean="0"/>
                  <a:t>이 구간이 </a:t>
                </a:r>
                <a14:m>
                  <m:oMath xmlns:m="http://schemas.openxmlformats.org/officeDocument/2006/math"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ko-KR" altLang="en-US" sz="2400" dirty="0" smtClean="0"/>
                  <a:t>를 포함하는가</a:t>
                </a:r>
                <a:r>
                  <a:rPr lang="en-US" altLang="ko-KR" sz="2400" dirty="0" smtClean="0"/>
                  <a:t>?</a:t>
                </a:r>
                <a:endParaRPr lang="ko-KR" altLang="en-US" sz="2400" dirty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812" t="-1961" b="-112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565457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제목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f>
                          <m:fPr>
                            <m:type m:val="lin"/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num>
                          <m:den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b>
                    </m:sSub>
                  </m:oMath>
                </a14:m>
                <a:r>
                  <a:rPr lang="ko-KR" altLang="en-US" dirty="0" smtClean="0"/>
                  <a:t>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f>
                          <m:fPr>
                            <m:type m:val="lin"/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num>
                          <m:den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b>
                    </m:sSub>
                  </m:oMath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2" name="제목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 rotWithShape="0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 dirty="0" smtClean="0"/>
                  <a:t>소표본 크기 </a:t>
                </a:r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ko-KR" altLang="en-US" dirty="0" smtClean="0"/>
                  <a:t>이 주어지면 </a:t>
                </a:r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ko-KR" altLang="en-US" dirty="0" smtClean="0"/>
                  <a:t>를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𝜎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를</m:t>
                    </m:r>
                  </m:oMath>
                </a14:m>
                <a:r>
                  <a:rPr lang="ko-KR" altLang="en-US" dirty="0" smtClean="0"/>
                  <a:t> 추정함으로써 발생되는 추가적인 변동은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f>
                          <m:fPr>
                            <m:type m:val="lin"/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num>
                          <m:den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b>
                    </m:sSub>
                  </m:oMath>
                </a14:m>
                <a:r>
                  <a:rPr lang="ko-KR" altLang="en-US" dirty="0" smtClean="0"/>
                  <a:t>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f>
                          <m:fPr>
                            <m:type m:val="lin"/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num>
                          <m:den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b>
                    </m:sSub>
                    <m:r>
                      <a:rPr lang="ko-KR" altLang="en-US" i="1">
                        <a:latin typeface="Cambria Math" panose="02040503050406030204" pitchFamily="18" charset="0"/>
                      </a:rPr>
                      <m:t>보</m:t>
                    </m:r>
                  </m:oMath>
                </a14:m>
                <a:r>
                  <a:rPr lang="ko-KR" altLang="en-US" dirty="0" smtClean="0"/>
                  <a:t>다 훨씬 크게 함</a:t>
                </a:r>
                <a:endParaRPr lang="en-US" altLang="ko-KR" dirty="0" smtClean="0"/>
              </a:p>
              <a:p>
                <a:r>
                  <a:rPr lang="ko-KR" altLang="en-US" dirty="0" smtClean="0"/>
                  <a:t>그러므로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𝜎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를</m:t>
                    </m:r>
                  </m:oMath>
                </a14:m>
                <a:r>
                  <a:rPr lang="ko-KR" altLang="en-US" dirty="0" smtClean="0"/>
                  <a:t> 모를 때</a:t>
                </a:r>
                <a:r>
                  <a:rPr lang="en-US" altLang="ko-KR" dirty="0" smtClean="0"/>
                  <a:t>, </a:t>
                </a:r>
                <a:r>
                  <a:rPr lang="ko-KR" altLang="en-US" dirty="0" smtClean="0"/>
                  <a:t>매우 작은 표본크기에 근거한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의</m:t>
                    </m:r>
                  </m:oMath>
                </a14:m>
                <a:r>
                  <a:rPr lang="ko-KR" altLang="en-US" dirty="0" smtClean="0"/>
                  <a:t> 신뢰구간 추정은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𝜎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를</m:t>
                    </m:r>
                  </m:oMath>
                </a14:m>
                <a:r>
                  <a:rPr lang="ko-KR" altLang="en-US" dirty="0" smtClean="0"/>
                  <a:t> 알 때의 경우와 비교하여 다소 정확성이 떨어질 것으로 예상</a:t>
                </a:r>
                <a:endParaRPr lang="en-US" altLang="ko-KR" dirty="0" smtClean="0"/>
              </a:p>
              <a:p>
                <a:pPr lvl="1"/>
                <a:r>
                  <a:rPr lang="ko-KR" altLang="en-US" dirty="0" smtClean="0"/>
                  <a:t>신뢰구간이 넓어짐</a:t>
                </a:r>
                <a:endParaRPr lang="en-US" altLang="ko-KR" dirty="0" smtClean="0"/>
              </a:p>
              <a:p>
                <a:r>
                  <a:rPr lang="en-US" altLang="ko-KR" dirty="0" smtClean="0"/>
                  <a:t>n</a:t>
                </a:r>
                <a:r>
                  <a:rPr lang="ko-KR" altLang="en-US" dirty="0" smtClean="0"/>
                  <a:t>이 증가하면</a:t>
                </a:r>
                <a:r>
                  <a:rPr lang="en-US" altLang="ko-KR" dirty="0" smtClean="0"/>
                  <a:t>,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ko-KR" altLang="en-US" dirty="0" smtClean="0"/>
                  <a:t>는 </a:t>
                </a:r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ko-KR" altLang="en-US" dirty="0" smtClean="0"/>
                  <a:t>에 의해 더욱더 근사하게 추정되고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f>
                          <m:fPr>
                            <m:type m:val="lin"/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num>
                          <m:den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b>
                    </m:sSub>
                  </m:oMath>
                </a14:m>
                <a:r>
                  <a:rPr lang="ko-KR" altLang="en-US" dirty="0" smtClean="0"/>
                  <a:t>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f>
                          <m:fPr>
                            <m:type m:val="lin"/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num>
                          <m:den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b>
                    </m:sSub>
                    <m:r>
                      <a:rPr lang="ko-KR" altLang="en-US" i="1">
                        <a:latin typeface="Cambria Math" panose="02040503050406030204" pitchFamily="18" charset="0"/>
                      </a:rPr>
                      <m:t>의</m:t>
                    </m:r>
                  </m:oMath>
                </a14:m>
                <a:r>
                  <a:rPr lang="ko-KR" altLang="en-US" dirty="0" smtClean="0"/>
                  <a:t> 차이는 감소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3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9736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제목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ko-KR" altLang="en-US" dirty="0" smtClean="0"/>
                  <a:t>모평균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ko-KR" altLang="en-US" dirty="0" smtClean="0"/>
                  <a:t>의 가설검정 </a:t>
                </a:r>
                <a:r>
                  <a:rPr lang="en-US" altLang="ko-KR" dirty="0" smtClean="0"/>
                  <a:t>- </a:t>
                </a:r>
                <a:r>
                  <a:rPr lang="ko-KR" altLang="en-US" dirty="0" err="1" smtClean="0"/>
                  <a:t>소표본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2" name="제목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 rotWithShape="0"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ko-KR" altLang="en-US" sz="2400" dirty="0" smtClean="0"/>
                  <a:t>정규모집단의 평균에 관한 가설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ko-KR" altLang="en-US" sz="2400" dirty="0" smtClean="0"/>
                  <a:t>를 검정하기 위한 검정통계량은</a:t>
                </a:r>
                <a:r>
                  <a:rPr lang="en-US" altLang="ko-KR" sz="2400" dirty="0" smtClean="0"/>
                  <a:t/>
                </a:r>
                <a:br>
                  <a:rPr lang="en-US" altLang="ko-KR" sz="2400" dirty="0" smtClean="0"/>
                </a:br>
                <a:endParaRPr lang="en-US" altLang="ko-KR" sz="2400" dirty="0" smtClean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altLang="ko-KR" sz="2000" b="0" i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acc>
                            <m:accPr>
                              <m:chr m:val="̅"/>
                              <m:ctrlPr>
                                <a:rPr lang="en-US" altLang="ko-KR" sz="20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acc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num>
                        <m:den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/</m:t>
                          </m:r>
                          <m:rad>
                            <m:radPr>
                              <m:degHide m:val="on"/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r>
                  <a:rPr lang="en-US" altLang="ko-KR" sz="2400" dirty="0" smtClean="0"/>
                  <a:t/>
                </a:r>
                <a:br>
                  <a:rPr lang="en-US" altLang="ko-KR" sz="2400" dirty="0" smtClean="0"/>
                </a:br>
                <a:r>
                  <a:rPr lang="ko-KR" altLang="en-US" sz="2400" dirty="0" smtClean="0"/>
                  <a:t> 이고 자유도 </a:t>
                </a:r>
                <a14:m>
                  <m:oMath xmlns:m="http://schemas.openxmlformats.org/officeDocument/2006/math">
                    <m:r>
                      <a:rPr lang="en-US" altLang="ko-KR" sz="2400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altLang="ko-KR" sz="2400" i="1" dirty="0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ko-KR" altLang="en-US" sz="2400" dirty="0" smtClean="0"/>
                  <a:t>인 스튜던트 </a:t>
                </a:r>
                <a14:m>
                  <m:oMath xmlns:m="http://schemas.openxmlformats.org/officeDocument/2006/math">
                    <m:r>
                      <a:rPr lang="en-US" altLang="ko-KR" sz="24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sz="2400" dirty="0" smtClean="0"/>
                  <a:t>분포를 따른다</a:t>
                </a:r>
                <a:r>
                  <a:rPr lang="en-US" altLang="ko-KR" sz="2400" dirty="0" smtClean="0"/>
                  <a:t>. </a:t>
                </a:r>
              </a:p>
              <a:p>
                <a:r>
                  <a:rPr lang="ko-KR" altLang="en-US" sz="2400" dirty="0" smtClean="0"/>
                  <a:t>각각의 대립가설에 따른 </a:t>
                </a:r>
                <a:r>
                  <a:rPr lang="ko-KR" altLang="en-US" sz="2400" dirty="0" err="1" smtClean="0"/>
                  <a:t>자유도는</a:t>
                </a:r>
                <a:r>
                  <a:rPr lang="ko-KR" altLang="en-US" sz="2400" dirty="0" smtClean="0"/>
                  <a:t> 다음과 같다</a:t>
                </a:r>
                <a:r>
                  <a:rPr lang="en-US" altLang="ko-KR" sz="2400" dirty="0" smtClean="0"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        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</m:oMath>
                </a14:m>
                <a:r>
                  <a:rPr lang="en-US" altLang="ko-KR" sz="2000" dirty="0" smtClean="0"/>
                  <a:t>  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        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</m:oMath>
                </a14:m>
                <a:endParaRPr lang="en-US" altLang="ko-KR" sz="2000" b="0" dirty="0" smtClean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sSub>
                      <m:sSub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        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:</m:t>
                    </m:r>
                    <m:d>
                      <m:dPr>
                        <m:begChr m:val="|"/>
                        <m:endChr m:val="|"/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/2</m:t>
                        </m:r>
                      </m:sub>
                    </m:sSub>
                  </m:oMath>
                </a14:m>
                <a:r>
                  <a:rPr lang="en-US" altLang="ko-KR" sz="2000" b="0" dirty="0" smtClean="0"/>
                  <a:t/>
                </a:r>
                <a:br>
                  <a:rPr lang="en-US" altLang="ko-KR" sz="2000" b="0" dirty="0" smtClean="0"/>
                </a:br>
                <a:endParaRPr lang="en-US" altLang="ko-KR" sz="2000" b="0" dirty="0" smtClean="0"/>
              </a:p>
              <a:p>
                <a:r>
                  <a:rPr lang="ko-KR" altLang="en-US" sz="2400" dirty="0" smtClean="0"/>
                  <a:t>이러한 검정을 </a:t>
                </a:r>
                <a:r>
                  <a:rPr lang="ko-KR" altLang="en-US" sz="2400" b="1" dirty="0" smtClean="0"/>
                  <a:t>스튜던트</a:t>
                </a:r>
                <a:r>
                  <a:rPr lang="ko-KR" altLang="en-US" sz="2400" dirty="0" smtClean="0"/>
                  <a:t> </a:t>
                </a:r>
                <a:r>
                  <a:rPr lang="en-US" altLang="ko-KR" sz="2400" dirty="0" smtClean="0"/>
                  <a:t>t-</a:t>
                </a:r>
                <a:r>
                  <a:rPr lang="ko-KR" altLang="en-US" sz="2400" b="1" dirty="0" smtClean="0"/>
                  <a:t>검정</a:t>
                </a:r>
                <a:r>
                  <a:rPr lang="ko-KR" altLang="en-US" sz="2400" dirty="0" smtClean="0"/>
                  <a:t> 또는 </a:t>
                </a:r>
                <a:r>
                  <a:rPr lang="en-US" altLang="ko-KR" sz="2400" dirty="0" smtClean="0"/>
                  <a:t>t-</a:t>
                </a:r>
                <a:r>
                  <a:rPr lang="ko-KR" altLang="en-US" sz="2400" b="1" dirty="0" smtClean="0"/>
                  <a:t>검정</a:t>
                </a:r>
                <a:r>
                  <a:rPr lang="ko-KR" altLang="en-US" sz="2400" dirty="0" smtClean="0"/>
                  <a:t>이라 한다</a:t>
                </a:r>
                <a:r>
                  <a:rPr lang="en-US" altLang="ko-KR" sz="2400" dirty="0" smtClean="0"/>
                  <a:t>.</a:t>
                </a:r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3"/>
                <a:stretch>
                  <a:fillRect l="-812" t="-1961" r="-2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97474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예제</a:t>
            </a:r>
            <a:r>
              <a:rPr lang="en-US" altLang="ko-KR" dirty="0" smtClean="0"/>
              <a:t>: </a:t>
            </a:r>
            <a:r>
              <a:rPr lang="ko-KR" altLang="en-US" dirty="0" smtClean="0"/>
              <a:t>물의 안전을 확인하기 위한 </a:t>
            </a:r>
            <a:r>
              <a:rPr lang="en-US" altLang="ko-KR" dirty="0" smtClean="0"/>
              <a:t>t</a:t>
            </a:r>
            <a:r>
              <a:rPr lang="ko-KR" altLang="en-US" dirty="0" smtClean="0"/>
              <a:t>검정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r>
                  <a:rPr lang="ko-KR" altLang="en-US" dirty="0" smtClean="0"/>
                  <a:t>호수 물의 박테리아 수가 안전한 </a:t>
                </a:r>
                <a:r>
                  <a:rPr lang="en-US" altLang="ko-KR" dirty="0" smtClean="0"/>
                  <a:t>200</a:t>
                </a:r>
                <a:r>
                  <a:rPr lang="ko-KR" altLang="en-US" dirty="0" smtClean="0"/>
                  <a:t>마리 이내인지 검정</a:t>
                </a:r>
                <a:endParaRPr lang="en-US" altLang="ko-KR" dirty="0" smtClean="0"/>
              </a:p>
              <a:p>
                <a:r>
                  <a:rPr lang="en-US" altLang="ko-KR" dirty="0" smtClean="0"/>
                  <a:t>10</a:t>
                </a:r>
                <a:r>
                  <a:rPr lang="ko-KR" altLang="en-US" dirty="0" smtClean="0"/>
                  <a:t>개의 표본에서 단위 용적 당 박테리아 수</a:t>
                </a:r>
                <a:endParaRPr lang="en-US" altLang="ko-KR" dirty="0"/>
              </a:p>
              <a:p>
                <a:pPr lvl="1"/>
                <a:r>
                  <a:rPr lang="en-US" altLang="ko-KR" dirty="0" smtClean="0"/>
                  <a:t>175 190 205 193 184 208 204 193 196 180</a:t>
                </a:r>
              </a:p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=0.05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수</m:t>
                    </m:r>
                  </m:oMath>
                </a14:m>
                <a:r>
                  <a:rPr lang="ko-KR" altLang="en-US" dirty="0" smtClean="0"/>
                  <a:t>준에서 호수 물이 안전한지 검정하라</a:t>
                </a:r>
                <a:r>
                  <a:rPr lang="en-US" altLang="ko-KR" dirty="0" smtClean="0"/>
                  <a:t>.</a:t>
                </a:r>
              </a:p>
              <a:p>
                <a:endParaRPr lang="en-US" altLang="ko-KR" dirty="0" smtClean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: 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=200,    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: 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&lt;200</m:t>
                    </m:r>
                  </m:oMath>
                </a14:m>
                <a:endParaRPr lang="en-US" altLang="ko-KR" b="0" dirty="0" smtClean="0"/>
              </a:p>
              <a:p>
                <a:r>
                  <a:rPr lang="ko-KR" altLang="en-US" dirty="0" smtClean="0"/>
                  <a:t>검정통계량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acc>
                          <m:accPr>
                            <m:chr m:val="̅"/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acc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−200</m:t>
                        </m:r>
                      </m:num>
                      <m:den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/</m:t>
                        </m:r>
                        <m:rad>
                          <m:radPr>
                            <m:degHide m:val="on"/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10</m:t>
                            </m:r>
                          </m:e>
                        </m:rad>
                      </m:den>
                    </m:f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,  </m:t>
                    </m:r>
                    <m:r>
                      <m:rPr>
                        <m:nor/>
                      </m:rPr>
                      <a:rPr lang="en-US" altLang="ko-KR" b="0" i="0" smtClean="0">
                        <a:latin typeface="Cambria Math" panose="02040503050406030204" pitchFamily="18" charset="0"/>
                      </a:rPr>
                      <m:t>d</m:t>
                    </m:r>
                    <m:r>
                      <m:rPr>
                        <m:nor/>
                      </m:rPr>
                      <a:rPr lang="en-US" altLang="ko-KR" b="0" i="0" smtClean="0"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nor/>
                      </m:rPr>
                      <a:rPr lang="en-US" altLang="ko-KR" b="0" i="0" smtClean="0">
                        <a:latin typeface="Cambria Math" panose="02040503050406030204" pitchFamily="18" charset="0"/>
                      </a:rPr>
                      <m:t>f</m:t>
                    </m:r>
                    <m:r>
                      <m:rPr>
                        <m:nor/>
                      </m:rPr>
                      <a:rPr lang="en-US" altLang="ko-KR" b="0" i="0" smtClean="0">
                        <a:latin typeface="Cambria Math" panose="02040503050406030204" pitchFamily="18" charset="0"/>
                      </a:rPr>
                      <m:t>.=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9</m:t>
                    </m:r>
                  </m:oMath>
                </a14:m>
                <a:endParaRPr lang="en-US" altLang="ko-KR" dirty="0" smtClean="0"/>
              </a:p>
              <a:p>
                <a:r>
                  <a:rPr lang="ko-KR" altLang="en-US" dirty="0" err="1" smtClean="0"/>
                  <a:t>기각역</a:t>
                </a:r>
                <a:r>
                  <a:rPr lang="ko-KR" altLang="en-US" dirty="0" smtClean="0"/>
                  <a:t>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≤−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0.05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=−1.833</m:t>
                    </m:r>
                  </m:oMath>
                </a14:m>
                <a:endParaRPr lang="en-US" altLang="ko-KR" dirty="0" smtClean="0"/>
              </a:p>
              <a:p>
                <a:r>
                  <a:rPr lang="ko-KR" altLang="en-US" dirty="0" smtClean="0"/>
                  <a:t>관측통계량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=192.7, 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=10.81, 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192.7−200</m:t>
                        </m:r>
                      </m:num>
                      <m:den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10.81/</m:t>
                        </m:r>
                        <m:rad>
                          <m:radPr>
                            <m:degHide m:val="on"/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10</m:t>
                            </m:r>
                          </m:e>
                        </m:rad>
                      </m:den>
                    </m:f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=−2.14</m:t>
                    </m:r>
                  </m:oMath>
                </a14:m>
                <a:endParaRPr lang="en-US" altLang="ko-KR" b="0" dirty="0" smtClean="0"/>
              </a:p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−2.14&lt;−1.833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이</m:t>
                    </m:r>
                  </m:oMath>
                </a14:m>
                <a:r>
                  <a:rPr lang="ko-KR" altLang="en-US" dirty="0" smtClean="0"/>
                  <a:t>므로 </a:t>
                </a:r>
                <a:r>
                  <a:rPr lang="ko-KR" altLang="en-US" dirty="0" err="1" smtClean="0"/>
                  <a:t>귀무가설</a:t>
                </a:r>
                <a:r>
                  <a:rPr lang="ko-KR" altLang="en-US" dirty="0" smtClean="0"/>
                  <a:t> 기각</a:t>
                </a:r>
                <a:endParaRPr lang="en-US" altLang="ko-KR" dirty="0" smtClean="0"/>
              </a:p>
              <a:p>
                <a:r>
                  <a:rPr lang="ko-KR" altLang="en-US" dirty="0" smtClean="0"/>
                  <a:t>한편</a:t>
                </a:r>
                <a:r>
                  <a:rPr lang="en-US" altLang="ko-KR" dirty="0" smtClean="0"/>
                  <a:t>, </a:t>
                </a:r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altLang="ko-KR" dirty="0" smtClean="0"/>
                  <a:t>-</a:t>
                </a:r>
                <a:r>
                  <a:rPr lang="ko-KR" altLang="en-US" dirty="0" smtClean="0"/>
                  <a:t>값</a:t>
                </a:r>
                <a:r>
                  <a:rPr lang="en-US" altLang="ko-KR" dirty="0" smtClean="0"/>
                  <a:t>=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≤−2.14</m:t>
                        </m:r>
                      </m:e>
                    </m:d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=0.031</m:t>
                    </m:r>
                  </m:oMath>
                </a14:m>
                <a:r>
                  <a:rPr lang="ko-KR" altLang="en-US" dirty="0" smtClean="0"/>
                  <a:t> </a:t>
                </a:r>
                <a:endParaRPr lang="en-US" altLang="ko-KR" dirty="0" smtClean="0"/>
              </a:p>
              <a:p>
                <a:endParaRPr lang="en-US" altLang="ko-KR" dirty="0" smtClean="0"/>
              </a:p>
              <a:p>
                <a:pPr lvl="1"/>
                <a:endParaRPr lang="ko-KR" altLang="en-US" dirty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696" t="-30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404402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검정과 신뢰구간의 관계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62500" lnSpcReduction="20000"/>
              </a:bodyPr>
              <a:lstStyle/>
              <a:p>
                <a:r>
                  <a:rPr lang="ko-KR" altLang="en-US" dirty="0" smtClean="0"/>
                  <a:t>가설검정에서의 식과 신뢰구간에서의 식이 닮은 점이 있음</a:t>
                </a:r>
                <a:endParaRPr lang="en-US" altLang="ko-KR" dirty="0" smtClean="0"/>
              </a:p>
              <a:p>
                <a:pPr lvl="1"/>
                <a:r>
                  <a:rPr lang="ko-KR" altLang="en-US" dirty="0" smtClean="0"/>
                  <a:t>정규모집단의 평균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ko-KR" altLang="en-US" dirty="0" smtClean="0"/>
                  <a:t>에 관한 추론을 다시 생각해 보자</a:t>
                </a:r>
                <a:r>
                  <a:rPr lang="en-US" altLang="ko-KR" dirty="0" smtClean="0"/>
                  <a:t>.</a:t>
                </a:r>
              </a:p>
              <a:p>
                <a:r>
                  <a:rPr lang="ko-KR" altLang="en-US" dirty="0" smtClean="0"/>
                  <a:t>표본을 수집하기 전에</a:t>
                </a:r>
                <a:r>
                  <a:rPr lang="en-US" altLang="ko-KR" dirty="0" smtClean="0"/>
                  <a:t>, </a:t>
                </a:r>
                <a:r>
                  <a:rPr lang="ko-KR" altLang="en-US" dirty="0" smtClean="0"/>
                  <a:t>다음의 확률은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1−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altLang="ko-KR" dirty="0" smtClean="0"/>
                  <a:t/>
                </a:r>
                <a:br>
                  <a:rPr lang="en-US" altLang="ko-KR" dirty="0" smtClean="0"/>
                </a:b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ko-KR" sz="20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f>
                          <m:fPr>
                            <m:type m:val="lin"/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num>
                          <m:den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b>
                    </m:sSub>
                    <m:f>
                      <m:f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rad>
                      </m:den>
                    </m:f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&lt;</m:t>
                    </m:r>
                    <m:acc>
                      <m:accPr>
                        <m:chr m:val="̅"/>
                        <m:ctrlPr>
                          <a:rPr lang="en-US" altLang="ko-KR" sz="20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f>
                          <m:fPr>
                            <m:type m:val="lin"/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num>
                          <m:den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b>
                    </m:sSub>
                    <m:f>
                      <m:f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rad>
                      </m:den>
                    </m:f>
                  </m:oMath>
                </a14:m>
                <a:endParaRPr lang="en-US" altLang="ko-KR" dirty="0" smtClean="0"/>
              </a:p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ko-KR" altLang="en-US" dirty="0" smtClean="0"/>
                  <a:t>의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100</m:t>
                    </m:r>
                    <m:d>
                      <m:d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</m:d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%</m:t>
                    </m:r>
                  </m:oMath>
                </a14:m>
                <a:r>
                  <a:rPr lang="ko-KR" altLang="en-US" dirty="0" smtClean="0"/>
                  <a:t> 신뢰구간은</a:t>
                </a:r>
                <a:r>
                  <a:rPr lang="en-US" altLang="ko-KR" dirty="0" smtClean="0"/>
                  <a:t/>
                </a:r>
                <a:br>
                  <a:rPr lang="en-US" altLang="ko-KR" dirty="0" smtClean="0"/>
                </a:br>
                <a14:m>
                  <m:oMath xmlns:m="http://schemas.openxmlformats.org/officeDocument/2006/math">
                    <m:d>
                      <m:d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altLang="ko-KR" sz="20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acc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f>
                              <m:fPr>
                                <m:type m:val="lin"/>
                                <m:ctrlP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num>
                              <m:den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sub>
                        </m:sSub>
                        <m:f>
                          <m:fPr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rad>
                          </m:den>
                        </m:f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acc>
                          <m:accPr>
                            <m:chr m:val="̅"/>
                            <m:ctrlPr>
                              <a:rPr lang="en-US" altLang="ko-KR" sz="20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acc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f>
                              <m:fPr>
                                <m:type m:val="lin"/>
                                <m:ctrlP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num>
                              <m:den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sub>
                        </m:sSub>
                        <m:f>
                          <m:fPr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rad>
                          </m:den>
                        </m:f>
                      </m:e>
                    </m:d>
                  </m:oMath>
                </a14:m>
                <a:endParaRPr lang="en-US" altLang="ko-KR" dirty="0" smtClean="0"/>
              </a:p>
              <a:p>
                <a:r>
                  <a:rPr lang="ko-KR" altLang="en-US" dirty="0" smtClean="0"/>
                  <a:t>한편</a:t>
                </a:r>
                <a:r>
                  <a:rPr lang="en-US" altLang="ko-KR" dirty="0" smtClean="0"/>
                  <a:t>, </a:t>
                </a:r>
                <a:r>
                  <a:rPr lang="ko-KR" altLang="en-US" dirty="0" err="1" smtClean="0"/>
                  <a:t>귀무가설</a:t>
                </a:r>
                <a:r>
                  <a:rPr lang="ko-KR" altLang="en-US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ko-KR" altLang="en-US" i="1">
                        <a:latin typeface="Cambria Math" panose="02040503050406030204" pitchFamily="18" charset="0"/>
                      </a:rPr>
                      <m:t>대</m:t>
                    </m:r>
                  </m:oMath>
                </a14:m>
                <a:r>
                  <a:rPr lang="ko-KR" altLang="en-US" dirty="0" smtClean="0"/>
                  <a:t> 양측 대립가설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ko-KR" altLang="en-US" dirty="0" smtClean="0"/>
                  <a:t>에 대해 유의수준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ko-KR" altLang="en-US" dirty="0" smtClean="0"/>
                  <a:t>인 검정의 </a:t>
                </a:r>
                <a:r>
                  <a:rPr lang="ko-KR" altLang="en-US" dirty="0" err="1" smtClean="0"/>
                  <a:t>기각역은</a:t>
                </a:r>
                <a:r>
                  <a:rPr lang="ko-KR" altLang="en-US" dirty="0" smtClean="0"/>
                  <a:t> </a:t>
                </a:r>
                <a:r>
                  <a:rPr lang="en-US" altLang="ko-KR" dirty="0" smtClean="0"/>
                  <a:t/>
                </a:r>
                <a:br>
                  <a:rPr lang="en-US" altLang="ko-KR" dirty="0" smtClean="0"/>
                </a:br>
                <a:r>
                  <a:rPr lang="en-US" altLang="ko-KR" dirty="0" smtClean="0"/>
                  <a:t/>
                </a:r>
                <a:br>
                  <a:rPr lang="en-US" altLang="ko-KR" dirty="0" smtClean="0"/>
                </a:br>
                <a14:m>
                  <m:oMath xmlns:m="http://schemas.openxmlformats.org/officeDocument/2006/math"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 :</m:t>
                    </m:r>
                    <m:d>
                      <m:dPr>
                        <m:begChr m:val="|"/>
                        <m:endChr m:val="|"/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acc>
                              <m:accPr>
                                <m:chr m:val="̅"/>
                                <m:ctrlPr>
                                  <a:rPr lang="en-US" altLang="ko-KR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ko-KR" sz="24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</m:acc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  <m:t>𝜇</m:t>
                            </m:r>
                          </m:num>
                          <m:den>
                            <m:f>
                              <m:fPr>
                                <m:type m:val="lin"/>
                                <m:ctrlPr>
                                  <a:rPr lang="en-US" altLang="ko-KR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ko-KR" sz="2400" b="0" i="1" smtClean="0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en-US" altLang="ko-KR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en-US" altLang="ko-KR" sz="24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rad>
                              </m:den>
                            </m:f>
                          </m:den>
                        </m:f>
                      </m:e>
                    </m:d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/2</m:t>
                        </m:r>
                      </m:sub>
                    </m:sSub>
                  </m:oMath>
                </a14:m>
                <a:endParaRPr lang="en-US" altLang="ko-KR" dirty="0" smtClean="0"/>
              </a:p>
              <a:p>
                <a:r>
                  <a:rPr lang="ko-KR" altLang="en-US" dirty="0" err="1" smtClean="0"/>
                  <a:t>기각역의</a:t>
                </a:r>
                <a:r>
                  <a:rPr lang="ko-KR" altLang="en-US" dirty="0" smtClean="0"/>
                  <a:t> 반대인 </a:t>
                </a:r>
                <a:r>
                  <a:rPr lang="ko-KR" altLang="en-US" dirty="0" err="1" smtClean="0"/>
                  <a:t>채택역을</a:t>
                </a:r>
                <a:r>
                  <a:rPr lang="ko-KR" altLang="en-US" dirty="0" smtClean="0"/>
                  <a:t> 생각해보면</a:t>
                </a:r>
                <a:r>
                  <a:rPr lang="en-US" altLang="ko-KR" dirty="0" smtClean="0"/>
                  <a:t/>
                </a:r>
                <a:br>
                  <a:rPr lang="en-US" altLang="ko-KR" dirty="0" smtClean="0"/>
                </a:br>
                <a14:m>
                  <m:oMath xmlns:m="http://schemas.openxmlformats.org/officeDocument/2006/math">
                    <m:r>
                      <a:rPr lang="ko-KR" altLang="en-US" sz="2400" i="1">
                        <a:latin typeface="Cambria Math" panose="02040503050406030204" pitchFamily="18" charset="0"/>
                      </a:rPr>
                      <m:t>채</m:t>
                    </m:r>
                    <m:r>
                      <a:rPr lang="ko-KR" altLang="en-US" sz="2400" i="1" smtClean="0">
                        <a:latin typeface="Cambria Math" panose="02040503050406030204" pitchFamily="18" charset="0"/>
                      </a:rPr>
                      <m:t>택</m:t>
                    </m:r>
                    <m:r>
                      <a:rPr lang="ko-KR" altLang="en-US" sz="2400" i="1">
                        <a:latin typeface="Cambria Math" panose="02040503050406030204" pitchFamily="18" charset="0"/>
                      </a:rPr>
                      <m:t>역</m:t>
                    </m:r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 :−</m:t>
                    </m:r>
                    <m:sSub>
                      <m:sSub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/2</m:t>
                        </m:r>
                      </m:sub>
                    </m:sSub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&lt;</m:t>
                    </m:r>
                    <m:f>
                      <m:f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acc>
                          <m:accPr>
                            <m:chr m:val="̅"/>
                            <m:ctrlP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acc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f>
                          <m:fPr>
                            <m:type m:val="lin"/>
                            <m:ctrlP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altLang="ko-KR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US" altLang="ko-KR" sz="24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rad>
                          </m:den>
                        </m:f>
                      </m:den>
                    </m:f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/2</m:t>
                        </m:r>
                      </m:sub>
                    </m:sSub>
                  </m:oMath>
                </a14:m>
                <a:endParaRPr lang="en-US" altLang="ko-KR" dirty="0" smtClean="0"/>
              </a:p>
              <a:p>
                <a:r>
                  <a:rPr lang="ko-KR" altLang="en-US" dirty="0" smtClean="0"/>
                  <a:t>혹은 다음과 같이 나타낼 수 있다</a:t>
                </a:r>
                <a:r>
                  <a:rPr lang="en-US" altLang="ko-KR" dirty="0" smtClean="0"/>
                  <a:t/>
                </a:r>
                <a:br>
                  <a:rPr lang="en-US" altLang="ko-KR" dirty="0" smtClean="0"/>
                </a:br>
                <a14:m>
                  <m:oMath xmlns:m="http://schemas.openxmlformats.org/officeDocument/2006/math"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채택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역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 :</m:t>
                    </m:r>
                    <m:acc>
                      <m:accPr>
                        <m:chr m:val="̅"/>
                        <m:ctrlPr>
                          <a:rPr lang="ko-KR" altLang="en-US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b="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f>
                          <m:fPr>
                            <m:type m:val="lin"/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num>
                          <m:den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b>
                    </m:sSub>
                    <m:f>
                      <m:f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rad>
                      </m:den>
                    </m:f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&lt;</m:t>
                    </m:r>
                    <m:acc>
                      <m:accPr>
                        <m:chr m:val="̅"/>
                        <m:ctrlPr>
                          <a:rPr lang="ko-KR" altLang="en-US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b="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  <m:r>
                      <a:rPr lang="en-US" altLang="ko-KR" b="0" i="1" dirty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f>
                          <m:fPr>
                            <m:type m:val="lin"/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num>
                          <m:den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b>
                    </m:sSub>
                    <m:f>
                      <m:f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rad>
                      </m:den>
                    </m:f>
                  </m:oMath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406" t="-2521" b="-126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029080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검정과 신뢰구간의 관계</a:t>
            </a:r>
            <a:r>
              <a:rPr lang="en-US" altLang="ko-KR" dirty="0" smtClean="0"/>
              <a:t>(2)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 dirty="0" smtClean="0"/>
                  <a:t>신뢰구간</a:t>
                </a:r>
                <a:r>
                  <a:rPr lang="en-US" altLang="ko-KR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altLang="ko-KR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acc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f>
                              <m:fPr>
                                <m:type m:val="lin"/>
                                <m:ctrlP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num>
                              <m:den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sub>
                        </m:sSub>
                        <m:f>
                          <m:f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rad>
                          </m:den>
                        </m:f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acc>
                          <m:accPr>
                            <m:chr m:val="̅"/>
                            <m:ctrlPr>
                              <a:rPr lang="en-US" altLang="ko-KR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acc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f>
                              <m:fPr>
                                <m:type m:val="lin"/>
                                <m:ctrlP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num>
                              <m:den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sub>
                        </m:sSub>
                        <m:f>
                          <m:f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rad>
                          </m:den>
                        </m:f>
                      </m:e>
                    </m:d>
                  </m:oMath>
                </a14:m>
                <a:r>
                  <a:rPr lang="ko-KR" altLang="en-US" dirty="0" smtClean="0"/>
                  <a:t>과 </a:t>
                </a:r>
                <a:endParaRPr lang="en-US" altLang="ko-KR" dirty="0"/>
              </a:p>
              <a:p>
                <a14:m>
                  <m:oMath xmlns:m="http://schemas.openxmlformats.org/officeDocument/2006/math"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채택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역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 :</m:t>
                    </m:r>
                    <m:acc>
                      <m:accPr>
                        <m:chr m:val="̅"/>
                        <m:ctrlPr>
                          <a:rPr lang="ko-KR" altLang="en-US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b="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f>
                          <m:fPr>
                            <m:type m:val="lin"/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num>
                          <m:den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b>
                    </m:sSub>
                    <m:f>
                      <m:f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rad>
                      </m:den>
                    </m:f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&lt;</m:t>
                    </m:r>
                    <m:acc>
                      <m:accPr>
                        <m:chr m:val="̅"/>
                        <m:ctrlPr>
                          <a:rPr lang="ko-KR" altLang="en-US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b="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  <m:r>
                      <a:rPr lang="en-US" altLang="ko-KR" b="0" i="1" dirty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f>
                          <m:fPr>
                            <m:type m:val="lin"/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num>
                          <m:den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b>
                    </m:sSub>
                    <m:f>
                      <m:f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rad>
                      </m:den>
                    </m:f>
                  </m:oMath>
                </a14:m>
                <a:r>
                  <a:rPr lang="ko-KR" altLang="en-US" dirty="0" smtClean="0"/>
                  <a:t>을 비교해 보면</a:t>
                </a:r>
                <a:endParaRPr lang="en-US" altLang="ko-KR" dirty="0" smtClean="0"/>
              </a:p>
              <a:p>
                <a:r>
                  <a:rPr lang="ko-KR" altLang="en-US" dirty="0" smtClean="0"/>
                  <a:t>만일 어떤 주어진 </a:t>
                </a:r>
                <a:r>
                  <a:rPr lang="ko-KR" altLang="en-US" dirty="0" err="1" smtClean="0"/>
                  <a:t>귀무가설</a:t>
                </a:r>
                <a:r>
                  <a:rPr lang="ko-KR" altLang="en-US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ko-KR" altLang="en-US" dirty="0" smtClean="0"/>
                  <a:t>가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100</m:t>
                    </m:r>
                    <m:d>
                      <m:d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</m:d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%</m:t>
                    </m:r>
                  </m:oMath>
                </a14:m>
                <a:r>
                  <a:rPr lang="ko-KR" altLang="en-US" dirty="0" smtClean="0"/>
                  <a:t> 신뢰구간에 포함되면 유의수준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ko-KR" altLang="en-US" dirty="0" smtClean="0"/>
                  <a:t>에서 </a:t>
                </a:r>
                <a:r>
                  <a:rPr lang="ko-KR" altLang="en-US" dirty="0" err="1" smtClean="0"/>
                  <a:t>귀무가설이</a:t>
                </a:r>
                <a:r>
                  <a:rPr lang="ko-KR" altLang="en-US" dirty="0" smtClean="0"/>
                  <a:t> 채택된다는 것을 보여줌</a:t>
                </a:r>
                <a:endParaRPr lang="en-US" altLang="ko-KR" dirty="0" smtClean="0"/>
              </a:p>
              <a:p>
                <a:r>
                  <a:rPr lang="ko-KR" altLang="en-US" dirty="0" smtClean="0"/>
                  <a:t>그러므로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ko-KR" altLang="en-US" dirty="0" smtClean="0"/>
                  <a:t>의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100</m:t>
                    </m:r>
                    <m:d>
                      <m:d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</m:d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%</m:t>
                    </m:r>
                  </m:oMath>
                </a14:m>
                <a:r>
                  <a:rPr lang="ko-KR" altLang="en-US" dirty="0" smtClean="0"/>
                  <a:t> 신뢰구간이 구해지면</a:t>
                </a:r>
                <a:r>
                  <a:rPr lang="en-US" altLang="ko-KR" dirty="0" smtClean="0"/>
                  <a:t>, </a:t>
                </a:r>
              </a:p>
              <a:p>
                <a:pPr lvl="1"/>
                <a:r>
                  <a:rPr lang="ko-KR" altLang="en-US" dirty="0" err="1" smtClean="0"/>
                  <a:t>귀무가설의</a:t>
                </a:r>
                <a:r>
                  <a:rPr lang="ko-KR" altLang="en-US" dirty="0" smtClean="0"/>
                  <a:t> 값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ko-KR" altLang="en-US" dirty="0" smtClean="0"/>
                  <a:t>가 이 구간에 포함되지 않으면 </a:t>
                </a:r>
                <a:r>
                  <a:rPr lang="ko-KR" altLang="en-US" dirty="0" err="1" smtClean="0"/>
                  <a:t>귀무가설은</a:t>
                </a:r>
                <a:r>
                  <a:rPr lang="ko-KR" altLang="en-US" dirty="0" smtClean="0"/>
                  <a:t> 기각될 것이고</a:t>
                </a:r>
                <a:r>
                  <a:rPr lang="en-US" altLang="ko-KR" dirty="0" smtClean="0"/>
                  <a:t>, </a:t>
                </a:r>
              </a:p>
              <a:p>
                <a:pPr lvl="1"/>
                <a:r>
                  <a:rPr lang="ko-KR" altLang="en-US" dirty="0" smtClean="0"/>
                  <a:t>구간에 포함되면 </a:t>
                </a:r>
                <a:r>
                  <a:rPr lang="ko-KR" altLang="en-US" dirty="0" err="1" smtClean="0"/>
                  <a:t>귀무가설은</a:t>
                </a:r>
                <a:r>
                  <a:rPr lang="ko-KR" altLang="en-US" dirty="0" smtClean="0"/>
                  <a:t> 기각되지 않음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043" t="-280" r="-52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265431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예제</a:t>
            </a:r>
            <a:r>
              <a:rPr lang="en-US" altLang="ko-KR" dirty="0" smtClean="0"/>
              <a:t>: 95% </a:t>
            </a:r>
            <a:r>
              <a:rPr lang="ko-KR" altLang="en-US" dirty="0" smtClean="0"/>
              <a:t>신뢰구간과 양측검정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ko-KR" altLang="en-US" sz="2400" dirty="0" smtClean="0"/>
                  <a:t>정규모집단에서 표본크기가 </a:t>
                </a:r>
                <a14:m>
                  <m:oMath xmlns:m="http://schemas.openxmlformats.org/officeDocument/2006/math">
                    <m:r>
                      <a:rPr lang="en-US" altLang="ko-KR" sz="2400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altLang="ko-KR" sz="2400" i="1" dirty="0" smtClean="0">
                        <a:latin typeface="Cambria Math" panose="02040503050406030204" pitchFamily="18" charset="0"/>
                      </a:rPr>
                      <m:t>=9</m:t>
                    </m:r>
                  </m:oMath>
                </a14:m>
                <a:r>
                  <a:rPr lang="ko-KR" altLang="en-US" sz="2400" dirty="0" smtClean="0"/>
                  <a:t>인 확률표본을 추출한 결과 평균이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ko-KR" altLang="en-US" sz="24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=8.3</m:t>
                    </m:r>
                    <m:r>
                      <a:rPr lang="ko-KR" altLang="en-US" sz="2400" i="1">
                        <a:latin typeface="Cambria Math" panose="02040503050406030204" pitchFamily="18" charset="0"/>
                      </a:rPr>
                      <m:t>이</m:t>
                    </m:r>
                  </m:oMath>
                </a14:m>
                <a:r>
                  <a:rPr lang="ko-KR" altLang="en-US" sz="2400" dirty="0" smtClean="0"/>
                  <a:t>고 표준편차 </a:t>
                </a:r>
                <a14:m>
                  <m:oMath xmlns:m="http://schemas.openxmlformats.org/officeDocument/2006/math"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=1.2</m:t>
                    </m:r>
                    <m:r>
                      <a:rPr lang="ko-KR" altLang="en-US" sz="2400" i="1">
                        <a:latin typeface="Cambria Math" panose="02040503050406030204" pitchFamily="18" charset="0"/>
                      </a:rPr>
                      <m:t>였</m:t>
                    </m:r>
                  </m:oMath>
                </a14:m>
                <a:r>
                  <a:rPr lang="ko-KR" altLang="en-US" sz="2400" dirty="0" smtClean="0"/>
                  <a:t>다</a:t>
                </a:r>
                <a:r>
                  <a:rPr lang="en-US" altLang="ko-KR" sz="2400" dirty="0" smtClean="0"/>
                  <a:t>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ko-KR" altLang="en-US" sz="2000" i="1">
                        <a:latin typeface="Cambria Math" panose="02040503050406030204" pitchFamily="18" charset="0"/>
                      </a:rPr>
                      <m:t>의</m:t>
                    </m:r>
                  </m:oMath>
                </a14:m>
                <a:r>
                  <a:rPr lang="ko-KR" altLang="en-US" sz="2000" dirty="0" smtClean="0"/>
                  <a:t> </a:t>
                </a:r>
                <a:r>
                  <a:rPr lang="en-US" altLang="ko-KR" sz="2000" dirty="0" smtClean="0"/>
                  <a:t>95% </a:t>
                </a:r>
                <a:r>
                  <a:rPr lang="ko-KR" altLang="en-US" sz="2000" dirty="0" smtClean="0"/>
                  <a:t>신뢰구간을 구하고</a:t>
                </a:r>
                <a:endParaRPr lang="en-US" altLang="ko-KR" sz="2000" dirty="0" smtClean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=8.5,  </m:t>
                    </m:r>
                    <m:sSub>
                      <m:sSub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≠8.5</m:t>
                    </m:r>
                  </m:oMath>
                </a14:m>
                <a:r>
                  <a:rPr lang="ko-KR" altLang="en-US" sz="2000" dirty="0" smtClean="0"/>
                  <a:t>인 가설을 </a:t>
                </a:r>
                <a14:m>
                  <m:oMath xmlns:m="http://schemas.openxmlformats.org/officeDocument/2006/math"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=0.05</m:t>
                    </m:r>
                    <m:r>
                      <a:rPr lang="ko-KR" altLang="en-US" sz="2000" i="1">
                        <a:latin typeface="Cambria Math" panose="02040503050406030204" pitchFamily="18" charset="0"/>
                      </a:rPr>
                      <m:t>에</m:t>
                    </m:r>
                  </m:oMath>
                </a14:m>
                <a:r>
                  <a:rPr lang="ko-KR" altLang="en-US" sz="2000" dirty="0" smtClean="0"/>
                  <a:t>서 검정하라</a:t>
                </a:r>
                <a:r>
                  <a:rPr lang="en-US" altLang="ko-KR" sz="2000" dirty="0" smtClean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ko-KR" altLang="en-US" sz="2400" i="1">
                        <a:latin typeface="Cambria Math" panose="02040503050406030204" pitchFamily="18" charset="0"/>
                      </a:rPr>
                      <m:t>의</m:t>
                    </m:r>
                  </m:oMath>
                </a14:m>
                <a:r>
                  <a:rPr lang="ko-KR" altLang="en-US" sz="2400" dirty="0" smtClean="0"/>
                  <a:t> </a:t>
                </a:r>
                <a:r>
                  <a:rPr lang="en-US" altLang="ko-KR" sz="2400" dirty="0" smtClean="0"/>
                  <a:t>95% </a:t>
                </a:r>
                <a:r>
                  <a:rPr lang="ko-KR" altLang="en-US" sz="2400" dirty="0" smtClean="0"/>
                  <a:t>신뢰구간 </a:t>
                </a:r>
                <a:r>
                  <a:rPr lang="en-US" altLang="ko-KR" sz="2400" dirty="0" smtClean="0"/>
                  <a:t>: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ko-KR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altLang="ko-KR" sz="18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18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acc>
                        <m:r>
                          <a:rPr lang="en-US" altLang="ko-KR" sz="1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ko-KR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altLang="ko-KR" sz="1800" b="0" i="1" smtClean="0">
                                <a:latin typeface="Cambria Math" panose="02040503050406030204" pitchFamily="18" charset="0"/>
                              </a:rPr>
                              <m:t>0.025</m:t>
                            </m:r>
                          </m:sub>
                        </m:sSub>
                        <m:f>
                          <m:fPr>
                            <m:ctrlPr>
                              <a:rPr lang="en-US" altLang="ko-KR" sz="18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18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altLang="ko-KR" sz="1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US" altLang="ko-KR" sz="18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rad>
                          </m:den>
                        </m:f>
                        <m:r>
                          <a:rPr lang="en-US" altLang="ko-KR" sz="18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acc>
                          <m:accPr>
                            <m:chr m:val="̅"/>
                            <m:ctrlPr>
                              <a:rPr lang="en-US" altLang="ko-KR" sz="18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18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acc>
                        <m:r>
                          <a:rPr lang="en-US" altLang="ko-KR" sz="18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altLang="ko-KR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altLang="ko-KR" sz="1800" b="0" i="1" smtClean="0">
                                <a:latin typeface="Cambria Math" panose="02040503050406030204" pitchFamily="18" charset="0"/>
                              </a:rPr>
                              <m:t>0.025</m:t>
                            </m:r>
                          </m:sub>
                        </m:sSub>
                        <m:f>
                          <m:fPr>
                            <m:ctrlPr>
                              <a:rPr lang="en-US" altLang="ko-KR" sz="18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18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altLang="ko-KR" sz="1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US" altLang="ko-KR" sz="18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rad>
                          </m:den>
                        </m:f>
                      </m:e>
                    </m:d>
                  </m:oMath>
                </a14:m>
                <a:endParaRPr lang="en-US" altLang="ko-KR" sz="1800" b="0" dirty="0" smtClean="0"/>
              </a:p>
              <a:p>
                <a:pPr lvl="1"/>
                <a:r>
                  <a:rPr lang="ko-KR" altLang="en-US" sz="2000" dirty="0" smtClean="0"/>
                  <a:t>여기서 </a:t>
                </a:r>
                <a:r>
                  <a:rPr lang="ko-KR" altLang="en-US" sz="2000" dirty="0" err="1" smtClean="0"/>
                  <a:t>자유도는</a:t>
                </a:r>
                <a:r>
                  <a:rPr lang="ko-KR" altLang="en-US" sz="2000" dirty="0" smtClean="0"/>
                  <a:t> </a:t>
                </a:r>
                <a:r>
                  <a:rPr lang="en-US" altLang="ko-KR" sz="2000" dirty="0" smtClean="0"/>
                  <a:t>8</a:t>
                </a:r>
                <a:r>
                  <a:rPr lang="ko-KR" altLang="en-US" sz="2000" dirty="0" smtClean="0"/>
                  <a:t>이고</a:t>
                </a:r>
                <a:r>
                  <a:rPr lang="en-US" altLang="ko-KR" sz="2000" dirty="0" smtClean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0.025</m:t>
                        </m:r>
                      </m:sub>
                    </m:sSub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=2.306</m:t>
                    </m:r>
                  </m:oMath>
                </a14:m>
                <a:endParaRPr lang="en-US" altLang="ko-KR" sz="2000" dirty="0" smtClean="0"/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ko-KR" altLang="en-US" sz="20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=8.3</m:t>
                    </m:r>
                    <m:r>
                      <a:rPr lang="ko-KR" altLang="en-US" sz="2000" i="1">
                        <a:latin typeface="Cambria Math" panose="02040503050406030204" pitchFamily="18" charset="0"/>
                      </a:rPr>
                      <m:t>과</m:t>
                    </m:r>
                  </m:oMath>
                </a14:m>
                <a:r>
                  <a:rPr lang="ko-KR" altLang="en-US" sz="2000" dirty="0" smtClean="0"/>
                  <a:t> </a:t>
                </a:r>
                <a14:m>
                  <m:oMath xmlns:m="http://schemas.openxmlformats.org/officeDocument/2006/math"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=1.2</m:t>
                    </m:r>
                    <m:r>
                      <a:rPr lang="ko-KR" altLang="en-US" sz="2000" i="1">
                        <a:latin typeface="Cambria Math" panose="02040503050406030204" pitchFamily="18" charset="0"/>
                      </a:rPr>
                      <m:t>를</m:t>
                    </m:r>
                  </m:oMath>
                </a14:m>
                <a:r>
                  <a:rPr lang="ko-KR" altLang="en-US" sz="2000" dirty="0" smtClean="0"/>
                  <a:t> 이용하면</a:t>
                </a:r>
                <a:r>
                  <a:rPr lang="en-US" altLang="ko-KR" sz="2000" dirty="0" smtClean="0"/>
                  <a:t/>
                </a:r>
                <a:br>
                  <a:rPr lang="en-US" altLang="ko-KR" sz="2000" dirty="0" smtClean="0"/>
                </a:br>
                <a14:m>
                  <m:oMath xmlns:m="http://schemas.openxmlformats.org/officeDocument/2006/math">
                    <m:d>
                      <m:dPr>
                        <m:ctrlPr>
                          <a:rPr lang="en-US" altLang="ko-KR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800" i="1" smtClean="0">
                            <a:latin typeface="Cambria Math" panose="02040503050406030204" pitchFamily="18" charset="0"/>
                          </a:rPr>
                          <m:t>8</m:t>
                        </m:r>
                        <m:r>
                          <a:rPr lang="en-US" altLang="ko-KR" sz="1800" b="0" i="1" smtClean="0">
                            <a:latin typeface="Cambria Math" panose="02040503050406030204" pitchFamily="18" charset="0"/>
                          </a:rPr>
                          <m:t>.3−2.306</m:t>
                        </m:r>
                        <m:f>
                          <m:fPr>
                            <m:ctrlPr>
                              <a:rPr lang="en-US" altLang="ko-KR" sz="18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1800" b="0" i="1" smtClean="0">
                                <a:latin typeface="Cambria Math" panose="02040503050406030204" pitchFamily="18" charset="0"/>
                              </a:rPr>
                              <m:t>1.2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altLang="ko-KR" sz="1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US" altLang="ko-KR" sz="1800" b="0" i="1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</m:rad>
                          </m:den>
                        </m:f>
                        <m:r>
                          <a:rPr lang="en-US" altLang="ko-KR" sz="1800" b="0" i="1" smtClean="0">
                            <a:latin typeface="Cambria Math" panose="02040503050406030204" pitchFamily="18" charset="0"/>
                          </a:rPr>
                          <m:t>, 8.3+2.306</m:t>
                        </m:r>
                        <m:f>
                          <m:fPr>
                            <m:ctrlPr>
                              <a:rPr lang="en-US" altLang="ko-KR" sz="18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1800" b="0" i="1" smtClean="0">
                                <a:latin typeface="Cambria Math" panose="02040503050406030204" pitchFamily="18" charset="0"/>
                              </a:rPr>
                              <m:t>1.2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altLang="ko-KR" sz="1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US" altLang="ko-KR" sz="1800" b="0" i="1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</m:rad>
                          </m:den>
                        </m:f>
                      </m:e>
                    </m:d>
                    <m:r>
                      <a:rPr lang="en-US" altLang="ko-KR" sz="1800" b="0" i="1" smtClean="0">
                        <a:latin typeface="Cambria Math" panose="02040503050406030204" pitchFamily="18" charset="0"/>
                      </a:rPr>
                      <m:t>=(7.4, 9.2)</m:t>
                    </m:r>
                  </m:oMath>
                </a14:m>
                <a:endParaRPr lang="en-US" altLang="ko-KR" sz="1800" dirty="0" smtClean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400" b="0" i="1" spc="-1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 spc="-150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altLang="ko-KR" sz="2400" b="0" i="1" spc="-15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sz="2400" b="0" i="1" spc="-150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altLang="ko-KR" sz="2400" b="0" i="1" spc="-150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altLang="ko-KR" sz="2400" b="0" i="1" spc="-150" smtClean="0">
                        <a:latin typeface="Cambria Math" panose="02040503050406030204" pitchFamily="18" charset="0"/>
                      </a:rPr>
                      <m:t>=8.5</m:t>
                    </m:r>
                  </m:oMath>
                </a14:m>
                <a:r>
                  <a:rPr lang="ko-KR" altLang="en-US" sz="2400" spc="-150" dirty="0" smtClean="0"/>
                  <a:t> 검정 문제를 생각하면 </a:t>
                </a:r>
                <a:r>
                  <a:rPr lang="en-US" altLang="ko-KR" sz="2400" spc="-150" dirty="0" smtClean="0"/>
                  <a:t>8.5</a:t>
                </a:r>
                <a:r>
                  <a:rPr lang="ko-KR" altLang="en-US" sz="2400" spc="-150" dirty="0" smtClean="0"/>
                  <a:t>는 방금 계산한 </a:t>
                </a:r>
                <a:r>
                  <a:rPr lang="en-US" altLang="ko-KR" sz="2400" spc="-150" dirty="0" smtClean="0"/>
                  <a:t>95% </a:t>
                </a:r>
                <a:r>
                  <a:rPr lang="ko-KR" altLang="en-US" sz="2400" spc="-150" dirty="0" smtClean="0"/>
                  <a:t>신뢰구간에 포함됨</a:t>
                </a:r>
                <a:r>
                  <a:rPr lang="en-US" altLang="ko-KR" sz="2400" spc="-150" dirty="0" smtClean="0"/>
                  <a:t>.</a:t>
                </a:r>
              </a:p>
              <a:p>
                <a:pPr lvl="1"/>
                <a:r>
                  <a:rPr lang="ko-KR" altLang="en-US" sz="2000" dirty="0" smtClean="0"/>
                  <a:t>신뢰구간과 </a:t>
                </a:r>
                <a:r>
                  <a:rPr lang="ko-KR" altLang="en-US" sz="2000" dirty="0" err="1" smtClean="0"/>
                  <a:t>채택역의</a:t>
                </a:r>
                <a:r>
                  <a:rPr lang="ko-KR" altLang="en-US" sz="2000" dirty="0" smtClean="0"/>
                  <a:t> 관계를 생각하면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ko-KR" altLang="en-US" sz="2000" dirty="0" smtClean="0"/>
                  <a:t>는 </a:t>
                </a:r>
                <a14:m>
                  <m:oMath xmlns:m="http://schemas.openxmlformats.org/officeDocument/2006/math"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=0.05</m:t>
                    </m:r>
                  </m:oMath>
                </a14:m>
                <a:r>
                  <a:rPr lang="ko-KR" altLang="en-US" sz="2000" dirty="0" smtClean="0"/>
                  <a:t>에서 기각되지 않음</a:t>
                </a:r>
                <a:endParaRPr lang="ko-KR" altLang="en-US" sz="2000" dirty="0"/>
              </a:p>
              <a:p>
                <a:endParaRPr lang="en-US" altLang="ko-KR" sz="2400" dirty="0" smtClean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812" t="-196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97081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예제</a:t>
            </a:r>
            <a:r>
              <a:rPr lang="en-US" altLang="ko-KR" dirty="0" smtClean="0"/>
              <a:t>: 95% </a:t>
            </a:r>
            <a:r>
              <a:rPr lang="ko-KR" altLang="en-US" dirty="0" smtClean="0"/>
              <a:t>신뢰구간과 양측검정</a:t>
            </a:r>
            <a:r>
              <a:rPr lang="en-US" altLang="ko-KR" dirty="0" smtClean="0"/>
              <a:t>(2)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=8.5</m:t>
                    </m:r>
                  </m:oMath>
                </a14:m>
                <a:r>
                  <a:rPr lang="ko-KR" altLang="en-US" sz="2400" dirty="0" smtClean="0"/>
                  <a:t>의 검정문제를 통계량에 근거하여 살펴보면</a:t>
                </a:r>
                <a:r>
                  <a:rPr lang="en-US" altLang="ko-KR" sz="2400" dirty="0" smtClean="0"/>
                  <a:t/>
                </a:r>
                <a:br>
                  <a:rPr lang="en-US" altLang="ko-KR" sz="2400" dirty="0" smtClean="0"/>
                </a:br>
                <a:r>
                  <a:rPr lang="en-US" altLang="ko-KR" sz="2400" dirty="0" smtClean="0"/>
                  <a:t/>
                </a:r>
                <a:br>
                  <a:rPr lang="en-US" altLang="ko-KR" sz="2400" dirty="0" smtClean="0"/>
                </a:br>
                <a14:m>
                  <m:oMath xmlns:m="http://schemas.openxmlformats.org/officeDocument/2006/math"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acc>
                          <m:accPr>
                            <m:chr m:val="̅"/>
                            <m:ctrlP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acc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−8.5</m:t>
                        </m:r>
                      </m:num>
                      <m:den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/</m:t>
                        </m:r>
                        <m:rad>
                          <m:radPr>
                            <m:degHide m:val="on"/>
                            <m:ctrlP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rad>
                      </m:den>
                    </m:f>
                  </m:oMath>
                </a14:m>
                <a:endParaRPr lang="en-US" altLang="ko-KR" sz="2400" dirty="0" smtClean="0"/>
              </a:p>
              <a:p>
                <a:r>
                  <a:rPr lang="ko-KR" altLang="en-US" sz="2400" dirty="0" err="1" smtClean="0"/>
                  <a:t>기각역은</a:t>
                </a:r>
                <a:r>
                  <a:rPr lang="ko-KR" altLang="en-US" sz="2400" dirty="0" smtClean="0"/>
                  <a:t> 큰 값들과 작은 값들로 이루어지며</a:t>
                </a:r>
                <a:r>
                  <a:rPr lang="en-US" altLang="ko-KR" sz="2400" dirty="0" smtClean="0"/>
                  <a:t/>
                </a:r>
                <a:br>
                  <a:rPr lang="en-US" altLang="ko-KR" sz="2400" dirty="0" smtClean="0"/>
                </a:br>
                <a:r>
                  <a:rPr lang="en-US" altLang="ko-KR" sz="2400" dirty="0" smtClean="0"/>
                  <a:t/>
                </a:r>
                <a:br>
                  <a:rPr lang="en-US" altLang="ko-KR" sz="2400" dirty="0" smtClean="0"/>
                </a:br>
                <a14:m>
                  <m:oMath xmlns:m="http://schemas.openxmlformats.org/officeDocument/2006/math">
                    <m:r>
                      <a:rPr lang="ko-KR" altLang="en-US" sz="2400">
                        <a:latin typeface="Cambria Math" panose="02040503050406030204" pitchFamily="18" charset="0"/>
                      </a:rPr>
                      <m:t>기</m:t>
                    </m:r>
                    <m:r>
                      <a:rPr lang="ko-KR" altLang="en-US" sz="2400" i="1" smtClean="0">
                        <a:latin typeface="Cambria Math" panose="02040503050406030204" pitchFamily="18" charset="0"/>
                      </a:rPr>
                      <m:t>각</m:t>
                    </m:r>
                    <m:r>
                      <a:rPr lang="ko-KR" altLang="en-US" sz="2400" i="1">
                        <a:latin typeface="Cambria Math" panose="02040503050406030204" pitchFamily="18" charset="0"/>
                      </a:rPr>
                      <m:t>역</m:t>
                    </m:r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 : </m:t>
                    </m:r>
                    <m:d>
                      <m:dPr>
                        <m:begChr m:val="|"/>
                        <m:endChr m:val="|"/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acc>
                              <m:accPr>
                                <m:chr m:val="̅"/>
                                <m:ctrlPr>
                                  <a:rPr lang="en-US" altLang="ko-KR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ko-KR" sz="24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</m:acc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  <m:t>−8.5</m:t>
                            </m:r>
                          </m:num>
                          <m:den>
                            <m:f>
                              <m:fPr>
                                <m:type m:val="lin"/>
                                <m:ctrlPr>
                                  <a:rPr lang="en-US" altLang="ko-KR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ko-KR" sz="2400" b="0" i="1" smtClean="0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en-US" altLang="ko-KR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en-US" altLang="ko-KR" sz="24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rad>
                              </m:den>
                            </m:f>
                          </m:den>
                        </m:f>
                      </m:e>
                    </m:d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0.025</m:t>
                        </m:r>
                      </m:sub>
                    </m:sSub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=2.306</m:t>
                    </m:r>
                  </m:oMath>
                </a14:m>
                <a:endParaRPr lang="en-US" altLang="ko-KR" sz="2400" b="0" dirty="0" smtClean="0"/>
              </a:p>
              <a:p>
                <a:r>
                  <a:rPr lang="ko-KR" altLang="en-US" sz="2400" dirty="0" smtClean="0"/>
                  <a:t>지금 </a:t>
                </a:r>
                <a:r>
                  <a:rPr lang="ko-KR" altLang="en-US" sz="2400" dirty="0" err="1" smtClean="0"/>
                  <a:t>관측값</a:t>
                </a:r>
                <a:r>
                  <a:rPr lang="ko-KR" altLang="en-US" sz="2400" dirty="0" smtClean="0"/>
                  <a:t>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ad>
                          <m:radPr>
                            <m:degHide m:val="on"/>
                            <m:ctrlP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  <m:t>9</m:t>
                            </m:r>
                          </m:e>
                        </m:rad>
                        <m:d>
                          <m:dPr>
                            <m:begChr m:val="|"/>
                            <m:endChr m:val="|"/>
                            <m:ctrlP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  <m:t>8.3−8.5</m:t>
                            </m:r>
                          </m:e>
                        </m:d>
                      </m:num>
                      <m:den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1.2</m:t>
                        </m:r>
                      </m:den>
                    </m:f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=0.5</m:t>
                    </m:r>
                    <m:r>
                      <a:rPr lang="ko-KR" altLang="en-US" sz="2400" i="1">
                        <a:latin typeface="Cambria Math" panose="02040503050406030204" pitchFamily="18" charset="0"/>
                      </a:rPr>
                      <m:t>는</m:t>
                    </m:r>
                  </m:oMath>
                </a14:m>
                <a:r>
                  <a:rPr lang="ko-KR" altLang="en-US" sz="2400" dirty="0" smtClean="0"/>
                  <a:t> </a:t>
                </a:r>
                <a:r>
                  <a:rPr lang="ko-KR" altLang="en-US" sz="2400" dirty="0" err="1" smtClean="0"/>
                  <a:t>기각역에</a:t>
                </a:r>
                <a:r>
                  <a:rPr lang="ko-KR" altLang="en-US" sz="2400" dirty="0" smtClean="0"/>
                  <a:t> 포함되지 않으므로 </a:t>
                </a:r>
                <a:r>
                  <a:rPr lang="ko-KR" altLang="en-US" sz="2400" dirty="0" err="1" smtClean="0"/>
                  <a:t>귀무가설</a:t>
                </a:r>
                <a:r>
                  <a:rPr lang="ko-KR" altLang="en-US" sz="2400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ko-KR" altLang="en-US" sz="2400" dirty="0" smtClean="0"/>
                  <a:t>는 </a:t>
                </a:r>
                <a14:m>
                  <m:oMath xmlns:m="http://schemas.openxmlformats.org/officeDocument/2006/math"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=0.05</m:t>
                    </m:r>
                    <m:r>
                      <a:rPr lang="ko-KR" altLang="en-US" sz="2400" i="1">
                        <a:latin typeface="Cambria Math" panose="02040503050406030204" pitchFamily="18" charset="0"/>
                      </a:rPr>
                      <m:t>에</m:t>
                    </m:r>
                  </m:oMath>
                </a14:m>
                <a:r>
                  <a:rPr lang="ko-KR" altLang="en-US" sz="2400" dirty="0" smtClean="0"/>
                  <a:t>서 기각되지 않음</a:t>
                </a:r>
                <a:endParaRPr lang="en-US" altLang="ko-KR" sz="2400" dirty="0" smtClean="0"/>
              </a:p>
              <a:p>
                <a:pPr lvl="1"/>
                <a:r>
                  <a:rPr lang="ko-KR" altLang="en-US" sz="2000" dirty="0" smtClean="0"/>
                  <a:t>신뢰구간을 통해 얻은 결론과 일치</a:t>
                </a:r>
                <a:endParaRPr lang="ko-KR" altLang="en-US" sz="2000" dirty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812" t="-1961" r="-290" b="-182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5229105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현명하게 통계 사용하기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altLang="ko-KR" dirty="0" smtClean="0"/>
                  <a:t>t</a:t>
                </a:r>
                <a:r>
                  <a:rPr lang="ko-KR" altLang="en-US" dirty="0" smtClean="0"/>
                  <a:t>분포에 근거한 이 장에서의 추론은 개별 관측들의 분포가 정규분포가 되어야 한다</a:t>
                </a:r>
                <a:r>
                  <a:rPr lang="en-US" altLang="ko-KR" dirty="0" smtClean="0"/>
                  <a:t>.</a:t>
                </a:r>
              </a:p>
              <a:p>
                <a:pPr lvl="1"/>
                <a:r>
                  <a:rPr lang="ko-KR" altLang="en-US" dirty="0" smtClean="0"/>
                  <a:t>매우 작은 표본크기</a:t>
                </a:r>
                <a:r>
                  <a:rPr lang="en-US" altLang="ko-KR" dirty="0" smtClean="0"/>
                  <a:t>, 10</a:t>
                </a:r>
                <a:r>
                  <a:rPr lang="ko-KR" altLang="en-US" dirty="0" smtClean="0"/>
                  <a:t>이하로는 가정을 확인하기 불가능하므로</a:t>
                </a:r>
                <a:r>
                  <a:rPr lang="en-US" altLang="ko-KR" dirty="0" smtClean="0"/>
                  <a:t>, </a:t>
                </a:r>
                <a:r>
                  <a:rPr lang="ko-KR" altLang="en-US" dirty="0" smtClean="0"/>
                  <a:t>최선은 명백한 </a:t>
                </a:r>
                <a:r>
                  <a:rPr lang="ko-KR" altLang="en-US" dirty="0" err="1" smtClean="0"/>
                  <a:t>이상값들이</a:t>
                </a:r>
                <a:r>
                  <a:rPr lang="ko-KR" altLang="en-US" dirty="0" smtClean="0"/>
                  <a:t> 없는지 </a:t>
                </a:r>
                <a:r>
                  <a:rPr lang="ko-KR" altLang="en-US" dirty="0" err="1" smtClean="0"/>
                  <a:t>점도표</a:t>
                </a:r>
                <a:r>
                  <a:rPr lang="en-US" altLang="ko-KR" dirty="0" smtClean="0"/>
                  <a:t>, </a:t>
                </a:r>
                <a:r>
                  <a:rPr lang="ko-KR" altLang="en-US" dirty="0" smtClean="0"/>
                  <a:t>정규점수도표 등으로 확인</a:t>
                </a:r>
                <a:endParaRPr lang="en-US" altLang="ko-KR" dirty="0" smtClean="0"/>
              </a:p>
              <a:p>
                <a:pPr lvl="1"/>
                <a:r>
                  <a:rPr lang="ko-KR" altLang="en-US" dirty="0" smtClean="0"/>
                  <a:t>모집단 분포에 관계없이 표본크기가 증가하면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ko-KR" altLang="en-US" dirty="0" smtClean="0"/>
                  <a:t>의 분포가 거의 정규분포가 되므로</a:t>
                </a:r>
                <a:r>
                  <a:rPr lang="en-US" altLang="ko-KR" dirty="0" smtClean="0"/>
                  <a:t>, </a:t>
                </a:r>
                <a:r>
                  <a:rPr lang="ko-KR" altLang="en-US" dirty="0" smtClean="0"/>
                  <a:t>표본크기가 대략 </a:t>
                </a:r>
                <a:r>
                  <a:rPr lang="en-US" altLang="ko-KR" dirty="0" smtClean="0"/>
                  <a:t>15</a:t>
                </a:r>
                <a:r>
                  <a:rPr lang="ko-KR" altLang="en-US" dirty="0" smtClean="0"/>
                  <a:t>보다 크면 </a:t>
                </a:r>
                <a:r>
                  <a:rPr lang="en-US" altLang="ko-KR" dirty="0" smtClean="0"/>
                  <a:t>t</a:t>
                </a:r>
                <a:r>
                  <a:rPr lang="ko-KR" altLang="en-US" dirty="0" smtClean="0"/>
                  <a:t>통계량에 기초한 추론은 정규모집단으로부터의 약간의 이탈에 대해서는 비교적 괜찮음</a:t>
                </a:r>
                <a:endParaRPr lang="en-US" altLang="ko-KR" dirty="0" smtClean="0"/>
              </a:p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100</m:t>
                    </m:r>
                    <m:d>
                      <m:d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</m:d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%</m:t>
                    </m:r>
                  </m:oMath>
                </a14:m>
                <a:r>
                  <a:rPr lang="ko-KR" altLang="en-US" dirty="0" smtClean="0"/>
                  <a:t> 신뢰구간을 이해하라</a:t>
                </a:r>
                <a:r>
                  <a:rPr lang="en-US" altLang="ko-KR" dirty="0" smtClean="0"/>
                  <a:t>.</a:t>
                </a:r>
              </a:p>
              <a:p>
                <a:pPr lvl="1"/>
                <a:r>
                  <a:rPr lang="ko-KR" altLang="en-US" dirty="0" smtClean="0"/>
                  <a:t>정규모집단에 대해 데이터가 수집되기 전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altLang="ko-KR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acc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f>
                              <m:fPr>
                                <m:type m:val="lin"/>
                                <m:ctrlP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num>
                              <m:den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sub>
                        </m:sSub>
                        <m:f>
                          <m:f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rad>
                          </m:den>
                        </m:f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acc>
                          <m:accPr>
                            <m:chr m:val="̅"/>
                            <m:ctrlPr>
                              <a:rPr lang="en-US" altLang="ko-KR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acc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f>
                              <m:fPr>
                                <m:type m:val="lin"/>
                                <m:ctrlP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num>
                              <m:den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sub>
                        </m:sSub>
                        <m:f>
                          <m:f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rad>
                          </m:den>
                        </m:f>
                      </m:e>
                    </m:d>
                  </m:oMath>
                </a14:m>
                <a:r>
                  <a:rPr lang="ko-KR" altLang="en-US" dirty="0" smtClean="0"/>
                  <a:t>는 고정된 미지의 평균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ko-KR" altLang="en-US" dirty="0" smtClean="0"/>
                  <a:t>를 포함할 확률이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1−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ko-KR" altLang="en-US" dirty="0" smtClean="0"/>
                  <a:t>인 구간</a:t>
                </a:r>
                <a:endParaRPr lang="en-US" altLang="ko-KR" dirty="0" smtClean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043" t="-2381" r="-52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156933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현명하게 통계 사용하기</a:t>
            </a:r>
            <a:r>
              <a:rPr lang="en-US" altLang="ko-KR" smtClean="0"/>
              <a:t>(2)</a:t>
            </a:r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 dirty="0" smtClean="0"/>
                  <a:t>실험에서 확인하고자 하는 주장을 대립가설로 설정</a:t>
                </a:r>
                <a:endParaRPr lang="en-US" altLang="ko-KR" dirty="0" smtClean="0"/>
              </a:p>
              <a:p>
                <a:pPr lvl="1"/>
                <a:r>
                  <a:rPr lang="ko-KR" altLang="en-US" dirty="0" err="1" smtClean="0"/>
                  <a:t>귀무가설</a:t>
                </a:r>
                <a:r>
                  <a:rPr lang="ko-KR" altLang="en-US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 :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ko-KR" altLang="en-US" dirty="0" smtClean="0"/>
                  <a:t>의 검정은 검정통계량</a:t>
                </a:r>
                <a:r>
                  <a:rPr lang="en-US" altLang="ko-KR" dirty="0" smtClean="0"/>
                  <a:t/>
                </a:r>
                <a:br>
                  <a:rPr lang="en-US" altLang="ko-KR" dirty="0" smtClean="0"/>
                </a:br>
                <a:r>
                  <a:rPr lang="en-US" altLang="ko-KR" dirty="0" smtClean="0"/>
                  <a:t/>
                </a:r>
                <a:br>
                  <a:rPr lang="en-US" altLang="ko-KR" dirty="0" smtClean="0"/>
                </a:br>
                <a14:m>
                  <m:oMath xmlns:m="http://schemas.openxmlformats.org/officeDocument/2006/math">
                    <m:f>
                      <m:f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acc>
                          <m:accPr>
                            <m:chr m:val="̅"/>
                            <m:ctrlPr>
                              <a:rPr lang="en-US" altLang="ko-KR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acc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num>
                      <m:den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/</m:t>
                        </m:r>
                        <m:rad>
                          <m:radPr>
                            <m:degHide m:val="on"/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rad>
                      </m:den>
                    </m:f>
                  </m:oMath>
                </a14:m>
                <a:endParaRPr lang="en-US" altLang="ko-KR" b="0" dirty="0" smtClean="0"/>
              </a:p>
              <a:p>
                <a:pPr marL="457200" lvl="1" indent="0">
                  <a:buNone/>
                </a:pPr>
                <a:r>
                  <a:rPr lang="ko-KR" altLang="en-US" dirty="0" smtClean="0"/>
                  <a:t>에 근거하고 이 검정통계량은 자유도가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ko-KR" altLang="en-US" dirty="0" smtClean="0"/>
                  <a:t>인 </a:t>
                </a:r>
                <a:r>
                  <a:rPr lang="en-US" altLang="ko-KR" dirty="0" smtClean="0"/>
                  <a:t>t</a:t>
                </a:r>
                <a:r>
                  <a:rPr lang="ko-KR" altLang="en-US" dirty="0" smtClean="0"/>
                  <a:t>분포를 따른다</a:t>
                </a:r>
                <a:r>
                  <a:rPr lang="en-US" altLang="ko-KR" dirty="0" smtClean="0"/>
                  <a:t>.</a:t>
                </a:r>
              </a:p>
              <a:p>
                <a:pPr lvl="1"/>
                <a:r>
                  <a:rPr lang="ko-KR" altLang="en-US" dirty="0" err="1" smtClean="0"/>
                  <a:t>기각역은</a:t>
                </a:r>
                <a:r>
                  <a:rPr lang="ko-KR" altLang="en-US" dirty="0" smtClean="0"/>
                  <a:t> 대립가설에 따라 </a:t>
                </a:r>
                <a:r>
                  <a:rPr lang="ko-KR" altLang="en-US" dirty="0" err="1" smtClean="0"/>
                  <a:t>단측</a:t>
                </a:r>
                <a:r>
                  <a:rPr lang="ko-KR" altLang="en-US" dirty="0" smtClean="0"/>
                  <a:t> 혹은 양측 형태가 된다</a:t>
                </a:r>
                <a:r>
                  <a:rPr lang="en-US" altLang="ko-KR" dirty="0" smtClean="0"/>
                  <a:t>.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051771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8710</TotalTime>
  <Words>391</Words>
  <Application>Microsoft Office PowerPoint</Application>
  <PresentationFormat>와이드스크린</PresentationFormat>
  <Paragraphs>140</Paragraphs>
  <Slides>20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4" baseType="lpstr">
      <vt:lpstr>맑은 고딕</vt:lpstr>
      <vt:lpstr>Arial</vt:lpstr>
      <vt:lpstr>Cambria Math</vt:lpstr>
      <vt:lpstr>Office 테마</vt:lpstr>
      <vt:lpstr>정규모집단에서의 소표본 추론</vt:lpstr>
      <vt:lpstr>서론</vt:lpstr>
      <vt:lpstr>스튜던트 t 분포</vt:lpstr>
      <vt:lpstr>스튜던트 t 분포(2)</vt:lpstr>
      <vt:lpstr>스튜던트 t 분포(3)</vt:lpstr>
      <vt:lpstr>예제: t분포의 백분위 점 구하기</vt:lpstr>
      <vt:lpstr>예제: 확률이 0.90인 중심구간 결정</vt:lpstr>
      <vt:lpstr>μ에 관한 추론 - 소표본</vt:lpstr>
      <vt:lpstr>정규모집단 평균의 100(1-α)% 신뢰구간 </vt:lpstr>
      <vt:lpstr>신뢰구간의 의미</vt:lpstr>
      <vt:lpstr>신뢰구간의 이해</vt:lpstr>
      <vt:lpstr>t_(α∕2)와 z_(α∕2)</vt:lpstr>
      <vt:lpstr>모평균 μ의 가설검정 - 소표본</vt:lpstr>
      <vt:lpstr>예제: 물의 안전을 확인하기 위한 t검정</vt:lpstr>
      <vt:lpstr>검정과 신뢰구간의 관계</vt:lpstr>
      <vt:lpstr>검정과 신뢰구간의 관계(2)</vt:lpstr>
      <vt:lpstr>예제: 95% 신뢰구간과 양측검정</vt:lpstr>
      <vt:lpstr>예제: 95% 신뢰구간과 양측검정(2)</vt:lpstr>
      <vt:lpstr>현명하게 통계 사용하기</vt:lpstr>
      <vt:lpstr>현명하게 통계 사용하기(2)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정규모집단에서의 소표본 추론</dc:title>
  <dc:creator>sw</dc:creator>
  <cp:lastModifiedBy>kyungsub@gmail.com</cp:lastModifiedBy>
  <cp:revision>61</cp:revision>
  <dcterms:created xsi:type="dcterms:W3CDTF">2016-03-24T04:03:45Z</dcterms:created>
  <dcterms:modified xsi:type="dcterms:W3CDTF">2017-04-28T02:54:17Z</dcterms:modified>
</cp:coreProperties>
</file>