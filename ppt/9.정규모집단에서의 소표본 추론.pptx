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11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4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27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3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79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10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5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32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24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30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05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D05FD-3C5D-4492-9E94-CC845713AFF8}" type="datetimeFigureOut">
              <a:rPr lang="ko-KR" altLang="en-US" smtClean="0"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CAFDE-FF20-4CAB-8F96-2AE8D75D4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6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정규모집단에서의 </a:t>
            </a:r>
            <a:r>
              <a:rPr lang="ko-KR" altLang="en-US" dirty="0" err="1" smtClean="0"/>
              <a:t>소표본</a:t>
            </a:r>
            <a:r>
              <a:rPr lang="ko-KR" altLang="en-US" dirty="0" smtClean="0"/>
              <a:t> 추론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95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대표본이 이용 가능할 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분포가 근사적으로 정규분포를 따르게 되므로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이를 이용하여 통계적 추론 실시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작은 표본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대체로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≤30</m:t>
                    </m:r>
                  </m:oMath>
                </a14:m>
                <a:r>
                  <a:rPr lang="en-US" altLang="ko-KR" dirty="0" smtClean="0"/>
                  <a:t>)</a:t>
                </a:r>
                <a:r>
                  <a:rPr lang="ko-KR" altLang="en-US" dirty="0" smtClean="0"/>
                  <a:t>에서 유도되는 통계적 추론도 필요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표본이 작을 때는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분포는 모집단 분포의 형태에 상당히 좌우됨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이 장에서는 모집단 분포가 정규분포를 따를 때</a:t>
                </a:r>
                <a:endParaRPr lang="en-US" altLang="ko-KR" dirty="0" smtClean="0"/>
              </a:p>
              <a:p>
                <a:pPr lvl="2"/>
                <a:r>
                  <a:rPr lang="ko-KR" altLang="en-US" dirty="0" smtClean="0"/>
                  <a:t>신뢰구간</a:t>
                </a:r>
                <a:endParaRPr lang="en-US" altLang="ko-KR" dirty="0" smtClean="0"/>
              </a:p>
              <a:p>
                <a:pPr lvl="2"/>
                <a:r>
                  <a:rPr lang="ko-KR" altLang="en-US" dirty="0" smtClean="0"/>
                  <a:t>가설 검정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다음의 통계량의 </a:t>
                </a:r>
                <a:r>
                  <a:rPr lang="ko-KR" altLang="en-US" dirty="0" err="1" smtClean="0"/>
                  <a:t>표집분포는</a:t>
                </a:r>
                <a:r>
                  <a:rPr lang="ko-KR" altLang="en-US" dirty="0" smtClean="0"/>
                  <a:t> 스튜던트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분포를 따른다</a:t>
                </a:r>
                <a:r>
                  <a:rPr lang="en-US" altLang="ko-KR" dirty="0" smtClean="0"/>
                  <a:t>.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07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스튜던트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분포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sz="2400" dirty="0" smtClean="0"/>
                  <a:t>가 정규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2400" dirty="0" smtClean="0"/>
                  <a:t> 모집단에서 크기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400" dirty="0" smtClean="0"/>
                  <a:t>인 확률표본의 표본평균일 때</a:t>
                </a:r>
                <a:r>
                  <a:rPr lang="en-US" altLang="ko-KR" sz="240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400" dirty="0" smtClean="0"/>
                  <a:t> 정확히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ko-KR" altLang="en-US" sz="2400" dirty="0" smtClean="0"/>
                  <a:t> 분포를 따른다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따라서 표준화된 변수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400" dirty="0" smtClean="0"/>
                  <a:t> 정확히 표준정규분포를 따름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일반적으로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400" dirty="0" smtClean="0"/>
                  <a:t>는 모르는 값이므로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표본표준편차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2400" dirty="0" smtClean="0"/>
                  <a:t>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400" dirty="0" smtClean="0"/>
                  <a:t>를 추정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다음의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 smtClean="0"/>
                  <a:t>통계량을 생각해 보자</a:t>
                </a:r>
                <a:r>
                  <a:rPr lang="en-US" altLang="ko-KR" sz="2400" dirty="0" smtClean="0"/>
                  <a:t>.</a:t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altLang="ko-KR" sz="2400" dirty="0" smtClean="0"/>
              </a:p>
              <a:p>
                <a:pPr lvl="1"/>
                <a:r>
                  <a:rPr lang="en-US" altLang="ko-KR" sz="2000" dirty="0" smtClean="0"/>
                  <a:t>0</a:t>
                </a:r>
                <a:r>
                  <a:rPr lang="ko-KR" altLang="en-US" sz="2000" dirty="0" smtClean="0"/>
                  <a:t>에 대해 대칭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표본이 크면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2000" dirty="0" smtClean="0"/>
                  <a:t>는 정규분포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ko-KR" altLang="en-US" sz="2000" dirty="0" smtClean="0"/>
                  <a:t>와 크게 다르지 않지만 표본이 작으면 상당한 차이를 보임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표준편차는 </a:t>
                </a:r>
                <a:r>
                  <a:rPr lang="en-US" altLang="ko-KR" sz="2000" dirty="0" smtClean="0"/>
                  <a:t>1</a:t>
                </a:r>
                <a:r>
                  <a:rPr lang="ko-KR" altLang="en-US" sz="2000" dirty="0" smtClean="0"/>
                  <a:t>보다 크게 됨</a:t>
                </a: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93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스튜던트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분포</a:t>
                </a:r>
                <a:r>
                  <a:rPr lang="en-US" altLang="ko-KR" dirty="0" smtClean="0"/>
                  <a:t>(2)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만일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 smtClean="0"/>
                  <a:t>이 정규모집단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에서의 확률표본이고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며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altLang="ko-KR" b="0" dirty="0" smtClean="0"/>
                  <a:t/>
                </a:r>
                <a:br>
                  <a:rPr lang="en-US" altLang="ko-KR" b="0" dirty="0" smtClean="0"/>
                </a:br>
                <a:r>
                  <a:rPr lang="ko-KR" altLang="en-US" b="0" dirty="0" smtClean="0"/>
                  <a:t>일 </a:t>
                </a:r>
                <a:r>
                  <a:rPr lang="ko-KR" altLang="en-US" dirty="0" smtClean="0"/>
                  <a:t>때 </a:t>
                </a:r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  </a:t>
                </a:r>
                <a:r>
                  <a:rPr lang="ko-KR" altLang="en-US" dirty="0" smtClean="0"/>
                  <a:t>의 분포를 </a:t>
                </a:r>
                <a:r>
                  <a:rPr lang="ko-KR" altLang="en-US" b="1" dirty="0" smtClean="0"/>
                  <a:t>자유도</a:t>
                </a:r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dirty="0" smtClean="0"/>
                  <a:t>인 </a:t>
                </a:r>
                <a:r>
                  <a:rPr lang="ko-KR" altLang="en-US" b="1" dirty="0" smtClean="0"/>
                  <a:t>스튜던트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b="1" dirty="0" smtClean="0"/>
                  <a:t>분포</a:t>
                </a:r>
                <a:r>
                  <a:rPr lang="ko-KR" altLang="en-US" dirty="0" smtClean="0"/>
                  <a:t>라고 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자유도 </a:t>
                </a:r>
                <a:r>
                  <a:rPr lang="en-US" altLang="ko-KR" dirty="0" smtClean="0"/>
                  <a:t>= degree of freedom = </a:t>
                </a:r>
                <a:r>
                  <a:rPr lang="en-US" altLang="ko-KR" dirty="0" err="1" smtClean="0"/>
                  <a:t>d.f.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07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스튜던트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분포</a:t>
                </a:r>
                <a:r>
                  <a:rPr lang="en-US" altLang="ko-KR" dirty="0" smtClean="0"/>
                  <a:t>(3)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185687" cy="4351338"/>
              </a:xfrm>
            </p:spPr>
            <p:txBody>
              <a:bodyPr/>
              <a:lstStyle/>
              <a:p>
                <a:r>
                  <a:rPr lang="ko-KR" altLang="en-US" sz="2400" dirty="0" smtClean="0"/>
                  <a:t>표본크기 또는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 smtClean="0"/>
                  <a:t> 값에 따라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분포가 달라지기 때문에 </a:t>
                </a:r>
                <a:r>
                  <a:rPr lang="en-US" altLang="ko-KR" sz="2400" dirty="0" smtClean="0"/>
                  <a:t>"</a:t>
                </a:r>
                <a:r>
                  <a:rPr lang="ko-KR" altLang="en-US" sz="2400" dirty="0" smtClean="0"/>
                  <a:t>자유도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400" dirty="0" smtClean="0"/>
                  <a:t>"</a:t>
                </a:r>
                <a:r>
                  <a:rPr lang="ko-KR" altLang="en-US" sz="2400" dirty="0" smtClean="0"/>
                  <a:t>이라는 단서는 반드시 필요</a:t>
                </a:r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분</m:t>
                    </m:r>
                  </m:oMath>
                </a14:m>
                <a:r>
                  <a:rPr lang="ko-KR" altLang="en-US" sz="2400" dirty="0" smtClean="0"/>
                  <a:t>포는 항상 </a:t>
                </a:r>
                <a:r>
                  <a:rPr lang="en-US" altLang="ko-KR" sz="2400" dirty="0" smtClean="0"/>
                  <a:t>0</a:t>
                </a:r>
                <a:r>
                  <a:rPr lang="ko-KR" altLang="en-US" sz="2400" dirty="0" smtClean="0"/>
                  <a:t>에 관대 대칭이지만 표준정규분포보다는 두꺼운 꼬리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자유도가 증가할수록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 smtClean="0"/>
                  <a:t>분포는 표준정규분포에 가까워짐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부록 </a:t>
                </a:r>
                <a:r>
                  <a:rPr lang="en-US" altLang="ko-KR" sz="2400" dirty="0" smtClean="0"/>
                  <a:t>B</a:t>
                </a:r>
                <a:r>
                  <a:rPr lang="ko-KR" altLang="en-US" sz="2400" dirty="0" smtClean="0"/>
                  <a:t>의 표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는 몇 가지 선택된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sz="2400" dirty="0" smtClean="0"/>
                  <a:t>과 여러 가지 </a:t>
                </a:r>
                <a:r>
                  <a:rPr lang="ko-KR" altLang="en-US" sz="2400" dirty="0" err="1" smtClean="0"/>
                  <a:t>자유도에</a:t>
                </a:r>
                <a:r>
                  <a:rPr lang="ko-KR" altLang="en-US" sz="2400" dirty="0" smtClean="0"/>
                  <a:t> 대한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분</m:t>
                    </m:r>
                  </m:oMath>
                </a14:m>
                <a:r>
                  <a:rPr lang="ko-KR" altLang="en-US" sz="2400" dirty="0" smtClean="0"/>
                  <a:t>포의 상위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400" dirty="0" smtClean="0"/>
                  <a:t>인 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sz="2400" dirty="0" smtClean="0"/>
                  <a:t>이 주어짐</a:t>
                </a:r>
                <a:endParaRPr lang="en-US" altLang="ko-KR" sz="2400" dirty="0" smtClean="0"/>
              </a:p>
              <a:p>
                <a:pPr marL="457200" lvl="1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185687" cy="4351338"/>
              </a:xfrm>
              <a:blipFill rotWithShape="0">
                <a:blip r:embed="rId3"/>
                <a:stretch>
                  <a:fillRect l="-1381" t="-1961" r="-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내용 개체 틀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870138" y="1769233"/>
            <a:ext cx="4644828" cy="440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8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예제</a:t>
                </a:r>
                <a:r>
                  <a:rPr lang="en-US" altLang="ko-KR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 smtClean="0"/>
                  <a:t>분포의 백분위 점 구하기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제목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 smtClean="0"/>
                  <a:t>부록 </a:t>
                </a:r>
                <a:r>
                  <a:rPr lang="en-US" altLang="ko-KR" sz="2400" dirty="0" smtClean="0"/>
                  <a:t>B</a:t>
                </a:r>
                <a:r>
                  <a:rPr lang="ko-KR" altLang="en-US" sz="2400" dirty="0" smtClean="0"/>
                  <a:t>의 표 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를 이용하여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자유도 </a:t>
                </a:r>
                <a:r>
                  <a:rPr lang="en-US" altLang="ko-KR" sz="2400" dirty="0" smtClean="0"/>
                  <a:t>5</a:t>
                </a:r>
                <a:r>
                  <a:rPr lang="ko-KR" altLang="en-US" sz="2400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분포의 상위 </a:t>
                </a:r>
                <a:r>
                  <a:rPr lang="en-US" altLang="ko-KR" sz="2400" dirty="0" smtClean="0"/>
                  <a:t>0.10</a:t>
                </a:r>
                <a:r>
                  <a:rPr lang="ko-KR" altLang="en-US" sz="2400" dirty="0" smtClean="0"/>
                  <a:t>인 점을 결정하라</a:t>
                </a:r>
                <a:r>
                  <a:rPr lang="en-US" altLang="ko-KR" sz="2400" dirty="0" smtClean="0"/>
                  <a:t>. </a:t>
                </a:r>
                <a:r>
                  <a:rPr lang="ko-KR" altLang="en-US" sz="2400" dirty="0" smtClean="0"/>
                  <a:t>또한 하위 </a:t>
                </a:r>
                <a:r>
                  <a:rPr lang="en-US" altLang="ko-KR" sz="2400" dirty="0" smtClean="0"/>
                  <a:t>0.10</a:t>
                </a:r>
                <a:r>
                  <a:rPr lang="ko-KR" altLang="en-US" sz="2400" dirty="0" smtClean="0"/>
                  <a:t>인 점도 구하라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자유도가 </a:t>
                </a:r>
                <a:r>
                  <a:rPr lang="en-US" altLang="ko-KR" sz="2400" dirty="0" smtClean="0"/>
                  <a:t>5</a:t>
                </a:r>
                <a:r>
                  <a:rPr lang="ko-KR" altLang="en-US" sz="2400" dirty="0" smtClean="0"/>
                  <a:t>인 </a:t>
                </a:r>
                <a:r>
                  <a:rPr lang="en-US" altLang="ko-KR" sz="2400" dirty="0" smtClean="0"/>
                  <a:t>t</a:t>
                </a:r>
                <a:r>
                  <a:rPr lang="ko-KR" altLang="en-US" sz="2400" dirty="0" smtClean="0"/>
                  <a:t>분포의 상위 </a:t>
                </a:r>
                <a:r>
                  <a:rPr lang="en-US" altLang="ko-KR" sz="2400" dirty="0" smtClean="0"/>
                  <a:t>0.10</a:t>
                </a:r>
                <a:r>
                  <a:rPr lang="ko-KR" altLang="en-US" sz="2400" dirty="0" smtClean="0"/>
                  <a:t>인 점은 부록 </a:t>
                </a:r>
                <a:r>
                  <a:rPr lang="en-US" altLang="ko-KR" sz="2400" dirty="0" smtClean="0"/>
                  <a:t>B</a:t>
                </a:r>
                <a:r>
                  <a:rPr lang="ko-KR" altLang="en-US" sz="2400" dirty="0" smtClean="0"/>
                  <a:t>의 표 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에 의해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0" dirty="0" smtClean="0">
                            <a:latin typeface="Cambria Math" panose="02040503050406030204" pitchFamily="18" charset="0"/>
                          </a:rPr>
                          <m:t>0.10</m:t>
                        </m:r>
                      </m:sub>
                    </m:sSub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=1.476</m:t>
                    </m:r>
                  </m:oMath>
                </a14:m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분포는 좌우 대칭이므로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하위 </a:t>
                </a:r>
                <a:r>
                  <a:rPr lang="en-US" altLang="ko-KR" sz="2400" dirty="0" smtClean="0"/>
                  <a:t>0.10</a:t>
                </a:r>
                <a:r>
                  <a:rPr lang="ko-KR" altLang="en-US" sz="2400" dirty="0" smtClean="0"/>
                  <a:t>인 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0" dirty="0" smtClean="0">
                            <a:latin typeface="Cambria Math" panose="02040503050406030204" pitchFamily="18" charset="0"/>
                          </a:rPr>
                          <m:t>0.10</m:t>
                        </m:r>
                      </m:sub>
                    </m:sSub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=−1.476</m:t>
                    </m:r>
                  </m:oMath>
                </a14:m>
                <a:endParaRPr lang="en-US" altLang="ko-KR" sz="240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 r="-2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7789560"/>
                  </p:ext>
                </p:extLst>
              </p:nvPr>
            </p:nvGraphicFramePr>
            <p:xfrm>
              <a:off x="7307109" y="4186177"/>
              <a:ext cx="3896763" cy="15661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921"/>
                    <a:gridCol w="1298921"/>
                    <a:gridCol w="1298921"/>
                  </a:tblGrid>
                  <a:tr h="45367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err="1" smtClean="0"/>
                            <a:t>d.f.</a:t>
                          </a:r>
                          <a:r>
                            <a:rPr lang="en-US" altLang="ko-KR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.10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mtClean="0"/>
                            <a:t>1.476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7789560"/>
                  </p:ext>
                </p:extLst>
              </p:nvPr>
            </p:nvGraphicFramePr>
            <p:xfrm>
              <a:off x="7307109" y="4186177"/>
              <a:ext cx="3896763" cy="15661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921"/>
                    <a:gridCol w="1298921"/>
                    <a:gridCol w="1298921"/>
                  </a:tblGrid>
                  <a:tr h="4536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4"/>
                          <a:stretch>
                            <a:fillRect l="-469" t="-6667" r="-202817" b="-2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6667" r="-101869" b="-2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.10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.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mtClean="0"/>
                            <a:t>1.476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030" y="3924113"/>
            <a:ext cx="3451580" cy="209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9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확률이 </a:t>
            </a:r>
            <a:r>
              <a:rPr lang="en-US" altLang="ko-KR" dirty="0" smtClean="0"/>
              <a:t>0.90</a:t>
            </a:r>
            <a:r>
              <a:rPr lang="ko-KR" altLang="en-US" dirty="0" smtClean="0"/>
              <a:t>인 중심구간 결정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자유도 </a:t>
                </a:r>
                <a:r>
                  <a:rPr lang="en-US" altLang="ko-KR" sz="2400" dirty="0" smtClean="0"/>
                  <a:t>9</a:t>
                </a:r>
                <a:r>
                  <a:rPr lang="ko-KR" altLang="en-US" sz="2400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분포에서</a:t>
                </a:r>
                <a:r>
                  <a:rPr lang="en-US" altLang="ko-KR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=0.90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2400" dirty="0" smtClean="0"/>
                  <a:t> 만족하는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400" dirty="0" smtClean="0"/>
                  <a:t>값을 구하라</a:t>
                </a:r>
                <a:r>
                  <a:rPr lang="en-US" altLang="ko-KR" sz="24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400" dirty="0" smtClean="0"/>
                  <a:t>보다 클 확률과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400" dirty="0" smtClean="0"/>
                  <a:t>보다 작을 확률이 각각 </a:t>
                </a:r>
                <a:r>
                  <a:rPr lang="en-US" altLang="ko-KR" sz="2400" dirty="0" smtClean="0"/>
                  <a:t>0.05</a:t>
                </a:r>
                <a:r>
                  <a:rPr lang="ko-KR" altLang="en-US" sz="2400" dirty="0" smtClean="0"/>
                  <a:t>이어야 함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그러므로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4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분포의 상위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ko-KR" altLang="en-US" sz="2400" dirty="0" smtClean="0"/>
                  <a:t>인 점이 된다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부록 </a:t>
                </a:r>
                <a:r>
                  <a:rPr lang="en-US" altLang="ko-KR" sz="2400" dirty="0" smtClean="0"/>
                  <a:t>B</a:t>
                </a:r>
                <a:r>
                  <a:rPr lang="ko-KR" altLang="en-US" sz="2400" dirty="0" smtClean="0"/>
                  <a:t>의 표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에서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ko-KR" altLang="en-US" sz="2400" dirty="0" smtClean="0"/>
                  <a:t>이고 </a:t>
                </a:r>
                <a:r>
                  <a:rPr lang="en-US" altLang="ko-KR" sz="2400" dirty="0" err="1" smtClean="0"/>
                  <a:t>d.f.</a:t>
                </a:r>
                <a:r>
                  <a:rPr lang="en-US" altLang="ko-KR" sz="2400" dirty="0" smtClean="0"/>
                  <a:t>=9</a:t>
                </a:r>
                <a:r>
                  <a:rPr lang="ko-KR" altLang="en-US" sz="2400" dirty="0" smtClean="0"/>
                  <a:t>에 해당하는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=1.833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따라서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=1.833</m:t>
                    </m:r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06" y="4001294"/>
            <a:ext cx="3500348" cy="207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8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에 관한 추론 </a:t>
                </a:r>
                <a:r>
                  <a:rPr lang="en-US" altLang="ko-KR" dirty="0" smtClean="0"/>
                  <a:t>- </a:t>
                </a:r>
                <a:r>
                  <a:rPr lang="ko-KR" altLang="en-US" dirty="0" err="1" smtClean="0"/>
                  <a:t>소표본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앞에서의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분포는 정규모집단의 평균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400" dirty="0" smtClean="0"/>
                  <a:t>의 신뢰구간을 결정하는 실마리를 제공</a:t>
                </a:r>
                <a:r>
                  <a:rPr lang="en-US" altLang="ko-KR" sz="24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sz="2400" dirty="0" smtClean="0"/>
                  <a:t> 신뢰구간을 구하기 위해서는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분포표</a:t>
                </a:r>
                <a:r>
                  <a:rPr lang="en-US" altLang="ko-KR" sz="2400" dirty="0" smtClean="0"/>
                  <a:t>(</a:t>
                </a:r>
                <a:r>
                  <a:rPr lang="ko-KR" altLang="en-US" sz="2400" dirty="0" smtClean="0"/>
                  <a:t>부록 </a:t>
                </a:r>
                <a:r>
                  <a:rPr lang="en-US" altLang="ko-KR" sz="2400" dirty="0" smtClean="0"/>
                  <a:t>B</a:t>
                </a:r>
                <a:r>
                  <a:rPr lang="ko-KR" altLang="en-US" sz="2400" dirty="0" smtClean="0"/>
                  <a:t>의 표</a:t>
                </a:r>
                <a:r>
                  <a:rPr lang="en-US" altLang="ko-KR" sz="2400" dirty="0" smtClean="0"/>
                  <a:t>4)</a:t>
                </a:r>
                <a:r>
                  <a:rPr lang="ko-KR" altLang="en-US" sz="2400" dirty="0" smtClean="0"/>
                  <a:t>에서 자유도가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2400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분포의 상위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ko-KR" altLang="en-US" sz="2400" dirty="0" smtClean="0"/>
                  <a:t>인 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구해야 함</a:t>
                </a:r>
                <a:r>
                  <a:rPr lang="en-US" altLang="ko-KR" sz="2400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834" y="4252308"/>
            <a:ext cx="3408691" cy="226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8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spc="-150" dirty="0" smtClean="0"/>
                  <a:t>정규모집단 평균의 </a:t>
                </a:r>
                <a14:m>
                  <m:oMath xmlns:m="http://schemas.openxmlformats.org/officeDocument/2006/math">
                    <m:r>
                      <a:rPr lang="en-US" altLang="ko-KR" b="0" i="1" spc="-150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pc="-15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pc="-15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pc="-15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spc="-150" dirty="0" smtClean="0"/>
                  <a:t> 신뢰구간 </a:t>
                </a:r>
                <a:endParaRPr lang="ko-KR" altLang="en-US" spc="-150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 r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ko-KR" altLang="en-US" sz="2000" dirty="0" smtClean="0"/>
                  <a:t>이 자유도가 </a:t>
                </a:r>
                <a:r>
                  <a:rPr lang="en-US" altLang="ko-KR" sz="2000" dirty="0" smtClean="0"/>
                  <a:t>n-1</a:t>
                </a:r>
                <a:r>
                  <a:rPr lang="ko-KR" altLang="en-US" sz="2000" dirty="0" smtClean="0"/>
                  <a:t>인 </a:t>
                </a:r>
                <a:r>
                  <a:rPr lang="en-US" altLang="ko-KR" sz="2000" dirty="0" smtClean="0"/>
                  <a:t>t</a:t>
                </a:r>
                <a:r>
                  <a:rPr lang="ko-KR" altLang="en-US" sz="2000" dirty="0" smtClean="0"/>
                  <a:t>분포를 따르므로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</m:oMath>
                </a14:m>
                <a:r>
                  <a:rPr lang="en-US" altLang="ko-KR" sz="1600" b="0" dirty="0" smtClean="0"/>
                  <a:t/>
                </a:r>
                <a:br>
                  <a:rPr lang="en-US" altLang="ko-KR" sz="1600" b="0" dirty="0" smtClean="0"/>
                </a:b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b="0" dirty="0" smtClean="0"/>
                  <a:t/>
                </a:r>
                <a:br>
                  <a:rPr lang="en-US" altLang="ko-KR" sz="1600" b="0" dirty="0" smtClean="0"/>
                </a:b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000" dirty="0" smtClean="0"/>
                  <a:t>이 성립</a:t>
                </a:r>
                <a:r>
                  <a:rPr lang="en-US" altLang="ko-KR" sz="2000" dirty="0" smtClean="0"/>
                  <a:t>. </a:t>
                </a:r>
                <a:r>
                  <a:rPr lang="ko-KR" altLang="en-US" sz="2000" dirty="0" smtClean="0"/>
                  <a:t>신뢰구간을 구하기 위해 괄호 안의 식을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000" dirty="0" smtClean="0"/>
                  <a:t>에 관해 정리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acc>
                            <m:accPr>
                              <m:chr m:val="̅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ko-KR" sz="2400" dirty="0" smtClean="0"/>
              </a:p>
              <a:p>
                <a:r>
                  <a:rPr lang="ko-KR" altLang="en-US" sz="2000" dirty="0" smtClean="0"/>
                  <a:t>따라서 </a:t>
                </a:r>
                <a:r>
                  <a:rPr lang="ko-KR" altLang="en-US" sz="2000" spc="-150" dirty="0" smtClean="0"/>
                  <a:t>정규모집단 평균의 </a:t>
                </a:r>
                <a14:m>
                  <m:oMath xmlns:m="http://schemas.openxmlformats.org/officeDocument/2006/math"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sz="2000" spc="-150" dirty="0" smtClean="0"/>
                  <a:t> 신뢰구간은</a:t>
                </a:r>
                <a:r>
                  <a:rPr lang="en-US" altLang="ko-KR" sz="2000" spc="-150" dirty="0" smtClean="0"/>
                  <a:t/>
                </a:r>
                <a:br>
                  <a:rPr lang="en-US" altLang="ko-KR" sz="2000" spc="-150" dirty="0" smtClean="0"/>
                </a:br>
                <a:r>
                  <a:rPr lang="en-US" altLang="ko-KR" sz="2000" spc="-150" dirty="0" smtClean="0"/>
                  <a:t/>
                </a:r>
                <a:br>
                  <a:rPr lang="en-US" altLang="ko-KR" sz="2000" spc="-150" dirty="0" smtClean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22"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76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신뢰구간의 의미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정규모집단에서 </a:t>
                </a:r>
                <a:r>
                  <a:rPr lang="en-US" altLang="ko-KR" sz="2400" dirty="0" smtClean="0"/>
                  <a:t>n</a:t>
                </a:r>
                <a:r>
                  <a:rPr lang="ko-KR" altLang="en-US" sz="2400" dirty="0" smtClean="0"/>
                  <a:t>을 반복해서 추출하여 각 구간의 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type m:val="li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type m:val="li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2400" dirty="0" smtClean="0"/>
                  <a:t> 계산한다고 생각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구간은 중심이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2000" dirty="0" smtClean="0"/>
                  <a:t>이고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그 중심은 표본에 따라 변함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구간의 길이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ko-KR" altLang="en-US" sz="2000" dirty="0" smtClean="0"/>
                  <a:t> 역시 표본표준편차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000" dirty="0" smtClean="0"/>
                  <a:t> 다양성 때문에 표본에 따라 변함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반복추출에서 구간들의 중심과 길이는 변수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만일 표본추출을 많이 반복하면 이렇게 구한 신뢰구간 중 약 </a:t>
                </a:r>
                <a14:m>
                  <m:oMath xmlns:m="http://schemas.openxmlformats.org/officeDocument/2006/math"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sz="2000" i="1" spc="-1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sz="2000" spc="-150" dirty="0"/>
                  <a:t> </a:t>
                </a:r>
                <a:r>
                  <a:rPr lang="ko-KR" altLang="en-US" sz="2000" spc="-150" dirty="0" smtClean="0"/>
                  <a:t>정도는 실제 모평균 </a:t>
                </a:r>
                <a14:m>
                  <m:oMath xmlns:m="http://schemas.openxmlformats.org/officeDocument/2006/math"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000" dirty="0" smtClean="0"/>
                  <a:t>를 포함하리라 기대할 수 있음</a:t>
                </a: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260" y="4042968"/>
            <a:ext cx="2904023" cy="259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9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신뢰구간의 이해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암컷 늑대 </a:t>
                </a:r>
                <a:r>
                  <a:rPr lang="en-US" altLang="ko-KR" sz="2400" dirty="0" smtClean="0"/>
                  <a:t>8</a:t>
                </a:r>
                <a:r>
                  <a:rPr lang="ko-KR" altLang="en-US" sz="2400" dirty="0" smtClean="0"/>
                  <a:t>마리의 무게를 측정한 결과</a:t>
                </a:r>
                <a:endParaRPr lang="en-US" altLang="ko-KR" sz="2400" dirty="0"/>
              </a:p>
              <a:p>
                <a:pPr lvl="1"/>
                <a:r>
                  <a:rPr lang="en-US" altLang="ko-KR" sz="2000" dirty="0" smtClean="0"/>
                  <a:t>57 84 90 71 77 68 73 71</a:t>
                </a:r>
              </a:p>
              <a:p>
                <a:r>
                  <a:rPr lang="ko-KR" altLang="en-US" sz="2400" dirty="0" smtClean="0"/>
                  <a:t>이 무게들을 정규분포에서의 확률표본으로 간주하고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모집단 암컷 늑대들의 평균 몸무게의 </a:t>
                </a:r>
                <a:r>
                  <a:rPr lang="en-US" altLang="ko-KR" sz="2400" dirty="0" smtClean="0"/>
                  <a:t>90% </a:t>
                </a:r>
                <a:r>
                  <a:rPr lang="ko-KR" altLang="en-US" sz="2400" dirty="0" smtClean="0"/>
                  <a:t>신뢰구간</a:t>
                </a:r>
                <a:endParaRPr lang="en-US" altLang="ko-KR" sz="2400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ko-KR" altLang="en-US" sz="2000" dirty="0" smtClean="0"/>
                  <a:t>이며 </a:t>
                </a:r>
                <a:r>
                  <a:rPr lang="ko-KR" altLang="en-US" sz="2000" dirty="0" err="1" smtClean="0"/>
                  <a:t>자유도는</a:t>
                </a:r>
                <a:r>
                  <a:rPr lang="ko-KR" alt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−1=7</m:t>
                    </m:r>
                  </m:oMath>
                </a14:m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따라서 </a:t>
                </a:r>
                <a:r>
                  <a:rPr lang="en-US" altLang="ko-KR" sz="2000" dirty="0" smtClean="0"/>
                  <a:t>t</a:t>
                </a:r>
                <a:r>
                  <a:rPr lang="ko-KR" altLang="en-US" sz="2000" dirty="0" smtClean="0"/>
                  <a:t>분포표에서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=1.895</a:t>
                </a:r>
              </a:p>
              <a:p>
                <a:pPr lvl="1"/>
                <a:r>
                  <a:rPr lang="ko-KR" altLang="en-US" sz="2000" dirty="0" smtClean="0"/>
                  <a:t>한편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=73.975,</m:t>
                    </m:r>
                  </m:oMath>
                </a14:m>
                <a:r>
                  <a:rPr lang="ko-KR" altLang="en-US" sz="2000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708.875</m:t>
                        </m:r>
                      </m:num>
                      <m:den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=101.268,   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=10.063</m:t>
                    </m:r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000" dirty="0" smtClean="0"/>
                  <a:t>의 </a:t>
                </a:r>
                <a:r>
                  <a:rPr lang="en-US" altLang="ko-KR" sz="2000" dirty="0" smtClean="0"/>
                  <a:t>90% </a:t>
                </a:r>
                <a:r>
                  <a:rPr lang="ko-KR" altLang="en-US" sz="2000" dirty="0" smtClean="0"/>
                  <a:t>신뢰구간은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73.975±1.895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10.063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=73.875±6.742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400" dirty="0" smtClean="0"/>
                  <a:t>이 구간이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400" dirty="0" smtClean="0"/>
                  <a:t>를 포함하는가</a:t>
                </a:r>
                <a:r>
                  <a:rPr lang="en-US" altLang="ko-KR" sz="2400" dirty="0" smtClean="0"/>
                  <a:t>?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b="-11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54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소표본 크기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이 주어지면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dirty="0" smtClean="0"/>
                  <a:t>를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추정함으로써 발생되는 추가적인 변동은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보</m:t>
                    </m:r>
                  </m:oMath>
                </a14:m>
                <a:r>
                  <a:rPr lang="ko-KR" altLang="en-US" dirty="0" smtClean="0"/>
                  <a:t>다 훨씬 크게 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그러므로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모를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매우 작은 표본크기에 근거한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신뢰구간 추정은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알 때의 경우와 비교하여 다소 정확성이 떨어질 것으로 예상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신뢰구간이 넓어짐</a:t>
                </a:r>
                <a:endParaRPr lang="en-US" altLang="ko-KR" dirty="0" smtClean="0"/>
              </a:p>
              <a:p>
                <a:r>
                  <a:rPr lang="en-US" altLang="ko-KR" dirty="0" smtClean="0"/>
                  <a:t>n</a:t>
                </a:r>
                <a:r>
                  <a:rPr lang="ko-KR" altLang="en-US" dirty="0" smtClean="0"/>
                  <a:t>이 증가하면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dirty="0" smtClean="0"/>
                  <a:t>에 의해 더욱더 근사하게 추정되고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차이는 감소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3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모평균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의 가설검정 </a:t>
                </a:r>
                <a:r>
                  <a:rPr lang="en-US" altLang="ko-KR" dirty="0" smtClean="0"/>
                  <a:t>- </a:t>
                </a:r>
                <a:r>
                  <a:rPr lang="ko-KR" altLang="en-US" dirty="0" err="1" smtClean="0"/>
                  <a:t>소표본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정규모집단의 평균에 관한 가설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를 검정하기 위한 검정통계량은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endParaRPr lang="en-US" altLang="ko-KR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400" dirty="0" smtClean="0"/>
                  <a:t> 이고 자유도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2400" dirty="0" smtClean="0"/>
                  <a:t>인 스튜던트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분포를 따른다</a:t>
                </a:r>
                <a:r>
                  <a:rPr lang="en-US" altLang="ko-KR" sz="2400" dirty="0" smtClean="0"/>
                  <a:t>. </a:t>
                </a:r>
              </a:p>
              <a:p>
                <a:r>
                  <a:rPr lang="ko-KR" altLang="en-US" sz="2400" dirty="0" smtClean="0"/>
                  <a:t>각각의 대립가설에 따른 </a:t>
                </a:r>
                <a:r>
                  <a:rPr lang="ko-KR" altLang="en-US" sz="2400" dirty="0" err="1" smtClean="0"/>
                  <a:t>자유도는</a:t>
                </a:r>
                <a:r>
                  <a:rPr lang="ko-KR" altLang="en-US" sz="2400" dirty="0" smtClean="0"/>
                  <a:t> 다음과 같다</a:t>
                </a:r>
                <a:r>
                  <a:rPr lang="en-US" altLang="ko-KR" sz="24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altLang="ko-KR" sz="2000" b="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endParaRPr lang="en-US" altLang="ko-KR" sz="2000" b="0" dirty="0" smtClean="0"/>
              </a:p>
              <a:p>
                <a:r>
                  <a:rPr lang="ko-KR" altLang="en-US" sz="2400" dirty="0" smtClean="0"/>
                  <a:t>이러한 검정을 </a:t>
                </a:r>
                <a:r>
                  <a:rPr lang="ko-KR" altLang="en-US" sz="2400" b="1" dirty="0" smtClean="0"/>
                  <a:t>스튜던트</a:t>
                </a:r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t-</a:t>
                </a:r>
                <a:r>
                  <a:rPr lang="ko-KR" altLang="en-US" sz="2400" b="1" dirty="0" smtClean="0"/>
                  <a:t>검정</a:t>
                </a:r>
                <a:r>
                  <a:rPr lang="ko-KR" altLang="en-US" sz="2400" dirty="0" smtClean="0"/>
                  <a:t> 또는 </a:t>
                </a:r>
                <a:r>
                  <a:rPr lang="en-US" altLang="ko-KR" sz="2400" dirty="0" smtClean="0"/>
                  <a:t>t-</a:t>
                </a:r>
                <a:r>
                  <a:rPr lang="ko-KR" altLang="en-US" sz="2400" b="1" dirty="0" smtClean="0"/>
                  <a:t>검정</a:t>
                </a:r>
                <a:r>
                  <a:rPr lang="ko-KR" altLang="en-US" sz="2400" dirty="0" smtClean="0"/>
                  <a:t>이라 한다</a:t>
                </a:r>
                <a:r>
                  <a:rPr lang="en-US" altLang="ko-KR" sz="2400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47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물의 안전을 확인하기 위한 </a:t>
            </a:r>
            <a:r>
              <a:rPr lang="en-US" altLang="ko-KR" dirty="0" smtClean="0"/>
              <a:t>t</a:t>
            </a:r>
            <a:r>
              <a:rPr lang="ko-KR" altLang="en-US" dirty="0" smtClean="0"/>
              <a:t>검정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ko-KR" altLang="en-US" dirty="0" smtClean="0"/>
                  <a:t>호수 물의 박테리아 수가 안전한 </a:t>
                </a:r>
                <a:r>
                  <a:rPr lang="en-US" altLang="ko-KR" dirty="0" smtClean="0"/>
                  <a:t>200</a:t>
                </a:r>
                <a:r>
                  <a:rPr lang="ko-KR" altLang="en-US" dirty="0" smtClean="0"/>
                  <a:t>마리 이내인지 검정</a:t>
                </a:r>
                <a:endParaRPr lang="en-US" altLang="ko-KR" dirty="0" smtClean="0"/>
              </a:p>
              <a:p>
                <a:r>
                  <a:rPr lang="en-US" altLang="ko-KR" dirty="0" smtClean="0"/>
                  <a:t>10</a:t>
                </a:r>
                <a:r>
                  <a:rPr lang="ko-KR" altLang="en-US" dirty="0" smtClean="0"/>
                  <a:t>개의 표본에서 단위 용적 당 박테리아 수</a:t>
                </a:r>
                <a:endParaRPr lang="en-US" altLang="ko-KR" dirty="0"/>
              </a:p>
              <a:p>
                <a:pPr lvl="1"/>
                <a:r>
                  <a:rPr lang="en-US" altLang="ko-KR" dirty="0" smtClean="0"/>
                  <a:t>175 190 205 193 184 208 204 193 196 180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=0.05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dirty="0" smtClean="0"/>
                  <a:t>준에서 호수 물이 안전한지 검정하라</a:t>
                </a:r>
                <a:r>
                  <a:rPr lang="en-US" altLang="ko-KR" dirty="0" smtClean="0"/>
                  <a:t>.</a:t>
                </a:r>
              </a:p>
              <a:p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=200,  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&lt;200</m:t>
                    </m:r>
                  </m:oMath>
                </a14:m>
                <a:endParaRPr lang="en-US" altLang="ko-KR" b="0" dirty="0" smtClean="0"/>
              </a:p>
              <a:p>
                <a:r>
                  <a:rPr lang="ko-KR" altLang="en-US" dirty="0" smtClean="0"/>
                  <a:t>검정통계량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−200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.=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err="1" smtClean="0"/>
                  <a:t>기각역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=−1.833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관측통계량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=192.7,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=10.81,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192.7−200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10.81/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=−2.14</m:t>
                    </m:r>
                  </m:oMath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−2.14&lt;−1.833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므로 </a:t>
                </a:r>
                <a:r>
                  <a:rPr lang="ko-KR" altLang="en-US" dirty="0" err="1" smtClean="0"/>
                  <a:t>귀무가설</a:t>
                </a:r>
                <a:r>
                  <a:rPr lang="ko-KR" altLang="en-US" dirty="0" smtClean="0"/>
                  <a:t> 기각</a:t>
                </a:r>
                <a:endParaRPr lang="en-US" altLang="ko-KR" dirty="0" smtClean="0"/>
              </a:p>
              <a:p>
                <a:r>
                  <a:rPr lang="ko-KR" altLang="en-US" dirty="0" smtClean="0"/>
                  <a:t>한편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dirty="0" smtClean="0"/>
                  <a:t>-</a:t>
                </a:r>
                <a:r>
                  <a:rPr lang="ko-KR" altLang="en-US" dirty="0" smtClean="0"/>
                  <a:t>값</a:t>
                </a:r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≤−2.14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=0.031</m:t>
                    </m:r>
                  </m:oMath>
                </a14:m>
                <a:r>
                  <a:rPr lang="ko-KR" altLang="en-US" dirty="0" smtClean="0"/>
                  <a:t> 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6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440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검정과 신뢰구간의 관계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ko-KR" altLang="en-US" dirty="0" smtClean="0"/>
                  <a:t>가설검정에서의 식과 신뢰구간에서의 식이 닮은 점이 있음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정규모집단의 평균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에 관한 추론을 다시 생각해 보자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표본을 수집하기 전에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다음의 확률은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dirty="0" smtClean="0"/>
                  <a:t> 신뢰구간은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한편</a:t>
                </a:r>
                <a:r>
                  <a:rPr lang="en-US" altLang="ko-KR" dirty="0" smtClean="0"/>
                  <a:t>, </a:t>
                </a:r>
                <a:r>
                  <a:rPr lang="ko-KR" altLang="en-US" dirty="0" err="1" smtClean="0"/>
                  <a:t>귀무가설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대</m:t>
                    </m:r>
                  </m:oMath>
                </a14:m>
                <a:r>
                  <a:rPr lang="ko-KR" altLang="en-US" dirty="0" smtClean="0"/>
                  <a:t> 양측 대립가설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에 대해 유의수준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 smtClean="0"/>
                  <a:t>인 검정의 </a:t>
                </a:r>
                <a:r>
                  <a:rPr lang="ko-KR" altLang="en-US" dirty="0" err="1" smtClean="0"/>
                  <a:t>기각역은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r>
                  <a:rPr lang="ko-KR" altLang="en-US" dirty="0" err="1" smtClean="0"/>
                  <a:t>기각역의</a:t>
                </a:r>
                <a:r>
                  <a:rPr lang="ko-KR" altLang="en-US" dirty="0" smtClean="0"/>
                  <a:t> 반대인 </a:t>
                </a:r>
                <a:r>
                  <a:rPr lang="ko-KR" altLang="en-US" dirty="0" err="1" smtClean="0"/>
                  <a:t>채택역을</a:t>
                </a:r>
                <a:r>
                  <a:rPr lang="ko-KR" altLang="en-US" dirty="0" smtClean="0"/>
                  <a:t> 생각해보면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채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택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역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:−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혹은 다음과 같이 나타낼 수 있다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채택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역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̅"/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06" t="-2521" b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908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검정과 신뢰구간의 관계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신뢰구간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ko-KR" altLang="en-US" dirty="0" smtClean="0"/>
                  <a:t>과 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채택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역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̅"/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ko-KR" altLang="en-US" dirty="0" smtClean="0"/>
                  <a:t>을 비교해 보면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만일 어떤 주어진 </a:t>
                </a:r>
                <a:r>
                  <a:rPr lang="ko-KR" altLang="en-US" dirty="0" err="1" smtClean="0"/>
                  <a:t>귀무가설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dirty="0" smtClean="0"/>
                  <a:t> 신뢰구간에 포함되면 유의수준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 smtClean="0"/>
                  <a:t>에서 </a:t>
                </a:r>
                <a:r>
                  <a:rPr lang="ko-KR" altLang="en-US" dirty="0" err="1" smtClean="0"/>
                  <a:t>귀무가설이</a:t>
                </a:r>
                <a:r>
                  <a:rPr lang="ko-KR" altLang="en-US" dirty="0" smtClean="0"/>
                  <a:t> 채택된다는 것을 보여줌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그러므로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dirty="0" smtClean="0"/>
                  <a:t> 신뢰구간이 구해지면</a:t>
                </a:r>
                <a:r>
                  <a:rPr lang="en-US" altLang="ko-KR" dirty="0" smtClean="0"/>
                  <a:t>, </a:t>
                </a:r>
              </a:p>
              <a:p>
                <a:pPr lvl="1"/>
                <a:r>
                  <a:rPr lang="ko-KR" altLang="en-US" dirty="0" err="1" smtClean="0"/>
                  <a:t>귀무가설의</a:t>
                </a:r>
                <a:r>
                  <a:rPr lang="ko-KR" altLang="en-US" dirty="0" smtClean="0"/>
                  <a:t> 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가 이 구간에 포함되지 않으면 </a:t>
                </a:r>
                <a:r>
                  <a:rPr lang="ko-KR" altLang="en-US" dirty="0" err="1" smtClean="0"/>
                  <a:t>귀무가설은</a:t>
                </a:r>
                <a:r>
                  <a:rPr lang="ko-KR" altLang="en-US" dirty="0" smtClean="0"/>
                  <a:t> 기각될 것이고</a:t>
                </a:r>
                <a:r>
                  <a:rPr lang="en-US" altLang="ko-KR" dirty="0" smtClean="0"/>
                  <a:t>, </a:t>
                </a:r>
              </a:p>
              <a:p>
                <a:pPr lvl="1"/>
                <a:r>
                  <a:rPr lang="ko-KR" altLang="en-US" dirty="0" smtClean="0"/>
                  <a:t>구간에 포함되면 </a:t>
                </a:r>
                <a:r>
                  <a:rPr lang="ko-KR" altLang="en-US" dirty="0" err="1" smtClean="0"/>
                  <a:t>귀무가설은</a:t>
                </a:r>
                <a:r>
                  <a:rPr lang="ko-KR" altLang="en-US" dirty="0" smtClean="0"/>
                  <a:t> 기각되지 않음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4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95% </a:t>
            </a:r>
            <a:r>
              <a:rPr lang="ko-KR" altLang="en-US" dirty="0" smtClean="0"/>
              <a:t>신뢰구간과 양측검정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정규모집단에서 표본크기가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ko-KR" altLang="en-US" sz="2400" dirty="0" smtClean="0"/>
                  <a:t>인 확률표본을 추출한 결과 평균이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=8.3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2400" dirty="0" smtClean="0"/>
                  <a:t>고 표준편차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=1.2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였</m:t>
                    </m:r>
                  </m:oMath>
                </a14:m>
                <a:r>
                  <a:rPr lang="ko-KR" altLang="en-US" sz="2400" dirty="0" smtClean="0"/>
                  <a:t>다</a:t>
                </a:r>
                <a:r>
                  <a:rPr lang="en-US" altLang="ko-KR" sz="24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000" dirty="0" smtClean="0"/>
                  <a:t> </a:t>
                </a:r>
                <a:r>
                  <a:rPr lang="en-US" altLang="ko-KR" sz="2000" dirty="0" smtClean="0"/>
                  <a:t>95% </a:t>
                </a:r>
                <a:r>
                  <a:rPr lang="ko-KR" altLang="en-US" sz="2000" dirty="0" smtClean="0"/>
                  <a:t>신뢰구간을 구하고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=8.5, 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≠8.5</m:t>
                    </m:r>
                  </m:oMath>
                </a14:m>
                <a:r>
                  <a:rPr lang="ko-KR" altLang="en-US" sz="2000" dirty="0" smtClean="0"/>
                  <a:t>인 가설을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=0.05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000" dirty="0" smtClean="0"/>
                  <a:t>서 검정하라</a:t>
                </a:r>
                <a:r>
                  <a:rPr lang="en-US" altLang="ko-KR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95% </a:t>
                </a:r>
                <a:r>
                  <a:rPr lang="ko-KR" altLang="en-US" sz="2400" dirty="0" smtClean="0"/>
                  <a:t>신뢰구간 </a:t>
                </a:r>
                <a:r>
                  <a:rPr lang="en-US" altLang="ko-KR" sz="2400" dirty="0" smtClean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ko-KR" sz="1800" b="0" dirty="0" smtClean="0"/>
              </a:p>
              <a:p>
                <a:pPr lvl="1"/>
                <a:r>
                  <a:rPr lang="ko-KR" altLang="en-US" sz="2000" dirty="0" smtClean="0"/>
                  <a:t>여기서 </a:t>
                </a:r>
                <a:r>
                  <a:rPr lang="ko-KR" altLang="en-US" sz="2000" dirty="0" err="1" smtClean="0"/>
                  <a:t>자유도는</a:t>
                </a:r>
                <a:r>
                  <a:rPr lang="ko-KR" altLang="en-US" sz="2000" dirty="0" smtClean="0"/>
                  <a:t> </a:t>
                </a:r>
                <a:r>
                  <a:rPr lang="en-US" altLang="ko-KR" sz="2000" dirty="0" smtClean="0"/>
                  <a:t>8</a:t>
                </a:r>
                <a:r>
                  <a:rPr lang="ko-KR" altLang="en-US" sz="2000" dirty="0" smtClean="0"/>
                  <a:t>이고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=2.306</m:t>
                    </m:r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=8.3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=1.2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2000" dirty="0" smtClean="0"/>
                  <a:t> 이용하면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.3−2.306</m:t>
                        </m:r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1.2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 8.3+2.306</m:t>
                        </m:r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1.2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=(7.4, 9.2)</m:t>
                    </m:r>
                  </m:oMath>
                </a14:m>
                <a:endParaRPr lang="en-US" altLang="ko-KR" sz="18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=8.5</m:t>
                    </m:r>
                  </m:oMath>
                </a14:m>
                <a:r>
                  <a:rPr lang="ko-KR" altLang="en-US" sz="2400" spc="-150" dirty="0" smtClean="0"/>
                  <a:t> 검정 문제를 생각하면 </a:t>
                </a:r>
                <a:r>
                  <a:rPr lang="en-US" altLang="ko-KR" sz="2400" spc="-150" dirty="0" smtClean="0"/>
                  <a:t>8.5</a:t>
                </a:r>
                <a:r>
                  <a:rPr lang="ko-KR" altLang="en-US" sz="2400" spc="-150" dirty="0" smtClean="0"/>
                  <a:t>는 방금 계산한 </a:t>
                </a:r>
                <a:r>
                  <a:rPr lang="en-US" altLang="ko-KR" sz="2400" spc="-150" dirty="0" smtClean="0"/>
                  <a:t>95% </a:t>
                </a:r>
                <a:r>
                  <a:rPr lang="ko-KR" altLang="en-US" sz="2400" spc="-150" dirty="0" smtClean="0"/>
                  <a:t>신뢰구간에 포함됨</a:t>
                </a:r>
                <a:r>
                  <a:rPr lang="en-US" altLang="ko-KR" sz="2400" spc="-150" dirty="0" smtClean="0"/>
                  <a:t>.</a:t>
                </a:r>
              </a:p>
              <a:p>
                <a:pPr lvl="1"/>
                <a:r>
                  <a:rPr lang="ko-KR" altLang="en-US" sz="2000" dirty="0" smtClean="0"/>
                  <a:t>신뢰구간과 </a:t>
                </a:r>
                <a:r>
                  <a:rPr lang="ko-KR" altLang="en-US" sz="2000" dirty="0" err="1" smtClean="0"/>
                  <a:t>채택역의</a:t>
                </a:r>
                <a:r>
                  <a:rPr lang="ko-KR" altLang="en-US" sz="2000" dirty="0" smtClean="0"/>
                  <a:t> 관계를 생각하면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ko-KR" altLang="en-US" sz="2000" dirty="0" smtClean="0"/>
                  <a:t>에서 기각되지 않음</a:t>
                </a:r>
                <a:endParaRPr lang="ko-KR" altLang="en-US" sz="2000" dirty="0"/>
              </a:p>
              <a:p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0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95% </a:t>
            </a:r>
            <a:r>
              <a:rPr lang="ko-KR" altLang="en-US" dirty="0" smtClean="0"/>
              <a:t>신뢰구간과 양측검정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=8.5</m:t>
                    </m:r>
                  </m:oMath>
                </a14:m>
                <a:r>
                  <a:rPr lang="ko-KR" altLang="en-US" sz="2400" dirty="0" smtClean="0"/>
                  <a:t>의 검정문제를 통계량에 근거하여 살펴보면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−8.5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err="1" smtClean="0"/>
                  <a:t>기각역은</a:t>
                </a:r>
                <a:r>
                  <a:rPr lang="ko-KR" altLang="en-US" sz="2400" dirty="0" smtClean="0"/>
                  <a:t> 큰 값들과 작은 값들로 이루어지며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ko-KR" altLang="en-US" sz="2400">
                        <a:latin typeface="Cambria Math" panose="02040503050406030204" pitchFamily="18" charset="0"/>
                      </a:rPr>
                      <m:t>기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각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역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: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−8.5</m:t>
                            </m:r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=2.306</m:t>
                    </m:r>
                  </m:oMath>
                </a14:m>
                <a:endParaRPr lang="en-US" altLang="ko-KR" sz="2400" b="0" dirty="0" smtClean="0"/>
              </a:p>
              <a:p>
                <a:r>
                  <a:rPr lang="ko-KR" altLang="en-US" sz="2400" dirty="0" smtClean="0"/>
                  <a:t>지금 </a:t>
                </a:r>
                <a:r>
                  <a:rPr lang="ko-KR" altLang="en-US" sz="2400" dirty="0" err="1" smtClean="0"/>
                  <a:t>관측값</a:t>
                </a:r>
                <a:r>
                  <a:rPr lang="ko-KR" altLang="en-US" sz="24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8.3−8.5</m:t>
                            </m:r>
                          </m:e>
                        </m:d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400" dirty="0" smtClean="0"/>
                  <a:t> </a:t>
                </a:r>
                <a:r>
                  <a:rPr lang="ko-KR" altLang="en-US" sz="2400" dirty="0" err="1" smtClean="0"/>
                  <a:t>기각역에</a:t>
                </a:r>
                <a:r>
                  <a:rPr lang="ko-KR" altLang="en-US" sz="2400" dirty="0" smtClean="0"/>
                  <a:t> 포함되지 않으므로 </a:t>
                </a:r>
                <a:r>
                  <a:rPr lang="ko-KR" altLang="en-US" sz="2400" dirty="0" err="1" smtClean="0"/>
                  <a:t>귀무가설</a:t>
                </a:r>
                <a:r>
                  <a:rPr lang="ko-KR" alt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=0.05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400" dirty="0" smtClean="0"/>
                  <a:t>서 기각되지 않음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신뢰구간을 통해 얻은 결론과 일치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r="-290" b="-18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29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현명하게 통계 사용하기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t</a:t>
                </a:r>
                <a:r>
                  <a:rPr lang="ko-KR" altLang="en-US" dirty="0" smtClean="0"/>
                  <a:t>분포에 근거한 이 장에서의 추론은 개별 관측들의 분포가 정규분포가 되어야 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매우 작은 표본크기</a:t>
                </a:r>
                <a:r>
                  <a:rPr lang="en-US" altLang="ko-KR" dirty="0" smtClean="0"/>
                  <a:t>, 10</a:t>
                </a:r>
                <a:r>
                  <a:rPr lang="ko-KR" altLang="en-US" dirty="0" smtClean="0"/>
                  <a:t>이하로는 가정을 확인하기 불가능하므로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최선은 명백한 </a:t>
                </a:r>
                <a:r>
                  <a:rPr lang="ko-KR" altLang="en-US" dirty="0" err="1" smtClean="0"/>
                  <a:t>이상값들이</a:t>
                </a:r>
                <a:r>
                  <a:rPr lang="ko-KR" altLang="en-US" dirty="0" smtClean="0"/>
                  <a:t> 없는지 </a:t>
                </a:r>
                <a:r>
                  <a:rPr lang="ko-KR" altLang="en-US" dirty="0" err="1" smtClean="0"/>
                  <a:t>점도표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정규점수도표 등으로 확인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모집단 분포에 관계없이 표본크기가 증가하면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 smtClean="0"/>
                  <a:t>의 분포가 거의 정규분포가 되므로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표본크기가 대략 </a:t>
                </a:r>
                <a:r>
                  <a:rPr lang="en-US" altLang="ko-KR" dirty="0" smtClean="0"/>
                  <a:t>15</a:t>
                </a:r>
                <a:r>
                  <a:rPr lang="ko-KR" altLang="en-US" dirty="0" smtClean="0"/>
                  <a:t>보다 크면 </a:t>
                </a:r>
                <a:r>
                  <a:rPr lang="en-US" altLang="ko-KR" dirty="0" smtClean="0"/>
                  <a:t>t</a:t>
                </a:r>
                <a:r>
                  <a:rPr lang="ko-KR" altLang="en-US" dirty="0" smtClean="0"/>
                  <a:t>통계량에 기초한 추론은 정규모집단으로부터의 약간의 이탈에 대해서는 비교적 괜찮음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dirty="0" smtClean="0"/>
                  <a:t> 신뢰구간을 이해하라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정규모집단에 대해 데이터가 수집되기 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ko-KR" altLang="en-US" dirty="0" smtClean="0"/>
                  <a:t>는 고정된 미지의 평균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를 포함할 확률이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 smtClean="0"/>
                  <a:t>인 구간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693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현명하게 통계 사용하기</a:t>
            </a:r>
            <a:r>
              <a:rPr lang="en-US" altLang="ko-KR" smtClean="0"/>
              <a:t>(2)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실험에서 확인하고자 하는 주장을 대립가설로 설정</a:t>
                </a:r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귀무가설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검정은 검정통계량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altLang="ko-KR" b="0" dirty="0" smtClean="0"/>
              </a:p>
              <a:p>
                <a:pPr marL="457200" lvl="1" indent="0">
                  <a:buNone/>
                </a:pPr>
                <a:r>
                  <a:rPr lang="ko-KR" altLang="en-US" dirty="0" smtClean="0"/>
                  <a:t>에 근거하고 이 검정통계량은 자유도가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dirty="0" smtClean="0"/>
                  <a:t>인 </a:t>
                </a:r>
                <a:r>
                  <a:rPr lang="en-US" altLang="ko-KR" dirty="0" smtClean="0"/>
                  <a:t>t</a:t>
                </a:r>
                <a:r>
                  <a:rPr lang="ko-KR" altLang="en-US" dirty="0" smtClean="0"/>
                  <a:t>분포를 </a:t>
                </a:r>
                <a:r>
                  <a:rPr lang="ko-KR" altLang="en-US" dirty="0" smtClean="0"/>
                  <a:t>따른다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err="1" smtClean="0"/>
                  <a:t>기각역은</a:t>
                </a:r>
                <a:r>
                  <a:rPr lang="ko-KR" altLang="en-US" dirty="0" smtClean="0"/>
                  <a:t> 대립가설에 따라 </a:t>
                </a:r>
                <a:r>
                  <a:rPr lang="ko-KR" altLang="en-US" dirty="0" err="1" smtClean="0"/>
                  <a:t>단측</a:t>
                </a:r>
                <a:r>
                  <a:rPr lang="ko-KR" altLang="en-US" dirty="0" smtClean="0"/>
                  <a:t> 혹은 양측 형태가 된다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17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8707</TotalTime>
  <Words>391</Words>
  <Application>Microsoft Office PowerPoint</Application>
  <PresentationFormat>와이드스크린</PresentationFormat>
  <Paragraphs>136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Cambria Math</vt:lpstr>
      <vt:lpstr>Office 테마</vt:lpstr>
      <vt:lpstr>정규모집단에서의 소표본 추론</vt:lpstr>
      <vt:lpstr>서론</vt:lpstr>
      <vt:lpstr>스튜던트 t 분포</vt:lpstr>
      <vt:lpstr>스튜던트 t 분포(2)</vt:lpstr>
      <vt:lpstr>스튜던트 t 분포(3)</vt:lpstr>
      <vt:lpstr>예제: t분포의 백분위 점 구하기</vt:lpstr>
      <vt:lpstr>예제: 확률이 0.90인 중심구간 결정</vt:lpstr>
      <vt:lpstr>μ에 관한 추론 - 소표본</vt:lpstr>
      <vt:lpstr>정규모집단 평균의 100(1-α)% 신뢰구간 </vt:lpstr>
      <vt:lpstr>신뢰구간의 의미</vt:lpstr>
      <vt:lpstr>신뢰구간의 이해</vt:lpstr>
      <vt:lpstr>t_(α∕2)와 z_(α∕2)</vt:lpstr>
      <vt:lpstr>모평균 μ의 가설검정 - 소표본</vt:lpstr>
      <vt:lpstr>예제: 물의 안전을 확인하기 위한 t검정</vt:lpstr>
      <vt:lpstr>검정과 신뢰구간의 관계</vt:lpstr>
      <vt:lpstr>검정과 신뢰구간의 관계(2)</vt:lpstr>
      <vt:lpstr>예제: 95% 신뢰구간과 양측검정</vt:lpstr>
      <vt:lpstr>예제: 95% 신뢰구간과 양측검정(2)</vt:lpstr>
      <vt:lpstr>현명하게 통계 사용하기</vt:lpstr>
      <vt:lpstr>현명하게 통계 사용하기(2)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정규모집단에서의 소표본 추론</dc:title>
  <dc:creator>sw</dc:creator>
  <cp:lastModifiedBy>kyungsub@gmail.com</cp:lastModifiedBy>
  <cp:revision>54</cp:revision>
  <dcterms:created xsi:type="dcterms:W3CDTF">2016-03-24T04:03:45Z</dcterms:created>
  <dcterms:modified xsi:type="dcterms:W3CDTF">2016-08-26T06:53:20Z</dcterms:modified>
</cp:coreProperties>
</file>