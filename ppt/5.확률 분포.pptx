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0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669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07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4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4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40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115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71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08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40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811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7FFF7-9039-4158-A736-4C69A1613938}" type="datetimeFigureOut">
              <a:rPr lang="ko-KR" altLang="en-US" smtClean="0"/>
              <a:t>2017-04-11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0A4E2-BAF6-4F18-8A68-6B340A152D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32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확률 분포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65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서론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 smtClean="0"/>
              <a:t>어떤 실험을 확률로 모형화 하려면 다음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개의 기본요소를 포함해야 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기본결과들의 모임인 표본공간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기본결과에 확률을 할당하는 것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기본 결과가 수치적으로 표현될 수도 있고</a:t>
            </a:r>
            <a:r>
              <a:rPr lang="en-US" altLang="ko-KR" dirty="0" smtClean="0"/>
              <a:t>,</a:t>
            </a:r>
            <a:r>
              <a:rPr lang="ko-KR" altLang="en-US" dirty="0" smtClean="0"/>
              <a:t> 질적으로 묘사될 수도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수치적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도난 사건 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아르바이트 시급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입학 성적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질적으로 묘사되는 경우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동전의 </a:t>
            </a:r>
            <a:r>
              <a:rPr lang="ko-KR" altLang="en-US" dirty="0" err="1" smtClean="0"/>
              <a:t>앞뒷면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새로운 백신의 메스꺼움 정도</a:t>
            </a:r>
            <a:endParaRPr lang="en-US" altLang="ko-KR" dirty="0" smtClean="0"/>
          </a:p>
          <a:p>
            <a:r>
              <a:rPr lang="ko-KR" altLang="en-US" spc="-150" dirty="0" smtClean="0"/>
              <a:t>기본 결과가 질적으로 표시되는 경우에도 수치를 구할 필요가 있는 경우가 많음</a:t>
            </a:r>
            <a:endParaRPr lang="en-US" altLang="ko-KR" spc="-150" dirty="0" smtClean="0"/>
          </a:p>
          <a:p>
            <a:pPr lvl="1"/>
            <a:r>
              <a:rPr lang="ko-KR" altLang="en-US" dirty="0" smtClean="0"/>
              <a:t>백신에 대한 반응을 세 가지 범주로 나누고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심한 메스꺼움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약간 메스꺼움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메스꺼움 없음 </a:t>
            </a:r>
            <a:r>
              <a:rPr lang="en-US" altLang="ko-KR" dirty="0"/>
              <a:t>-</a:t>
            </a:r>
            <a:r>
              <a:rPr lang="en-US" altLang="ko-KR" dirty="0" smtClean="0"/>
              <a:t> </a:t>
            </a:r>
            <a:r>
              <a:rPr lang="ko-KR" altLang="en-US" dirty="0" smtClean="0"/>
              <a:t>각 </a:t>
            </a:r>
            <a:r>
              <a:rPr lang="ko-KR" altLang="en-US" dirty="0" err="1" smtClean="0"/>
              <a:t>범주별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반응자</a:t>
            </a:r>
            <a:r>
              <a:rPr lang="ko-KR" altLang="en-US" dirty="0" smtClean="0"/>
              <a:t> 수</a:t>
            </a:r>
            <a:endParaRPr lang="en-US" altLang="ko-KR" dirty="0" smtClean="0"/>
          </a:p>
          <a:p>
            <a:r>
              <a:rPr lang="ko-KR" altLang="en-US" dirty="0" smtClean="0"/>
              <a:t>이 장에서는 실험 결과의 수치적 측면을 다룸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7982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확률변수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spc="-150" dirty="0" smtClean="0"/>
                  <a:t>실험결과의 수치적인 면에 초점을 맞추면서 확률변수의 개념을 소개한다</a:t>
                </a:r>
                <a:r>
                  <a:rPr lang="en-US" altLang="ko-KR" sz="2400" spc="-150" dirty="0" smtClean="0"/>
                  <a:t>.</a:t>
                </a:r>
              </a:p>
              <a:p>
                <a:endParaRPr lang="en-US" altLang="ko-KR" sz="2400" dirty="0"/>
              </a:p>
              <a:p>
                <a:r>
                  <a:rPr lang="ko-KR" altLang="en-US" sz="2400" b="1" spc="-150" dirty="0" smtClean="0"/>
                  <a:t>확률변수</a:t>
                </a:r>
                <a:r>
                  <a:rPr lang="en-US" altLang="ko-KR" sz="2400" spc="-150" dirty="0" smtClean="0"/>
                  <a:t>(random variable) </a:t>
                </a:r>
                <a14:m>
                  <m:oMath xmlns:m="http://schemas.openxmlformats.org/officeDocument/2006/math">
                    <m:r>
                      <a:rPr lang="en-US" altLang="ko-KR" sz="2400" i="1" spc="-15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spc="-150" dirty="0" smtClean="0"/>
                  <a:t>는 실험결과 각각에 수치를 대응시킨 것</a:t>
                </a:r>
                <a:endParaRPr lang="en-US" altLang="ko-KR" sz="2400" spc="-150" dirty="0" smtClean="0"/>
              </a:p>
              <a:p>
                <a:endParaRPr lang="en-US" altLang="ko-KR" sz="2400" dirty="0"/>
              </a:p>
              <a:p>
                <a:r>
                  <a:rPr lang="ko-KR" altLang="en-US" sz="2400" dirty="0" smtClean="0"/>
                  <a:t>확률변수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는 실험의 기본결과 각각에 결과의 특성을 나타내는 수치를 대응시키는 것</a:t>
                </a:r>
                <a:r>
                  <a:rPr lang="en-US" altLang="ko-KR" sz="2400" dirty="0" smtClean="0"/>
                  <a:t>.</a:t>
                </a:r>
              </a:p>
              <a:p>
                <a:pPr lvl="1"/>
                <a:r>
                  <a:rPr lang="ko-KR" altLang="en-US" sz="2000" dirty="0" smtClean="0"/>
                  <a:t>확률변수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는 표본공간에서 정의된 </a:t>
                </a:r>
                <a:r>
                  <a:rPr lang="ko-KR" altLang="en-US" sz="2000" dirty="0" err="1" smtClean="0"/>
                  <a:t>실수값</a:t>
                </a:r>
                <a:r>
                  <a:rPr lang="ko-KR" altLang="en-US" sz="2000" dirty="0" smtClean="0"/>
                  <a:t> 함수</a:t>
                </a:r>
                <a:endParaRPr lang="en-US" altLang="ko-KR" sz="2000" dirty="0" smtClean="0"/>
              </a:p>
              <a:p>
                <a:pPr lvl="1"/>
                <a:endParaRPr lang="en-US" altLang="ko-KR" sz="2000" dirty="0" smtClean="0"/>
              </a:p>
              <a:p>
                <a:r>
                  <a:rPr lang="en-US" altLang="ko-KR" sz="2400" dirty="0" smtClean="0"/>
                  <a:t>'</a:t>
                </a:r>
                <a:r>
                  <a:rPr lang="ko-KR" altLang="en-US" sz="2400" dirty="0" smtClean="0"/>
                  <a:t>확률</a:t>
                </a:r>
                <a:r>
                  <a:rPr lang="en-US" altLang="ko-KR" sz="2400" dirty="0" smtClean="0"/>
                  <a:t>'</a:t>
                </a:r>
                <a:r>
                  <a:rPr lang="ko-KR" altLang="en-US" sz="2400" dirty="0" smtClean="0"/>
                  <a:t>이라는 말은 실험의 결과 또는 이에 관련된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의 값을 미리 알 수 없음을 암시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 r="-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702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확률변수로서 앞면의 수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8256373" cy="4351338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ko-KR" altLang="en-US" sz="3200" dirty="0" smtClean="0"/>
                  <a:t>동전을 세 번 던져 나온 앞면의 수 </a:t>
                </a:r>
                <a14:m>
                  <m:oMath xmlns:m="http://schemas.openxmlformats.org/officeDocument/2006/math">
                    <m:r>
                      <a:rPr lang="en-US" altLang="ko-KR" sz="3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3200" i="1" dirty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sz="3200" dirty="0" smtClean="0"/>
                  <a:t> 생각하자</a:t>
                </a:r>
                <a:r>
                  <a:rPr lang="en-US" altLang="ko-KR" sz="32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3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3200" dirty="0" smtClean="0"/>
                  <a:t>의 수치적 값과 대응되는 기본결과를 나열하라</a:t>
                </a:r>
                <a:r>
                  <a:rPr lang="en-US" altLang="ko-KR" sz="3200" dirty="0" smtClean="0"/>
                  <a:t>.</a:t>
                </a:r>
              </a:p>
              <a:p>
                <a:endParaRPr lang="en-US" altLang="ko-KR" sz="3200" dirty="0"/>
              </a:p>
              <a:p>
                <a:r>
                  <a:rPr lang="ko-KR" altLang="en-US" sz="3200" spc="-150" dirty="0" smtClean="0"/>
                  <a:t>첫째</a:t>
                </a:r>
                <a:r>
                  <a:rPr lang="en-US" altLang="ko-KR" sz="3200" spc="-150" dirty="0" smtClean="0"/>
                  <a:t>, </a:t>
                </a:r>
                <a:r>
                  <a:rPr lang="ko-KR" altLang="en-US" sz="3200" spc="-150" dirty="0" smtClean="0"/>
                  <a:t>동전을 세 번 던질 때 앞면의 개수는 </a:t>
                </a:r>
                <a:r>
                  <a:rPr lang="en-US" altLang="ko-KR" sz="3200" spc="-150" dirty="0" smtClean="0"/>
                  <a:t>0,1,2 </a:t>
                </a:r>
                <a:r>
                  <a:rPr lang="ko-KR" altLang="en-US" sz="3200" spc="-150" dirty="0" smtClean="0"/>
                  <a:t>또는 </a:t>
                </a:r>
                <a:r>
                  <a:rPr lang="en-US" altLang="ko-KR" sz="3200" spc="-150" dirty="0" smtClean="0"/>
                  <a:t>3</a:t>
                </a:r>
                <a:r>
                  <a:rPr lang="ko-KR" altLang="en-US" sz="3200" spc="-150" dirty="0" smtClean="0"/>
                  <a:t>이므로 </a:t>
                </a:r>
                <a14:m>
                  <m:oMath xmlns:m="http://schemas.openxmlformats.org/officeDocument/2006/math">
                    <m:r>
                      <a:rPr lang="en-US" altLang="ko-KR" sz="3200" i="1" spc="-15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3200" spc="-150" dirty="0" smtClean="0"/>
                  <a:t>는 확률변수</a:t>
                </a:r>
                <a:r>
                  <a:rPr lang="en-US" altLang="ko-KR" sz="3200" spc="-150" dirty="0" smtClean="0"/>
                  <a:t>.</a:t>
                </a:r>
              </a:p>
              <a:p>
                <a:r>
                  <a:rPr lang="ko-KR" altLang="en-US" sz="3200" dirty="0" smtClean="0"/>
                  <a:t>둘째</a:t>
                </a:r>
                <a:r>
                  <a:rPr lang="en-US" altLang="ko-KR" sz="3200" dirty="0" smtClean="0"/>
                  <a:t>, </a:t>
                </a:r>
                <a:r>
                  <a:rPr lang="ko-KR" altLang="en-US" sz="3200" dirty="0" smtClean="0"/>
                  <a:t>각각의 값은 사전에 미리 예측할 수 없으므로 임의적</a:t>
                </a:r>
                <a:endParaRPr lang="en-US" altLang="ko-KR" sz="3200" dirty="0" smtClean="0"/>
              </a:p>
              <a:p>
                <a:r>
                  <a:rPr lang="ko-KR" altLang="en-US" sz="3200" dirty="0" smtClean="0"/>
                  <a:t>기본 결과와 </a:t>
                </a:r>
                <a14:m>
                  <m:oMath xmlns:m="http://schemas.openxmlformats.org/officeDocument/2006/math">
                    <m:r>
                      <a:rPr lang="en-US" altLang="ko-KR" sz="3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3200" dirty="0" smtClean="0"/>
                  <a:t>의 값을 대응할 수 있다</a:t>
                </a:r>
                <a:r>
                  <a:rPr lang="en-US" altLang="ko-KR" sz="3200" dirty="0" smtClean="0"/>
                  <a:t>.</a:t>
                </a:r>
              </a:p>
              <a:p>
                <a:pPr lvl="1"/>
                <a:r>
                  <a:rPr lang="ko-KR" altLang="en-US" sz="2900" dirty="0" smtClean="0"/>
                  <a:t>각 기본 결과에는 단 하나의 </a:t>
                </a:r>
                <a14:m>
                  <m:oMath xmlns:m="http://schemas.openxmlformats.org/officeDocument/2006/math">
                    <m:r>
                      <a:rPr lang="en-US" altLang="ko-KR" sz="29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900" dirty="0" smtClean="0"/>
                  <a:t>의 값이 대응</a:t>
                </a:r>
                <a:endParaRPr lang="en-US" altLang="ko-KR" sz="2900" dirty="0" smtClean="0"/>
              </a:p>
              <a:p>
                <a:pPr lvl="1"/>
                <a:r>
                  <a:rPr lang="ko-KR" altLang="en-US" sz="2900" dirty="0" smtClean="0"/>
                  <a:t>그러나 여러 개의 기본결과가 같은 값을 가질 수 있음</a:t>
                </a:r>
                <a:endParaRPr lang="en-US" altLang="ko-KR" sz="2900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pPr marL="0" indent="0">
                  <a:buNone/>
                </a:pPr>
                <a:r>
                  <a:rPr lang="en-US" altLang="ko-KR" dirty="0" smtClean="0"/>
                  <a:t> 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 smtClean="0"/>
                  <a:t>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8256373" cy="4351338"/>
              </a:xfrm>
              <a:blipFill rotWithShape="0">
                <a:blip r:embed="rId2"/>
                <a:stretch>
                  <a:fillRect l="-590" t="-28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내용 개체 틀 5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071498059"/>
                  </p:ext>
                </p:extLst>
              </p:nvPr>
            </p:nvGraphicFramePr>
            <p:xfrm>
              <a:off x="9187292" y="1695751"/>
              <a:ext cx="2166508" cy="3017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3254"/>
                    <a:gridCol w="1083254"/>
                  </a:tblGrid>
                  <a:tr h="3207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기본결과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ko-KR" altLang="en-US" sz="1600" dirty="0" smtClean="0"/>
                            <a:t>의 값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207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HHH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207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HHT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207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HTH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207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THH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207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HTT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207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THT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207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TTH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2071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TTT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내용 개체 틀 5"/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071498059"/>
                  </p:ext>
                </p:extLst>
              </p:nvPr>
            </p:nvGraphicFramePr>
            <p:xfrm>
              <a:off x="9187292" y="1695751"/>
              <a:ext cx="2166508" cy="3017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3254"/>
                    <a:gridCol w="1083254"/>
                  </a:tblGrid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기본결과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562" t="-5455" r="-2247" b="-823636"/>
                          </a:stretch>
                        </a:blip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HHH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HHT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HTH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THH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HTT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THT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TTH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TTT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2519077"/>
                  </p:ext>
                </p:extLst>
              </p:nvPr>
            </p:nvGraphicFramePr>
            <p:xfrm>
              <a:off x="1678138" y="4500563"/>
              <a:ext cx="6081905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6516"/>
                    <a:gridCol w="3935389"/>
                  </a:tblGrid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1600" dirty="0" smtClean="0"/>
                            <a:t>사건으로서의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ko-KR" altLang="en-US" sz="1600" dirty="0" smtClean="0"/>
                            <a:t>의 값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600" dirty="0" smtClean="0"/>
                            <a:t>사건의 구성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=0]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{TTT}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=1]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{HTT, THT, TTH}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=2]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{HHT, HTH, THH}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=3]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{HHH}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2519077"/>
                  </p:ext>
                </p:extLst>
              </p:nvPr>
            </p:nvGraphicFramePr>
            <p:xfrm>
              <a:off x="1678138" y="4500563"/>
              <a:ext cx="6081905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6516"/>
                    <a:gridCol w="3935389"/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84" t="-5455" r="-184943" b="-4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600" dirty="0" smtClean="0"/>
                            <a:t>사건의 구성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84" t="-105455" r="-184943" b="-3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{TTT}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84" t="-201786" r="-184943" b="-2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{HTT, THT, TTH}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84" t="-307273" r="-184943" b="-1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{HHT, HTH, THH}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84" t="-407273" r="-184943" b="-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{HHH}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7646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확률변수의 성질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670060" cy="4351338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X</a:t>
            </a:r>
            <a:r>
              <a:rPr lang="ko-KR" altLang="en-US" dirty="0" smtClean="0"/>
              <a:t>의 서로 다른 값에 대응되는 사건들은 상호배반이다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 사건들의 </a:t>
            </a:r>
            <a:r>
              <a:rPr lang="ko-KR" altLang="en-US" dirty="0" err="1" smtClean="0"/>
              <a:t>합사건은</a:t>
            </a:r>
            <a:r>
              <a:rPr lang="ko-KR" altLang="en-US" dirty="0" smtClean="0"/>
              <a:t> 전체 표본공간이 된다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9113475"/>
                  </p:ext>
                </p:extLst>
              </p:nvPr>
            </p:nvGraphicFramePr>
            <p:xfrm>
              <a:off x="1702852" y="3072706"/>
              <a:ext cx="6081905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6516"/>
                    <a:gridCol w="3935389"/>
                  </a:tblGrid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ko-KR" altLang="en-US" sz="1600" dirty="0" smtClean="0"/>
                            <a:t>사건으로서의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ko-KR" altLang="en-US" sz="1600" dirty="0" smtClean="0"/>
                            <a:t>의 값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600" dirty="0" smtClean="0"/>
                            <a:t>사건의 구성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=0]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{TTT}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=1]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{HTT, THT, TTH}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=2]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{HHT, HTH, THH}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0224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=3]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{HHH}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9113475"/>
                  </p:ext>
                </p:extLst>
              </p:nvPr>
            </p:nvGraphicFramePr>
            <p:xfrm>
              <a:off x="1702852" y="3072706"/>
              <a:ext cx="6081905" cy="1676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6516"/>
                    <a:gridCol w="3935389"/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83" t="-5455" r="-184136" b="-4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600" dirty="0" smtClean="0"/>
                            <a:t>사건의 구성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83" t="-105455" r="-184136" b="-3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{TTT}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83" t="-201786" r="-184136" b="-2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{HTT, THT, TTH}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83" t="-307273" r="-184136" b="-1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{HHT, HTH, THH}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83" t="-407273" r="-184136" b="-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600" dirty="0" smtClean="0"/>
                            <a:t>= {HHH}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24702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확률변수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유한 최댓값을 갖는 개수를 나타내는 확률변수</a:t>
                </a:r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100</a:t>
                </a:r>
                <a:r>
                  <a:rPr lang="ko-KR" altLang="en-US" dirty="0" smtClean="0"/>
                  <a:t>마일 자동차 경주에 </a:t>
                </a:r>
                <a:r>
                  <a:rPr lang="en-US" altLang="ko-KR" dirty="0" smtClean="0"/>
                  <a:t>50</a:t>
                </a:r>
                <a:r>
                  <a:rPr lang="ko-KR" altLang="en-US" dirty="0" smtClean="0"/>
                  <a:t>대의 자동차가 참여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 smtClean="0"/>
                  <a:t>를 실제로 경주를 마친 자동차의 수라고 하면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=0,1,⋯,50</m:t>
                    </m:r>
                  </m:oMath>
                </a14:m>
                <a:r>
                  <a:rPr lang="ko-KR" altLang="en-US" dirty="0" smtClean="0"/>
                  <a:t>의 수를 가질 수 있다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endParaRPr lang="en-US" altLang="ko-KR" dirty="0"/>
              </a:p>
              <a:p>
                <a:r>
                  <a:rPr lang="ko-KR" altLang="en-US" dirty="0" smtClean="0"/>
                  <a:t>상한이 없는 개수를 나타내는 확률변수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어떤 학생은 일주일에 한번 복권을 하나 구입한다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 smtClean="0"/>
                  <a:t>를 </a:t>
                </a:r>
                <a:r>
                  <a:rPr lang="ko-KR" altLang="en-US" dirty="0" err="1" smtClean="0"/>
                  <a:t>최사한</a:t>
                </a:r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$1000</a:t>
                </a:r>
                <a:r>
                  <a:rPr lang="ko-KR" altLang="en-US" dirty="0" smtClean="0"/>
                  <a:t>짜리에 당첨될 때까지 구매한 복권의 수</a:t>
                </a:r>
                <a:endParaRPr lang="en-US" altLang="ko-KR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가능한 값은 </a:t>
                </a:r>
                <a:r>
                  <a:rPr lang="en-US" altLang="ko-KR" dirty="0" smtClean="0"/>
                  <a:t>1, 2, 3,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으로 무한히 계속된다</a:t>
                </a:r>
                <a:r>
                  <a:rPr lang="en-US" altLang="ko-KR" dirty="0" smtClean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948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 변수의 종류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smtClean="0"/>
              <a:t>이산</a:t>
            </a:r>
            <a:r>
              <a:rPr lang="en-US" altLang="ko-KR" b="1" dirty="0" smtClean="0"/>
              <a:t>(discrete)</a:t>
            </a:r>
            <a:r>
              <a:rPr lang="ko-KR" altLang="en-US" b="1" dirty="0" smtClean="0"/>
              <a:t>확률변수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유한개의 값을 갖거나</a:t>
            </a:r>
            <a:r>
              <a:rPr lang="en-US" altLang="ko-KR" dirty="0"/>
              <a:t> </a:t>
            </a:r>
            <a:r>
              <a:rPr lang="ko-KR" altLang="en-US" dirty="0" smtClean="0"/>
              <a:t>수열로 나열할 수 있는 무한개의 값을 갖는 확률변수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b="1" dirty="0" smtClean="0"/>
              <a:t>연속</a:t>
            </a:r>
            <a:r>
              <a:rPr lang="en-US" altLang="ko-KR" b="1" dirty="0" smtClean="0"/>
              <a:t>(continuous)</a:t>
            </a:r>
            <a:r>
              <a:rPr lang="ko-KR" altLang="en-US" b="1" dirty="0" smtClean="0"/>
              <a:t>확률변수</a:t>
            </a:r>
            <a:endParaRPr lang="en-US" altLang="ko-KR" b="1" dirty="0" smtClean="0"/>
          </a:p>
          <a:p>
            <a:pPr lvl="1"/>
            <a:r>
              <a:rPr lang="ko-KR" altLang="en-US" dirty="0" smtClean="0"/>
              <a:t>확률변수가 연속적인 척도로 측정되므로 어느 구간의 어떤 값이라도 가질 수 있는 경우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성인 남자의 키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매일 젖소의 우유 생산량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심장 발작을 일으킨 환자의 생존기간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839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이산확률변수의 확률분포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 smtClean="0"/>
                  <a:t>이산확률변수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의 </a:t>
                </a:r>
                <a:r>
                  <a:rPr lang="ko-KR" altLang="en-US" sz="2400" b="1" dirty="0" smtClean="0"/>
                  <a:t>확률분포</a:t>
                </a:r>
                <a:r>
                  <a:rPr lang="en-US" altLang="ko-KR" sz="2400" dirty="0" smtClean="0"/>
                  <a:t>(probability distribution) </a:t>
                </a:r>
                <a:r>
                  <a:rPr lang="ko-KR" altLang="en-US" sz="2400" dirty="0" smtClean="0"/>
                  <a:t>또는 </a:t>
                </a:r>
                <a:r>
                  <a:rPr lang="ko-KR" altLang="en-US" sz="2400" b="1" dirty="0" smtClean="0"/>
                  <a:t>분포</a:t>
                </a:r>
                <a:r>
                  <a:rPr lang="ko-KR" altLang="en-US" sz="2400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의 서로 다른 값을 그것에 대응되는 확률과 함께 적어놓은 것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종종 일일이 나열하는 대신 공식을 사용할 수 있다</a:t>
                </a:r>
                <a:r>
                  <a:rPr lang="en-US" altLang="ko-KR" sz="2000" dirty="0" smtClean="0"/>
                  <a:t>.</a:t>
                </a:r>
              </a:p>
              <a:p>
                <a:r>
                  <a:rPr lang="ko-KR" altLang="en-US" sz="2400" dirty="0" smtClean="0"/>
                  <a:t>공정한 동전 던지기의 확률분포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동전을 세 번 던져서 나오는 앞면의 수</a:t>
                </a:r>
                <a:endParaRPr lang="en-US" altLang="ko-KR" sz="2000" dirty="0" smtClean="0"/>
              </a:p>
              <a:p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8484506"/>
                  </p:ext>
                </p:extLst>
              </p:nvPr>
            </p:nvGraphicFramePr>
            <p:xfrm>
              <a:off x="2550983" y="3792379"/>
              <a:ext cx="6172887" cy="22251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7629"/>
                    <a:gridCol w="2057629"/>
                    <a:gridCol w="2057629"/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의</m:t>
                              </m:r>
                            </m:oMath>
                          </a14:m>
                          <a:r>
                            <a:rPr lang="ko-KR" altLang="en-US" dirty="0" smtClean="0"/>
                            <a:t> 값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dirty="0" smtClean="0"/>
                            <a:t>사건의 구성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확률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=0]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 {TTT}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=1]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{HTT, THT, TTH}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=2]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{HHT, HTH, THH}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altLang="ko-KR" sz="1600" dirty="0" smtClean="0"/>
                            <a:t>=3]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{HHH}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8484506"/>
                  </p:ext>
                </p:extLst>
              </p:nvPr>
            </p:nvGraphicFramePr>
            <p:xfrm>
              <a:off x="2550983" y="3792379"/>
              <a:ext cx="6172887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57629"/>
                    <a:gridCol w="2057629"/>
                    <a:gridCol w="2057629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96" t="-8197" r="-201183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dirty="0" smtClean="0"/>
                            <a:t>사건의 구성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확률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96" t="-108197" r="-201183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 </a:t>
                          </a:r>
                          <a:r>
                            <a:rPr lang="en-US" altLang="ko-KR" sz="1600" dirty="0" smtClean="0"/>
                            <a:t>{TTT}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96" t="-208197" r="-201183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{</a:t>
                          </a:r>
                          <a:r>
                            <a:rPr lang="en-US" altLang="ko-KR" sz="1600" dirty="0" smtClean="0"/>
                            <a:t>HTT, THT, TTH}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96" t="-308197" r="-201183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{HHT</a:t>
                          </a:r>
                          <a:r>
                            <a:rPr lang="en-US" altLang="ko-KR" sz="1600" dirty="0" smtClean="0"/>
                            <a:t>, HTH, THH}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96" t="-408197" r="-201183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{</a:t>
                          </a:r>
                          <a:r>
                            <a:rPr lang="en-US" altLang="ko-KR" sz="1600" dirty="0" smtClean="0"/>
                            <a:t>HHH}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406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이산확률 변수의 확률분포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457303" cy="4351338"/>
              </a:xfrm>
            </p:spPr>
            <p:txBody>
              <a:bodyPr/>
              <a:lstStyle/>
              <a:p>
                <a:r>
                  <a:rPr lang="ko-KR" altLang="en-US" sz="2400" dirty="0" smtClean="0"/>
                  <a:t>일반적인 경우의 확률분포를 다루기 위해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확률변수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의 서로 다른 값을 기호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ko-KR" altLang="en-US" sz="2400" dirty="0" smtClean="0"/>
                  <a:t> 로 나타냈을 때</a:t>
                </a:r>
                <a:r>
                  <a:rPr lang="en-US" altLang="ko-KR" sz="2400" dirty="0" smtClean="0"/>
                  <a:t>, </a:t>
                </a:r>
                <a:r>
                  <a:rPr lang="ko-KR" altLang="en-US" sz="2400" dirty="0" smtClean="0"/>
                  <a:t>특정한 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sz="2400" dirty="0" smtClean="0"/>
                  <a:t> 발생할 확률을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sz="2400" dirty="0" smtClean="0"/>
                  <a:t> 나타낸다</a:t>
                </a:r>
                <a:r>
                  <a:rPr lang="en-US" altLang="ko-KR" sz="2400" dirty="0" smtClean="0"/>
                  <a:t>.</a:t>
                </a:r>
              </a:p>
              <a:p>
                <a:endParaRPr lang="en-US" altLang="ko-KR" sz="2400" dirty="0"/>
              </a:p>
              <a:p>
                <a:r>
                  <a:rPr lang="ko-KR" altLang="en-US" sz="2400" dirty="0" smtClean="0"/>
                  <a:t>이산확률변수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2400" i="1" dirty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확률분포는 함수</a:t>
                </a:r>
                <a:r>
                  <a:rPr lang="en-US" altLang="ko-KR" sz="2400" dirty="0" smtClean="0"/>
                  <a:t/>
                </a:r>
                <a:br>
                  <a:rPr lang="en-US" altLang="ko-KR" sz="2400" dirty="0" smtClean="0"/>
                </a:b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ko-KR" altLang="en-US" sz="2400" dirty="0" err="1" smtClean="0"/>
                  <a:t>로</a:t>
                </a:r>
                <a:r>
                  <a:rPr lang="ko-KR" altLang="en-US" sz="2400" dirty="0" smtClean="0"/>
                  <a:t> 나타내며 다음을 만족한다</a:t>
                </a:r>
                <a:r>
                  <a:rPr lang="en-US" altLang="ko-KR" sz="2400" dirty="0" smtClean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ko-KR" sz="2400" dirty="0" smtClean="0"/>
                  <a:t>X</a:t>
                </a:r>
                <a:r>
                  <a:rPr lang="ko-KR" altLang="en-US" sz="2400" dirty="0" smtClean="0"/>
                  <a:t>의 모든 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400" dirty="0" smtClean="0"/>
                  <a:t> </a:t>
                </a:r>
                <a:r>
                  <a:rPr lang="ko-KR" altLang="en-US" sz="2400" dirty="0" smtClean="0"/>
                  <a:t>대해</a:t>
                </a:r>
                <a:r>
                  <a:rPr lang="en-US" altLang="ko-KR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US" altLang="ko-KR" sz="2400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ko-KR" sz="2400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sz="2400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457303" cy="4351338"/>
              </a:xfrm>
              <a:blipFill rotWithShape="0">
                <a:blip r:embed="rId2"/>
                <a:stretch>
                  <a:fillRect l="-1554" t="-1961" r="-8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4126093"/>
                  </p:ext>
                </p:extLst>
              </p:nvPr>
            </p:nvGraphicFramePr>
            <p:xfrm>
              <a:off x="8630508" y="1914151"/>
              <a:ext cx="3199028" cy="22251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9514"/>
                    <a:gridCol w="1599514"/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  <m:t>의</m:t>
                              </m:r>
                            </m:oMath>
                          </a14:m>
                          <a:r>
                            <a:rPr lang="ko-KR" altLang="en-US" dirty="0" smtClean="0"/>
                            <a:t> 값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확률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4126093"/>
                  </p:ext>
                </p:extLst>
              </p:nvPr>
            </p:nvGraphicFramePr>
            <p:xfrm>
              <a:off x="8630508" y="1914151"/>
              <a:ext cx="3199028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9514"/>
                    <a:gridCol w="159951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80" t="-8197" r="-101521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80" t="-8197" r="-1521" b="-5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80" t="-108197" r="-101521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80" t="-108197" r="-1521" b="-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80" t="-208197" r="-101521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80" t="-208197" r="-1521" b="-3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80" t="-308197" r="-101521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80" t="-308197" r="-1521" b="-2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80" t="-408197" r="-10152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80" t="-408197" r="-1521" b="-1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90402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 히스토그램</a:t>
            </a:r>
            <a:r>
              <a:rPr lang="en-US" altLang="ko-KR" dirty="0" smtClean="0"/>
              <a:t>(probability histogram)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127789" cy="435133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상대도수 히스토그램과 비슷한 모양으로 확률분포를 나타내기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수평축에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의 가능한 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를 표시하고</a:t>
                </a:r>
                <a:r>
                  <a:rPr lang="en-US" altLang="ko-KR" sz="24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가 중앙이면서 그 면적이 확률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400" dirty="0" smtClean="0"/>
                  <a:t>와 같게 되는 직사각형을 그림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동전을 </a:t>
                </a:r>
                <a:r>
                  <a:rPr lang="en-US" altLang="ko-KR" sz="2400" dirty="0" smtClean="0"/>
                  <a:t>3</a:t>
                </a:r>
                <a:r>
                  <a:rPr lang="ko-KR" altLang="en-US" sz="2400" dirty="0" smtClean="0"/>
                  <a:t>번 던져 나타난 앞면의 수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의 확률 히스토그램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127789" cy="4351338"/>
              </a:xfrm>
              <a:blipFill rotWithShape="0">
                <a:blip r:embed="rId2"/>
                <a:stretch>
                  <a:fillRect l="-1198" t="-1961" r="-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59509" y="1825625"/>
            <a:ext cx="4432491" cy="389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55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선호하는 뉴스 출처에 대한 확률 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 smtClean="0"/>
                  <a:t>학생들의 </a:t>
                </a:r>
                <a:r>
                  <a:rPr lang="en-US" altLang="ko-KR" sz="2400" dirty="0" smtClean="0"/>
                  <a:t>60%</a:t>
                </a:r>
                <a:r>
                  <a:rPr lang="ko-KR" altLang="en-US" sz="2400" dirty="0" smtClean="0"/>
                  <a:t>가 일상 뉴스를 </a:t>
                </a:r>
                <a:r>
                  <a:rPr lang="en-US" altLang="ko-KR" sz="2400" dirty="0" smtClean="0"/>
                  <a:t>TV</a:t>
                </a:r>
                <a:r>
                  <a:rPr lang="ko-KR" altLang="en-US" sz="2400" dirty="0" smtClean="0"/>
                  <a:t>보다는 인터넷에서 얻는 것을 선호</a:t>
                </a:r>
                <a:endParaRPr lang="en-US" altLang="ko-KR" sz="2400" dirty="0" smtClean="0"/>
              </a:p>
              <a:p>
                <a:r>
                  <a:rPr lang="en-US" altLang="ko-KR" sz="2400" dirty="0" smtClean="0"/>
                  <a:t>4</a:t>
                </a:r>
                <a:r>
                  <a:rPr lang="ko-KR" altLang="en-US" sz="2400" dirty="0" smtClean="0"/>
                  <a:t>명의 학생을 임의로 추출할 때 인터넷 뉴스를 선호하는 학생의 수를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라 하자</a:t>
                </a:r>
                <a:r>
                  <a:rPr lang="en-US" altLang="ko-KR" sz="2400" dirty="0" smtClean="0"/>
                  <a:t>.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의 확률분포를 구하고 확률 히스토그램을 구하라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각 학생이 인터넷</a:t>
                </a:r>
                <a:r>
                  <a:rPr lang="en-US" altLang="ko-KR" sz="2400" dirty="0" smtClean="0"/>
                  <a:t>(I) </a:t>
                </a:r>
                <a:r>
                  <a:rPr lang="ko-KR" altLang="en-US" sz="2400" dirty="0" smtClean="0"/>
                  <a:t>뉴스를 선호하거나</a:t>
                </a:r>
                <a:r>
                  <a:rPr lang="en-US" altLang="ko-KR" sz="2400" dirty="0" smtClean="0"/>
                  <a:t>, TV(T) </a:t>
                </a:r>
                <a:r>
                  <a:rPr lang="ko-KR" altLang="en-US" sz="2400" dirty="0" smtClean="0"/>
                  <a:t>뉴스를 선호하거나 둘 중 하나를 선호하므로 가능한 기본결과의 수는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×2×2×2=16</m:t>
                    </m:r>
                  </m:oMath>
                </a14:m>
                <a:r>
                  <a:rPr lang="ko-KR" altLang="en-US" sz="2400" dirty="0" smtClean="0"/>
                  <a:t>가지</a:t>
                </a:r>
                <a:r>
                  <a:rPr lang="en-US" altLang="ko-KR" sz="2400" dirty="0" smtClean="0"/>
                  <a:t>.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 r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72350"/>
              </p:ext>
            </p:extLst>
          </p:nvPr>
        </p:nvGraphicFramePr>
        <p:xfrm>
          <a:off x="2798118" y="3915948"/>
          <a:ext cx="61317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340"/>
                <a:gridCol w="1226340"/>
                <a:gridCol w="1226340"/>
                <a:gridCol w="1226340"/>
                <a:gridCol w="1226340"/>
              </a:tblGrid>
              <a:tr h="2525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X=0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X=1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X=2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X=3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X=4</a:t>
                      </a:r>
                      <a:endParaRPr lang="ko-KR" altLang="en-US" sz="1400" dirty="0"/>
                    </a:p>
                  </a:txBody>
                  <a:tcPr/>
                </a:tc>
              </a:tr>
              <a:tr h="2525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TTTT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TTTI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TTII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TIII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IIII</a:t>
                      </a:r>
                      <a:endParaRPr lang="ko-KR" altLang="en-US" sz="1400" dirty="0"/>
                    </a:p>
                  </a:txBody>
                  <a:tcPr/>
                </a:tc>
              </a:tr>
              <a:tr h="252594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TTIT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TITI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ITII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</a:tr>
              <a:tr h="252594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TITT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TIIT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IITI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</a:tr>
              <a:tr h="252594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ITTT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ITTI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IIIT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  <a:tr h="252594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ITIT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  <a:tr h="252594"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IITT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710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선호하는 뉴스 출처에 대한 확률 분포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ko-KR" altLang="en-US" sz="2000" dirty="0" smtClean="0"/>
                  <a:t>기본결과에 대한 확률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=0.6,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ko-KR" altLang="en-US" sz="2000" dirty="0" smtClean="0"/>
                  <a:t>에는 하나의 기본결과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𝑇𝑇𝑇𝑇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있고</a:t>
                </a:r>
                <a:r>
                  <a:rPr lang="en-US" altLang="ko-KR" sz="2000" dirty="0" smtClean="0"/>
                  <a:t>, </a:t>
                </a:r>
                <a:r>
                  <a:rPr lang="ko-KR" altLang="en-US" sz="2000" dirty="0" smtClean="0"/>
                  <a:t>독립성과 확률의 곱셈법칙을 이용하면</a:t>
                </a:r>
                <a:r>
                  <a:rPr lang="en-US" altLang="ko-KR" sz="2000" dirty="0" smtClean="0"/>
                  <a:t>,</a:t>
                </a:r>
                <a:br>
                  <a:rPr lang="en-US" altLang="ko-KR" sz="2000" dirty="0" smtClean="0"/>
                </a:br>
                <a:r>
                  <a:rPr lang="en-US" altLang="ko-KR" sz="2000" dirty="0" smtClean="0"/>
                  <a:t> </a:t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𝑇𝑇𝑇𝑇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=0.4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×0.4×0.4×0.4=0.0256</m:t>
                    </m:r>
                  </m:oMath>
                </a14:m>
                <a:endParaRPr lang="en-US" altLang="ko-KR" sz="2000" dirty="0" smtClean="0"/>
              </a:p>
              <a:p>
                <a:r>
                  <a:rPr lang="ko-KR" altLang="en-US" sz="2000" dirty="0" smtClean="0"/>
                  <a:t>따라서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=0.0256</m:t>
                    </m:r>
                  </m:oMath>
                </a14:m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sz="2000" dirty="0" smtClean="0"/>
                  <a:t>는 </a:t>
                </a:r>
                <a:r>
                  <a:rPr lang="en-US" altLang="ko-KR" sz="2000" dirty="0" smtClean="0"/>
                  <a:t>4</a:t>
                </a:r>
                <a:r>
                  <a:rPr lang="ko-KR" altLang="en-US" sz="2000" dirty="0" smtClean="0"/>
                  <a:t>개의 기본결과가 있고 각각의 기본결과는 </a:t>
                </a:r>
                <a:r>
                  <a:rPr lang="en-US" altLang="ko-KR" sz="2000" dirty="0" smtClean="0"/>
                  <a:t>3</a:t>
                </a:r>
                <a:r>
                  <a:rPr lang="ko-KR" altLang="en-US" sz="2000" dirty="0" smtClean="0"/>
                  <a:t>개의 </a:t>
                </a:r>
                <a:r>
                  <a:rPr lang="en-US" altLang="ko-KR" sz="2000" dirty="0" smtClean="0"/>
                  <a:t>T</a:t>
                </a:r>
                <a:r>
                  <a:rPr lang="ko-KR" altLang="en-US" sz="2000" dirty="0" smtClean="0"/>
                  <a:t>와 </a:t>
                </a:r>
                <a:r>
                  <a:rPr lang="en-US" altLang="ko-KR" sz="2000" dirty="0" smtClean="0"/>
                  <a:t>1</a:t>
                </a:r>
                <a:r>
                  <a:rPr lang="ko-KR" altLang="en-US" sz="2000" dirty="0" smtClean="0"/>
                  <a:t>개의 </a:t>
                </a:r>
                <a:r>
                  <a:rPr lang="en-US" altLang="ko-KR" sz="2000" dirty="0" smtClean="0"/>
                  <a:t>I</a:t>
                </a:r>
                <a:r>
                  <a:rPr lang="ko-KR" altLang="en-US" sz="2000" dirty="0" smtClean="0"/>
                  <a:t>로 구성</a:t>
                </a: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𝑇𝑇𝑇𝐼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𝑇𝑇𝐼𝑇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𝑇𝐼𝑇𝑇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𝐼𝑇𝑇𝑇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0.4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×0.6=0.0384</m:t>
                    </m:r>
                  </m:oMath>
                </a14:m>
                <a:endParaRPr lang="en-US" altLang="ko-KR" sz="2000" dirty="0" smtClean="0"/>
              </a:p>
              <a:p>
                <a:r>
                  <a:rPr lang="ko-KR" altLang="en-US" sz="2000" dirty="0" smtClean="0"/>
                  <a:t>따라서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=0.0386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×4=0.1536</m:t>
                    </m:r>
                  </m:oMath>
                </a14:m>
                <a:endParaRPr lang="en-US" altLang="ko-KR" sz="2000" dirty="0" smtClean="0"/>
              </a:p>
              <a:p>
                <a:r>
                  <a:rPr lang="ko-KR" altLang="en-US" sz="2000" dirty="0" smtClean="0"/>
                  <a:t>같은 방법으로 </a:t>
                </a: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0.6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=0.3456</m:t>
                    </m:r>
                  </m:oMath>
                </a14:m>
                <a:r>
                  <a:rPr lang="en-US" altLang="ko-KR" sz="2000" b="0" dirty="0" smtClean="0">
                    <a:ea typeface="Cambria Math" panose="02040503050406030204" pitchFamily="18" charset="0"/>
                  </a:rPr>
                  <a:t/>
                </a:r>
                <a:br>
                  <a:rPr lang="en-US" altLang="ko-KR" sz="2000" b="0" dirty="0" smtClean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=3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=4×0.4×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0.6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=0.3456</m:t>
                    </m:r>
                  </m:oMath>
                </a14:m>
                <a:r>
                  <a:rPr lang="en-US" altLang="ko-KR" sz="2000" b="0" dirty="0" smtClean="0">
                    <a:ea typeface="Cambria Math" panose="02040503050406030204" pitchFamily="18" charset="0"/>
                  </a:rPr>
                  <a:t/>
                </a:r>
                <a:br>
                  <a:rPr lang="en-US" altLang="ko-KR" sz="2000" b="0" dirty="0" smtClean="0"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0.6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=0.1296</m:t>
                    </m:r>
                  </m:oMath>
                </a14:m>
                <a:endParaRPr lang="en-US" altLang="ko-KR" sz="20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484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선호하는 뉴스 출처에 대한 확률 분포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dirty="0" smtClean="0"/>
                  <a:t> 확률분포</a:t>
                </a:r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2611328"/>
                  </p:ext>
                </p:extLst>
              </p:nvPr>
            </p:nvGraphicFramePr>
            <p:xfrm>
              <a:off x="2312087" y="2507276"/>
              <a:ext cx="322374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1870"/>
                    <a:gridCol w="1611870"/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0.0256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0.1536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0.3456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0.3456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0.1296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1.0000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2611328"/>
                  </p:ext>
                </p:extLst>
              </p:nvPr>
            </p:nvGraphicFramePr>
            <p:xfrm>
              <a:off x="2312087" y="2507276"/>
              <a:ext cx="322374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11870"/>
                    <a:gridCol w="161187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77" t="-1639" r="-101509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77" t="-1639" r="-1509" b="-6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0.0256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0.1536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0.3456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0.3456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0.1296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1.0000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4543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통계적 추론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앞의 예제에서는 모든 학생들 중 인터넷 뉴스를 선호하는 학생들의 학생들의 비율이 </a:t>
                </a:r>
                <a:r>
                  <a:rPr lang="en-US" altLang="ko-KR" sz="2400" dirty="0" smtClean="0"/>
                  <a:t>0.6</a:t>
                </a:r>
                <a:r>
                  <a:rPr lang="ko-KR" altLang="en-US" sz="2400" dirty="0" smtClean="0"/>
                  <a:t>이라는 가정하에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의 여러 값이 관측될 가능성을 수치적으로 계산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실제 응용에서는 모집단의 구성을 알 수 없는 경우가 대부분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dirty="0" smtClean="0"/>
                  <a:t>인터넷 뉴스를 선호하는 학생들의 미지의 비율을 문자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sz="2000" dirty="0" smtClean="0"/>
                  <a:t> 나타내자</a:t>
                </a:r>
                <a:r>
                  <a:rPr lang="en-US" altLang="ko-KR" sz="2000" dirty="0" smtClean="0"/>
                  <a:t>.</a:t>
                </a:r>
              </a:p>
              <a:p>
                <a:pPr lvl="1"/>
                <a:r>
                  <a:rPr lang="ko-KR" altLang="en-US" sz="2000" dirty="0" smtClean="0"/>
                  <a:t>통계적 추론은 표본에서 실제로 관측된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의 값을 보고 그럴듯해 보이는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2000" dirty="0" smtClean="0"/>
                  <a:t>의 값을 결정하기 위한 시도</a:t>
                </a:r>
                <a:endParaRPr lang="en-US" altLang="ko-KR" sz="2000" dirty="0" smtClean="0"/>
              </a:p>
              <a:p>
                <a:pPr lvl="1"/>
                <a:r>
                  <a:rPr lang="ko-KR" altLang="en-US" sz="2000" spc="-150" dirty="0" smtClean="0"/>
                  <a:t>만약 표본으로 선택된 </a:t>
                </a:r>
                <a:r>
                  <a:rPr lang="en-US" altLang="ko-KR" sz="2000" spc="-150" dirty="0" smtClean="0"/>
                  <a:t>4</a:t>
                </a:r>
                <a:r>
                  <a:rPr lang="ko-KR" altLang="en-US" sz="2000" spc="-150" dirty="0" smtClean="0"/>
                  <a:t>명이 모두 </a:t>
                </a:r>
                <a:r>
                  <a:rPr lang="en-US" altLang="ko-KR" sz="2000" spc="-150" dirty="0" smtClean="0"/>
                  <a:t>TV </a:t>
                </a:r>
                <a:r>
                  <a:rPr lang="ko-KR" altLang="en-US" sz="2000" spc="-150" dirty="0" smtClean="0"/>
                  <a:t>뉴스를 선호한다고 하면 </a:t>
                </a:r>
                <a14:m>
                  <m:oMath xmlns:m="http://schemas.openxmlformats.org/officeDocument/2006/math"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000" b="0" i="1" spc="-150" smtClean="0">
                        <a:latin typeface="Cambria Math" panose="02040503050406030204" pitchFamily="18" charset="0"/>
                      </a:rPr>
                      <m:t>=0.6</m:t>
                    </m:r>
                    <m:r>
                      <a:rPr lang="ko-KR" altLang="en-US" sz="2000" i="1" spc="-15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2000" spc="-150" dirty="0" smtClean="0"/>
                  <a:t> 그럴 듯 한가</a:t>
                </a:r>
                <a:r>
                  <a:rPr lang="en-US" altLang="ko-KR" sz="2000" spc="-150" dirty="0" smtClean="0"/>
                  <a:t>?</a:t>
                </a:r>
              </a:p>
              <a:p>
                <a:pPr lvl="1"/>
                <a:r>
                  <a:rPr lang="ko-KR" altLang="en-US" sz="2000" dirty="0" smtClean="0"/>
                  <a:t>앞의 표에 따르면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=0.6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ko-KR" altLang="en-US" sz="2000" dirty="0" smtClean="0"/>
                  <a:t> 때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2000" dirty="0" smtClean="0"/>
                  <a:t> 극단적인 값을 가질 확률은 </a:t>
                </a:r>
                <a:r>
                  <a:rPr lang="en-US" altLang="ko-KR" sz="2000" dirty="0" smtClean="0"/>
                  <a:t>0.0256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075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경험적 연구를 바탕으로 한 확률분포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: </m:t>
                    </m:r>
                  </m:oMath>
                </a14:m>
                <a:r>
                  <a:rPr lang="ko-KR" altLang="en-US" sz="2000" dirty="0" smtClean="0"/>
                  <a:t>대학교 </a:t>
                </a:r>
                <a:r>
                  <a:rPr lang="en-US" altLang="ko-KR" sz="2000" dirty="0" smtClean="0"/>
                  <a:t>4</a:t>
                </a:r>
                <a:r>
                  <a:rPr lang="ko-KR" altLang="en-US" sz="2000" dirty="0" smtClean="0"/>
                  <a:t>학년 학생들이 구독하는 잡지의 수</a:t>
                </a:r>
                <a:endParaRPr lang="en-US" altLang="ko-KR" sz="2000" dirty="0" smtClean="0"/>
              </a:p>
              <a:p>
                <a:r>
                  <a:rPr lang="en-US" altLang="ko-KR" sz="2000" dirty="0" smtClean="0"/>
                  <a:t>400</a:t>
                </a:r>
                <a:r>
                  <a:rPr lang="ko-KR" altLang="en-US" sz="2000" dirty="0" smtClean="0"/>
                  <a:t>명의 </a:t>
                </a:r>
                <a:r>
                  <a:rPr lang="en-US" altLang="ko-KR" sz="2000" dirty="0" smtClean="0"/>
                  <a:t>4</a:t>
                </a:r>
                <a:r>
                  <a:rPr lang="ko-KR" altLang="en-US" sz="2000" dirty="0" smtClean="0"/>
                  <a:t>학년 학생을 조사하여 도수분포를 얻었다</a:t>
                </a:r>
                <a:r>
                  <a:rPr lang="en-US" altLang="ko-KR" sz="2000" dirty="0" smtClean="0"/>
                  <a:t>.</a:t>
                </a:r>
                <a:r>
                  <a:rPr lang="en-US" altLang="ko-KR" sz="2000" b="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의 확률분포를 근사적으로 구하라</a:t>
                </a:r>
                <a:r>
                  <a:rPr lang="en-US" altLang="ko-KR" sz="2000" dirty="0" smtClean="0"/>
                  <a:t>.</a:t>
                </a:r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r>
                  <a:rPr lang="ko-KR" altLang="en-US" sz="2000" dirty="0" smtClean="0"/>
                  <a:t>상대도수를 확률의 경험적 </a:t>
                </a:r>
                <a:r>
                  <a:rPr lang="ko-KR" altLang="en-US" sz="2000" dirty="0" err="1" smtClean="0"/>
                  <a:t>추정값으로</a:t>
                </a:r>
                <a:r>
                  <a:rPr lang="ko-KR" altLang="en-US" sz="2000" dirty="0" smtClean="0"/>
                  <a:t> 간주하여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의 확률분포를 근사적으로 결정</a:t>
                </a:r>
                <a:endParaRPr lang="en-US" altLang="ko-KR" sz="2000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420225"/>
              </p:ext>
            </p:extLst>
          </p:nvPr>
        </p:nvGraphicFramePr>
        <p:xfrm>
          <a:off x="1496541" y="2713561"/>
          <a:ext cx="4236993" cy="2460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331"/>
                <a:gridCol w="1412331"/>
                <a:gridCol w="1412331"/>
              </a:tblGrid>
              <a:tr h="351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구독 잡지의 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도수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상대도수</a:t>
                      </a:r>
                      <a:endParaRPr lang="ko-KR" altLang="en-US" sz="1400" dirty="0"/>
                    </a:p>
                  </a:txBody>
                  <a:tcPr/>
                </a:tc>
              </a:tr>
              <a:tr h="35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61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0.15</a:t>
                      </a:r>
                      <a:endParaRPr lang="ko-KR" altLang="en-US" sz="1400" dirty="0"/>
                    </a:p>
                  </a:txBody>
                  <a:tcPr/>
                </a:tc>
              </a:tr>
              <a:tr h="35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153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0.38</a:t>
                      </a:r>
                      <a:endParaRPr lang="ko-KR" altLang="en-US" sz="1400" dirty="0"/>
                    </a:p>
                  </a:txBody>
                  <a:tcPr/>
                </a:tc>
              </a:tr>
              <a:tr h="35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106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0.27</a:t>
                      </a:r>
                      <a:endParaRPr lang="ko-KR" altLang="en-US" sz="1400" dirty="0"/>
                    </a:p>
                  </a:txBody>
                  <a:tcPr/>
                </a:tc>
              </a:tr>
              <a:tr h="35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56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0.14</a:t>
                      </a:r>
                      <a:endParaRPr lang="ko-KR" altLang="en-US" sz="1400" dirty="0"/>
                    </a:p>
                  </a:txBody>
                  <a:tcPr/>
                </a:tc>
              </a:tr>
              <a:tr h="3514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24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0.06</a:t>
                      </a:r>
                      <a:endParaRPr lang="ko-KR" altLang="en-US" sz="1400" dirty="0"/>
                    </a:p>
                  </a:txBody>
                  <a:tcPr/>
                </a:tc>
              </a:tr>
              <a:tr h="3514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/>
                        <a:t>합계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400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1.00</a:t>
                      </a:r>
                      <a:endParaRPr lang="ko-KR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752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상대도수분포와 확률분포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19942" cy="435133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상대도수분포는 표본에 기초한 값으로 이루어지므로 표본이 바뀌면 그 값도 바뀐다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확률분포는 전체 모집단에 대한 것으로 변하지 않는다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확률분포는 모집단의 변이를 설명하기 위한 모형을 나타내는 이론적인 것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확률분포는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400" dirty="0" smtClean="0"/>
                  <a:t>의 값으로 정의된 사건들의 확률 계산에 이용</a:t>
                </a:r>
                <a:endParaRPr lang="en-US" altLang="ko-KR" sz="2400" dirty="0" smtClean="0"/>
              </a:p>
              <a:p>
                <a:r>
                  <a:rPr lang="ko-KR" altLang="en-US" sz="2400" dirty="0" smtClean="0"/>
                  <a:t>표는 임의로 선택한 학생들 중 다음주에 제출할 과제의 수</a:t>
                </a:r>
                <a:endParaRPr lang="en-US" altLang="ko-KR" sz="2400" dirty="0" smtClean="0"/>
              </a:p>
              <a:p>
                <a:pPr lvl="1"/>
                <a:r>
                  <a:rPr lang="en-US" altLang="ko-KR" sz="2000" dirty="0" smtClean="0"/>
                  <a:t>X</a:t>
                </a:r>
                <a:r>
                  <a:rPr lang="ko-KR" altLang="en-US" sz="2000" dirty="0" smtClean="0"/>
                  <a:t>가 </a:t>
                </a:r>
                <a:r>
                  <a:rPr lang="en-US" altLang="ko-KR" sz="2000" dirty="0" smtClean="0"/>
                  <a:t>2</a:t>
                </a:r>
                <a:r>
                  <a:rPr lang="ko-KR" altLang="en-US" sz="2000" dirty="0" smtClean="0"/>
                  <a:t>이상일 확률</a:t>
                </a: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lang="en-US" altLang="ko-KR" sz="2000" b="0" dirty="0" smtClean="0"/>
                  <a:t/>
                </a:r>
                <a:br>
                  <a:rPr lang="en-US" altLang="ko-KR" sz="2000" b="0" dirty="0" smtClean="0"/>
                </a:b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=0.40+0.25+0.10+0.75</m:t>
                    </m:r>
                  </m:oMath>
                </a14:m>
                <a:endParaRPr lang="en-US" altLang="ko-KR" sz="2000" dirty="0" smtClean="0"/>
              </a:p>
              <a:p>
                <a:pPr lvl="1"/>
                <a:r>
                  <a:rPr lang="en-US" altLang="ko-KR" sz="2000" dirty="0" smtClean="0"/>
                  <a:t>X</a:t>
                </a:r>
                <a:r>
                  <a:rPr lang="ko-KR" altLang="en-US" sz="2000" dirty="0" smtClean="0"/>
                  <a:t>가 </a:t>
                </a:r>
                <a:r>
                  <a:rPr lang="en-US" altLang="ko-KR" sz="2000" dirty="0" smtClean="0"/>
                  <a:t>2</a:t>
                </a:r>
                <a:r>
                  <a:rPr lang="ko-KR" altLang="en-US" sz="2000" dirty="0" smtClean="0"/>
                  <a:t>이하일 확률</a:t>
                </a:r>
                <a:r>
                  <a:rPr lang="en-US" altLang="ko-KR" sz="2000" dirty="0" smtClean="0"/>
                  <a:t/>
                </a:r>
                <a:br>
                  <a:rPr lang="en-US" altLang="ko-KR" sz="2000" dirty="0" smtClean="0"/>
                </a:b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≤2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altLang="ko-KR" sz="2000" b="0" dirty="0" smtClean="0"/>
                  <a:t/>
                </a:r>
                <a:br>
                  <a:rPr lang="en-US" altLang="ko-KR" sz="2000" b="0" dirty="0" smtClean="0"/>
                </a:b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=0.02+0.23+0.40=0.65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19942" cy="4351338"/>
              </a:xfrm>
              <a:blipFill rotWithShape="0">
                <a:blip r:embed="rId2"/>
                <a:stretch>
                  <a:fillRect l="-78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2058972"/>
                  </p:ext>
                </p:extLst>
              </p:nvPr>
            </p:nvGraphicFramePr>
            <p:xfrm>
              <a:off x="9374660" y="3800665"/>
              <a:ext cx="2383482" cy="22609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1741"/>
                    <a:gridCol w="1191741"/>
                  </a:tblGrid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값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0.02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0.23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0.40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035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0.10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2058972"/>
                  </p:ext>
                </p:extLst>
              </p:nvPr>
            </p:nvGraphicFramePr>
            <p:xfrm>
              <a:off x="9374660" y="3800665"/>
              <a:ext cx="2383482" cy="226096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91741"/>
                    <a:gridCol w="1191741"/>
                  </a:tblGrid>
                  <a:tr h="37682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10" t="-8065" r="-102041" b="-5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510" t="-8065" r="-2041" b="-522581"/>
                          </a:stretch>
                        </a:blipFill>
                      </a:tcPr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0.02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0.23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0.40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035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6828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0.10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32376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확률분포의 </a:t>
            </a:r>
            <a:r>
              <a:rPr lang="ko-KR" altLang="en-US" dirty="0" err="1" smtClean="0"/>
              <a:t>기댓값</a:t>
            </a:r>
            <a:r>
              <a:rPr lang="en-US" altLang="ko-KR" dirty="0" smtClean="0"/>
              <a:t>(</a:t>
            </a:r>
            <a:r>
              <a:rPr lang="ko-KR" altLang="en-US" dirty="0" smtClean="0"/>
              <a:t>평균</a:t>
            </a:r>
            <a:r>
              <a:rPr lang="en-US" altLang="ko-KR" dirty="0" smtClean="0"/>
              <a:t>)</a:t>
            </a:r>
            <a:r>
              <a:rPr lang="ko-KR" altLang="en-US" dirty="0" smtClean="0"/>
              <a:t>과 표준편차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주사위를 </a:t>
                </a:r>
                <a:r>
                  <a:rPr lang="en-US" altLang="ko-KR" sz="2400" dirty="0" smtClean="0"/>
                  <a:t>20</a:t>
                </a:r>
                <a:r>
                  <a:rPr lang="ko-KR" altLang="en-US" sz="2400" dirty="0" smtClean="0"/>
                  <a:t>회 던져 얻은 데이터 집합의 평균 계산</a:t>
                </a:r>
                <a:endParaRPr lang="en-US" altLang="ko-KR" sz="2400" dirty="0"/>
              </a:p>
              <a:p>
                <a:pPr lvl="1"/>
                <a:r>
                  <a:rPr lang="en-US" altLang="ko-KR" sz="2000" dirty="0" smtClean="0"/>
                  <a:t>4, 3, 4, 2, 5, 1, 6, 6, 5, 2, 2, 6, 5, 4, 6 ,2 ,1, 6, 2, 4</a:t>
                </a:r>
              </a:p>
              <a:p>
                <a:r>
                  <a:rPr lang="ko-KR" altLang="en-US" sz="2400" dirty="0" smtClean="0"/>
                  <a:t>각 값의 도수를 구하고 상대도수를 이용하여 평균을 계산하자</a:t>
                </a:r>
                <a:r>
                  <a:rPr lang="en-US" altLang="ko-KR" sz="2400" dirty="0" smtClean="0"/>
                  <a:t>.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+4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+5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+6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=3.8</m:t>
                    </m:r>
                  </m:oMath>
                </a14:m>
                <a:endParaRPr lang="en-US" altLang="ko-KR" sz="2400" b="0" dirty="0" smtClean="0"/>
              </a:p>
              <a:p>
                <a:r>
                  <a:rPr lang="ko-KR" altLang="en-US" sz="2400" dirty="0" smtClean="0"/>
                  <a:t>표본평균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값</m:t>
                        </m:r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상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대</m:t>
                        </m:r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도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수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sz="2400" dirty="0" smtClean="0"/>
              </a:p>
              <a:p>
                <a:r>
                  <a:rPr lang="ko-KR" altLang="en-US" sz="2400" dirty="0" smtClean="0"/>
                  <a:t>주사위를 매우 많이 던진다고 생각하면 상대도수는 모두 </a:t>
                </a:r>
                <a:r>
                  <a:rPr lang="en-US" altLang="ko-KR" sz="2400" dirty="0" smtClean="0"/>
                  <a:t>1/6</a:t>
                </a:r>
                <a:r>
                  <a:rPr lang="ko-KR" altLang="en-US" sz="2400" dirty="0" smtClean="0"/>
                  <a:t>에 근접할 것</a:t>
                </a:r>
                <a:endParaRPr lang="en-US" altLang="ko-KR" sz="2400" dirty="0" smtClean="0"/>
              </a:p>
              <a:p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+3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+4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+5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+6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=3.</m:t>
                    </m:r>
                  </m:oMath>
                </a14:m>
                <a:r>
                  <a:rPr lang="en-US" altLang="ko-KR" sz="2400" dirty="0" smtClean="0"/>
                  <a:t>5</a:t>
                </a:r>
                <a:endParaRPr lang="en-US" altLang="ko-KR" sz="2400" dirty="0"/>
              </a:p>
              <a:p>
                <a:r>
                  <a:rPr lang="ko-KR" altLang="en-US" sz="2400" dirty="0" smtClean="0"/>
                  <a:t>확률분포의 평균 </a:t>
                </a:r>
                <a:r>
                  <a:rPr lang="en-US" altLang="ko-KR" sz="2400" dirty="0" smtClean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값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확</m:t>
                        </m:r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ko-KR" altLang="en-US" dirty="0" smtClean="0"/>
                  <a:t> </a:t>
                </a:r>
                <a:r>
                  <a:rPr lang="ko-KR" altLang="en-US" sz="2400" dirty="0" smtClean="0"/>
                  <a:t>또는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2622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기댓값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67960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 smtClean="0"/>
                  <a:t>확률분포의 평균을 확률변수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 smtClean="0"/>
                  <a:t>의 모평균이라고도 하고 그리스 문자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나타낸다</a:t>
                </a:r>
                <a:r>
                  <a:rPr lang="en-US" altLang="ko-KR" dirty="0" smtClean="0"/>
                  <a:t>.</a:t>
                </a:r>
              </a:p>
              <a:p>
                <a:r>
                  <a:rPr lang="ko-KR" altLang="en-US" dirty="0" smtClean="0"/>
                  <a:t>확률변수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 smtClean="0"/>
                  <a:t>의 평균을 </a:t>
                </a:r>
                <a:r>
                  <a:rPr lang="ko-KR" altLang="en-US" dirty="0" err="1" smtClean="0"/>
                  <a:t>기댓값</a:t>
                </a:r>
                <a:r>
                  <a:rPr lang="en-US" altLang="ko-KR" dirty="0" smtClean="0"/>
                  <a:t>(expected value)</a:t>
                </a:r>
                <a:r>
                  <a:rPr lang="ko-KR" altLang="en-US" dirty="0" smtClean="0"/>
                  <a:t>이라고도 하고 기호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 smtClean="0"/>
                  <a:t>로 나타낸다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r>
                  <a:rPr lang="ko-KR" altLang="en-US" dirty="0" smtClean="0"/>
                  <a:t>즉 모평균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dirty="0" smtClean="0"/>
                  <a:t> 기댓값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 smtClean="0"/>
                  <a:t>는 같은 값이며 혼용해서 사용한다</a:t>
                </a:r>
                <a:r>
                  <a:rPr lang="en-US" altLang="ko-KR" dirty="0" smtClean="0"/>
                  <a:t>.</a:t>
                </a:r>
              </a:p>
              <a:p>
                <a:pPr lvl="1"/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 smtClean="0"/>
                  <a:t>의 </a:t>
                </a:r>
                <a:r>
                  <a:rPr lang="ko-KR" altLang="en-US" b="1" dirty="0" smtClean="0"/>
                  <a:t>평균</a:t>
                </a:r>
                <a:r>
                  <a:rPr lang="ko-KR" altLang="en-US" dirty="0" smtClean="0"/>
                  <a:t> 또는 </a:t>
                </a:r>
                <a:r>
                  <a:rPr lang="ko-KR" altLang="en-US" b="1" dirty="0" smtClean="0"/>
                  <a:t>모평균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:r>
                  <a:rPr lang="en-US" altLang="ko-KR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                        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확률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여기서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 smtClean="0"/>
                  <a:t>의 서로 다른 값들을 나타낸다</a:t>
                </a:r>
                <a:r>
                  <a:rPr lang="en-US" altLang="ko-KR" dirty="0" smtClean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67960"/>
                <a:ext cx="10515600" cy="4351338"/>
              </a:xfrm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208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앞면의 수에 대한 모평균 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spc="-150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i="1" spc="-15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pc="-150" dirty="0" smtClean="0"/>
                  <a:t> </a:t>
                </a:r>
                <a:r>
                  <a:rPr lang="en-US" altLang="ko-KR" spc="-150" dirty="0" smtClean="0"/>
                  <a:t>: </a:t>
                </a:r>
                <a:r>
                  <a:rPr lang="ko-KR" altLang="en-US" spc="-150" dirty="0" smtClean="0"/>
                  <a:t>동전을 세 번 던져 나오는 앞면의 수</a:t>
                </a:r>
                <a:r>
                  <a:rPr lang="en-US" altLang="ko-KR" spc="-150" dirty="0" smtClean="0"/>
                  <a:t>. </a:t>
                </a:r>
                <a:r>
                  <a:rPr lang="ko-KR" altLang="en-US" spc="-15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i="1" spc="-15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pc="-150" dirty="0" smtClean="0"/>
                  <a:t>의 평균을 구하라</a:t>
                </a:r>
                <a:r>
                  <a:rPr lang="en-US" altLang="ko-KR" spc="-150" dirty="0" smtClean="0"/>
                  <a:t>.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1357438"/>
                  </p:ext>
                </p:extLst>
              </p:nvPr>
            </p:nvGraphicFramePr>
            <p:xfrm>
              <a:off x="3350054" y="2471351"/>
              <a:ext cx="4492368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456"/>
                    <a:gridCol w="1497456"/>
                    <a:gridCol w="1497456"/>
                  </a:tblGrid>
                  <a:tr h="34910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𝑥𝑓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1/8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6/8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1/8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12/8=1.5=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1357438"/>
                  </p:ext>
                </p:extLst>
              </p:nvPr>
            </p:nvGraphicFramePr>
            <p:xfrm>
              <a:off x="3350054" y="2471351"/>
              <a:ext cx="4492368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7456"/>
                    <a:gridCol w="1497456"/>
                    <a:gridCol w="1497456"/>
                  </a:tblGrid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7" t="-1667" r="-201626" b="-5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07" t="-1667" r="-101626" b="-5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07" t="-1667" r="-1626" b="-53333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1/8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6/8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1/8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3/8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07" t="-500000" r="-1626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5056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예제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기댓값</a:t>
            </a:r>
            <a:r>
              <a:rPr lang="en-US" altLang="ko-KR" dirty="0" smtClean="0"/>
              <a:t>-</a:t>
            </a:r>
            <a:r>
              <a:rPr lang="ko-KR" altLang="en-US" dirty="0" smtClean="0"/>
              <a:t>보험료 정하기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여행자 보험은 </a:t>
                </a:r>
                <a:r>
                  <a:rPr lang="en-US" altLang="ko-KR" dirty="0" smtClean="0"/>
                  <a:t>5</a:t>
                </a:r>
                <a:r>
                  <a:rPr lang="ko-KR" altLang="en-US" dirty="0" smtClean="0"/>
                  <a:t>일 동안의 여행에서 </a:t>
                </a:r>
                <a:r>
                  <a:rPr lang="ko-KR" altLang="en-US" dirty="0" err="1" smtClean="0"/>
                  <a:t>도난당한</a:t>
                </a:r>
                <a:r>
                  <a:rPr lang="ko-KR" altLang="en-US" dirty="0" smtClean="0"/>
                  <a:t> 물건이나 부서진 물건이 있는 경우 고객에게 </a:t>
                </a:r>
                <a:r>
                  <a:rPr lang="en-US" altLang="ko-KR" dirty="0" smtClean="0"/>
                  <a:t>$2000</a:t>
                </a:r>
                <a:r>
                  <a:rPr lang="ko-KR" altLang="en-US" dirty="0" smtClean="0"/>
                  <a:t>을 지급</a:t>
                </a:r>
                <a:r>
                  <a:rPr lang="en-US" altLang="ko-KR" dirty="0" smtClean="0"/>
                  <a:t>.</a:t>
                </a:r>
              </a:p>
              <a:p>
                <a:r>
                  <a:rPr lang="ko-KR" altLang="en-US" dirty="0" smtClean="0"/>
                  <a:t>만일 도난이나 물건이 부서질 위험이 발생할 가능성이 </a:t>
                </a:r>
                <a:r>
                  <a:rPr lang="en-US" altLang="ko-KR" dirty="0" smtClean="0"/>
                  <a:t>1/200</a:t>
                </a:r>
                <a:r>
                  <a:rPr lang="ko-KR" altLang="en-US" dirty="0" smtClean="0"/>
                  <a:t>이라면 보험료는 얼마 이상이어야 하는가</a:t>
                </a:r>
                <a:r>
                  <a:rPr lang="en-US" altLang="ko-KR" dirty="0" smtClean="0"/>
                  <a:t>?</a:t>
                </a:r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×0.995+2000×0.005=$10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보험사가 손해보지 않으려면 최소 </a:t>
                </a:r>
                <a:r>
                  <a:rPr lang="en-US" altLang="ko-KR" dirty="0" smtClean="0"/>
                  <a:t>$10</a:t>
                </a:r>
                <a:r>
                  <a:rPr lang="ko-KR" altLang="en-US" dirty="0" smtClean="0"/>
                  <a:t>이상의 보험료 필요</a:t>
                </a:r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b="-29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399754"/>
              </p:ext>
            </p:extLst>
          </p:nvPr>
        </p:nvGraphicFramePr>
        <p:xfrm>
          <a:off x="3012303" y="3677050"/>
          <a:ext cx="497016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081"/>
                <a:gridCol w="2485081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지급 </a:t>
                      </a:r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확률 </a:t>
                      </a:r>
                      <a:r>
                        <a:rPr lang="en-US" altLang="ko-KR" dirty="0" smtClean="0"/>
                        <a:t>f(x)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$0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0.995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$2000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0.005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4503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분산과 표준편차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99799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ko-KR" altLang="en-US" sz="2000" dirty="0" smtClean="0"/>
                  <a:t>평균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의 분포의 중심이며</a:t>
                </a:r>
                <a:r>
                  <a:rPr lang="en-US" altLang="ko-KR" sz="2000" dirty="0" smtClean="0"/>
                  <a:t>,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의 변이는 편차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ko-KR" altLang="en-US" sz="2000" dirty="0" smtClean="0"/>
                  <a:t>로 나타낸다</a:t>
                </a:r>
                <a:r>
                  <a:rPr lang="en-US" altLang="ko-KR" sz="20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의 </a:t>
                </a:r>
                <a:r>
                  <a:rPr lang="ko-KR" altLang="en-US" sz="2000" b="1" dirty="0" smtClean="0"/>
                  <a:t>분산</a:t>
                </a:r>
                <a:r>
                  <a:rPr lang="ko-KR" altLang="en-US" sz="20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또는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 sz="2000" dirty="0" smtClean="0"/>
                  <a:t>:</a:t>
                </a:r>
                <a:r>
                  <a:rPr lang="ko-KR" altLang="en-US" sz="2000" dirty="0" smtClean="0"/>
                  <a:t> </a:t>
                </a:r>
                <a:endParaRPr lang="en-US" altLang="ko-KR" sz="2000" dirty="0" smtClean="0"/>
              </a:p>
              <a:p>
                <a:pPr lvl="1"/>
                <a:r>
                  <a:rPr lang="ko-KR" altLang="en-US" sz="2000" dirty="0" smtClean="0"/>
                  <a:t>편차제곱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2000" dirty="0" smtClean="0"/>
                  <a:t>의 </a:t>
                </a:r>
                <a:r>
                  <a:rPr lang="ko-KR" altLang="en-US" sz="2000" dirty="0" err="1" smtClean="0"/>
                  <a:t>기댓값으로</a:t>
                </a:r>
                <a:r>
                  <a:rPr lang="ko-KR" altLang="en-US" sz="2000" dirty="0" smtClean="0"/>
                  <a:t> 정의 </a:t>
                </a:r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의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분산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편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000" i="1">
                                <a:latin typeface="Cambria Math" panose="02040503050406030204" pitchFamily="18" charset="0"/>
                              </a:rPr>
                              <m:t>차</m:t>
                            </m:r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확률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sz="2000" dirty="0"/>
              </a:p>
              <a:p>
                <a:pPr marL="0" indent="0">
                  <a:buNone/>
                </a:pP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의 </a:t>
                </a:r>
                <a:r>
                  <a:rPr lang="ko-KR" altLang="en-US" sz="2000" b="1" dirty="0" smtClean="0"/>
                  <a:t>표준편차</a:t>
                </a:r>
                <a:r>
                  <a:rPr lang="en-US" altLang="ko-KR" sz="2000" dirty="0" smtClean="0"/>
                  <a:t>(standard deviation)</a:t>
                </a:r>
                <a:r>
                  <a:rPr lang="ko-KR" altLang="en-US" sz="2000" dirty="0" smtClean="0"/>
                  <a:t>는 분산의 양의 제곱근이고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sd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ko-KR" altLang="en-US" sz="2000" i="1">
                        <a:latin typeface="Cambria Math" panose="02040503050406030204" pitchFamily="18" charset="0"/>
                      </a:rPr>
                      <m:t>또</m:t>
                    </m:r>
                  </m:oMath>
                </a14:m>
                <a:r>
                  <a:rPr lang="ko-KR" altLang="en-US" sz="2000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sz="2000" dirty="0" smtClean="0"/>
                  <a:t>로 나타냄</a:t>
                </a:r>
                <a:r>
                  <a:rPr lang="en-US" altLang="ko-KR" sz="2000" dirty="0" smtClean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sd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ko-KR" altLang="en-US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ko-KR" sz="2000" b="0" i="0" dirty="0" smtClean="0">
                            <a:latin typeface="Cambria Math" panose="02040503050406030204" pitchFamily="18" charset="0"/>
                          </a:rPr>
                          <m:t>Var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ko-KR" altLang="en-US" sz="2000" dirty="0" smtClean="0"/>
                  <a:t> </a:t>
                </a:r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 err="1"/>
                  <a:t>모분산</a:t>
                </a:r>
                <a:r>
                  <a:rPr lang="en-US" altLang="ko-KR" sz="2000" dirty="0"/>
                  <a:t>(population variance</a:t>
                </a:r>
                <a:r>
                  <a:rPr lang="en-US" altLang="ko-KR" sz="2000" dirty="0" smtClean="0"/>
                  <a:t>),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sz="2000" dirty="0" smtClean="0"/>
                  <a:t>는 </a:t>
                </a:r>
                <a:r>
                  <a:rPr lang="ko-KR" altLang="en-US" sz="2000" dirty="0" err="1" smtClean="0"/>
                  <a:t>모표준편차</a:t>
                </a:r>
                <a:r>
                  <a:rPr lang="en-US" altLang="ko-KR" sz="2000" dirty="0" smtClean="0"/>
                  <a:t>(population standard deviation)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2000" dirty="0" smtClean="0"/>
                  <a:t>보다는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흩어짐의 적절한 측도이다</a:t>
                </a:r>
                <a:r>
                  <a:rPr lang="en-US" altLang="ko-KR" sz="2000" dirty="0" smtClean="0"/>
                  <a:t>.</a:t>
                </a:r>
              </a:p>
              <a:p>
                <a:pPr lvl="1"/>
                <a:r>
                  <a:rPr lang="ko-KR" altLang="en-US" sz="1800" dirty="0" smtClean="0"/>
                  <a:t>표준편차의 단위는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800" dirty="0" smtClean="0"/>
                  <a:t>의 단위가 같기 때문</a:t>
                </a:r>
                <a:endParaRPr lang="en-US" altLang="ko-KR" sz="18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800" dirty="0" smtClean="0"/>
                  <a:t>가 월수입</a:t>
                </a:r>
                <a:r>
                  <a:rPr lang="en-US" altLang="ko-KR" sz="1800" dirty="0" smtClean="0"/>
                  <a:t>($)</a:t>
                </a:r>
                <a:r>
                  <a:rPr lang="ko-KR" altLang="en-US" sz="1800" dirty="0" smtClean="0"/>
                  <a:t>이라고 하면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 sz="1800" dirty="0" smtClean="0"/>
                  <a:t>의 단위는 </a:t>
                </a:r>
                <a:r>
                  <a:rPr lang="en-US" altLang="ko-KR" sz="1800" dirty="0" smtClean="0"/>
                  <a:t>$</a:t>
                </a:r>
                <a:r>
                  <a:rPr lang="ko-KR" altLang="en-US" sz="1800" dirty="0" smtClean="0"/>
                  <a:t>이지만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en-US" sz="18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800" dirty="0" smtClean="0"/>
                  <a:t> </a:t>
                </a:r>
                <a:r>
                  <a:rPr lang="ko-KR" altLang="en-US" sz="1800" dirty="0" smtClean="0"/>
                  <a:t>단위는 의미 없는 </a:t>
                </a:r>
                <a:r>
                  <a:rPr lang="en-US" altLang="ko-KR" sz="1800" dirty="0" smtClean="0"/>
                  <a:t>$</a:t>
                </a:r>
                <a:r>
                  <a:rPr lang="en-US" altLang="ko-KR" sz="1800" baseline="30000" dirty="0" smtClean="0"/>
                  <a:t>2</a:t>
                </a:r>
                <a:r>
                  <a:rPr lang="ko-KR" altLang="en-US" sz="1800" dirty="0" smtClean="0"/>
                  <a:t>이다</a:t>
                </a:r>
                <a:r>
                  <a:rPr lang="en-US" altLang="ko-KR" sz="1800" dirty="0" smtClean="0"/>
                  <a:t>.</a:t>
                </a:r>
              </a:p>
              <a:p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99799" cy="4351338"/>
              </a:xfrm>
              <a:blipFill rotWithShape="0">
                <a:blip r:embed="rId2"/>
                <a:stretch>
                  <a:fillRect l="-439" t="-2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4248965"/>
                  </p:ext>
                </p:extLst>
              </p:nvPr>
            </p:nvGraphicFramePr>
            <p:xfrm>
              <a:off x="7635103" y="1825625"/>
              <a:ext cx="3650735" cy="16876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2896"/>
                    <a:gridCol w="1517839"/>
                  </a:tblGrid>
                  <a:tr h="346488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600" dirty="0" smtClean="0"/>
                            <a:t>이 취하는 값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확률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36655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  <a:tr h="236655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  <a:tr h="236655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6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  <a:tr h="236655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4248965"/>
                  </p:ext>
                </p:extLst>
              </p:nvPr>
            </p:nvGraphicFramePr>
            <p:xfrm>
              <a:off x="7635103" y="1825625"/>
              <a:ext cx="3650735" cy="16876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32896"/>
                    <a:gridCol w="1517839"/>
                  </a:tblGrid>
                  <a:tr h="34648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85" t="-5263" r="-7208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확률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85" t="-109091" r="-72080" b="-3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41365" t="-109091" r="-1606" b="-314545"/>
                          </a:stretch>
                        </a:blip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85" t="-205357" r="-72080" b="-2089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41365" t="-205357" r="-1606" b="-208929"/>
                          </a:stretch>
                        </a:blip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85" t="-310909" r="-7208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41365" t="-310909" r="-1606" b="-112727"/>
                          </a:stretch>
                        </a:blip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85" t="-410909" r="-72080" b="-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41365" t="-410909" r="-1606" b="-1272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27023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모분산과</a:t>
            </a:r>
            <a:r>
              <a:rPr lang="ko-KR" altLang="en-US" dirty="0" smtClean="0"/>
              <a:t> 표준편차의 계산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dirty="0" smtClean="0"/>
                  <a:t>평균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편차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편차의 제곱 등을 차례로 계산</a:t>
                </a:r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=1.2,  </m:t>
                    </m:r>
                    <m:r>
                      <m:rPr>
                        <m:nor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sd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1.2</m:t>
                        </m:r>
                      </m:e>
                    </m:ra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=1.095</m:t>
                    </m:r>
                  </m:oMath>
                </a14:m>
                <a:endParaRPr lang="en-US" altLang="ko-KR" dirty="0" smtClean="0"/>
              </a:p>
              <a:p>
                <a:endParaRPr lang="en-US" altLang="ko-KR" dirty="0" smtClean="0"/>
              </a:p>
              <a:p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1879993"/>
                  </p:ext>
                </p:extLst>
              </p:nvPr>
            </p:nvGraphicFramePr>
            <p:xfrm>
              <a:off x="1208213" y="2507276"/>
              <a:ext cx="9023184" cy="256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4241"/>
                    <a:gridCol w="1202725"/>
                    <a:gridCol w="1589902"/>
                    <a:gridCol w="1556952"/>
                    <a:gridCol w="1655805"/>
                    <a:gridCol w="1993559"/>
                  </a:tblGrid>
                  <a:tr h="304375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8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i="1" dirty="0" smtClean="0">
                                    <a:latin typeface="Cambria Math" panose="02040503050406030204" pitchFamily="18" charset="0"/>
                                  </a:rPr>
                                  <m:t>𝑥𝑓</m:t>
                                </m:r>
                                <m:r>
                                  <a:rPr lang="en-US" altLang="ko-KR" sz="18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8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8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8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altLang="ko-KR" sz="1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18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8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800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altLang="ko-KR" sz="1800" b="1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1800" b="1" i="1" smtClean="0">
                                            <a:latin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8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ko-KR" sz="18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800" dirty="0"/>
                        </a:p>
                      </a:txBody>
                      <a:tcPr/>
                    </a:tc>
                  </a:tr>
                  <a:tr h="30437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-2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0.4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0437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-1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0437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0.8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0437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3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0.6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0437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0.4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0437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 smtClean="0"/>
                            <a:t>합계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1.0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2.0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1.2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ko-KR" altLang="en-US" sz="1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1879993"/>
                  </p:ext>
                </p:extLst>
              </p:nvPr>
            </p:nvGraphicFramePr>
            <p:xfrm>
              <a:off x="1208213" y="2507276"/>
              <a:ext cx="9023184" cy="2566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4241"/>
                    <a:gridCol w="1202725"/>
                    <a:gridCol w="1589902"/>
                    <a:gridCol w="1556952"/>
                    <a:gridCol w="1655805"/>
                    <a:gridCol w="1993559"/>
                  </a:tblGrid>
                  <a:tr h="3719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95" t="-1639" r="-783929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85354" t="-1639" r="-565152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41154" t="-1639" r="-330385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44922" t="-1639" r="-235547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24632" t="-1639" r="-121691" b="-616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53211" t="-1639" r="-1223" b="-616393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-2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0.4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-1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0.8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3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0.6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0.2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0.1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1800" dirty="0" smtClean="0"/>
                            <a:t>2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4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0.4</a:t>
                          </a:r>
                          <a:endParaRPr lang="ko-KR" altLang="en-US" sz="1800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dirty="0" smtClean="0"/>
                            <a:t>합계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dirty="0" smtClean="0"/>
                            <a:t>1.0</a:t>
                          </a:r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41154" t="-605000" r="-330385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53211" t="-605000" r="-1223" b="-2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4218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분산을 계산하는 다른 방법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 smtClean="0"/>
                  <a:t>분산을 </a:t>
                </a:r>
                <a:r>
                  <a:rPr lang="ko-KR" altLang="en-US" dirty="0"/>
                  <a:t>구할 때 다음의 공식을 이용하면 </a:t>
                </a:r>
                <a:r>
                  <a:rPr lang="ko-KR" altLang="en-US" dirty="0" smtClean="0"/>
                  <a:t>편리하다</a:t>
                </a:r>
                <a:r>
                  <a:rPr lang="en-US" altLang="ko-KR" dirty="0" smtClean="0"/>
                  <a:t>.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:endParaRPr lang="en-US" altLang="ko-KR" dirty="0"/>
              </a:p>
              <a:p>
                <a:endParaRPr lang="en-US" altLang="ko-KR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=5.2−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2.0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=1.2, 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1.2</m:t>
                        </m:r>
                      </m:e>
                    </m:ra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=1.095</m:t>
                    </m:r>
                  </m:oMath>
                </a14:m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679707"/>
                  </p:ext>
                </p:extLst>
              </p:nvPr>
            </p:nvGraphicFramePr>
            <p:xfrm>
              <a:off x="2354648" y="2836789"/>
              <a:ext cx="7482704" cy="26877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0676"/>
                    <a:gridCol w="1870676"/>
                    <a:gridCol w="1870676"/>
                    <a:gridCol w="1870676"/>
                  </a:tblGrid>
                  <a:tr h="25294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𝑥𝑓</m:t>
                                </m:r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60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r>
                                      <a:rPr lang="en-US" altLang="ko-KR" sz="1600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ko-KR" sz="16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  <a:tr h="2529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29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29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0.8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1.6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29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0.6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1.8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29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1.6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294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2.0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5.2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52942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=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679707"/>
                  </p:ext>
                </p:extLst>
              </p:nvPr>
            </p:nvGraphicFramePr>
            <p:xfrm>
              <a:off x="2354648" y="2836789"/>
              <a:ext cx="7482704" cy="26877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70676"/>
                    <a:gridCol w="1870676"/>
                    <a:gridCol w="1870676"/>
                    <a:gridCol w="1870676"/>
                  </a:tblGrid>
                  <a:tr h="3408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26" t="-1786" r="-301303" b="-86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326" t="-1786" r="-201303" b="-86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326" t="-1786" r="-101303" b="-860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326" t="-1786" r="-1303" b="-860714"/>
                          </a:stretch>
                        </a:blipFill>
                      </a:tcPr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0.8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1.6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0.6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1.8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0.4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1.6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합계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1.0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2.0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5.2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326" t="-705455" r="-101303" b="-17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326" t="-705455" r="-1303" b="-17454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1158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성공과 실패</a:t>
            </a:r>
            <a:r>
              <a:rPr lang="en-US" altLang="ko-KR" dirty="0" smtClean="0"/>
              <a:t>-</a:t>
            </a:r>
            <a:r>
              <a:rPr lang="ko-KR" altLang="en-US" dirty="0" smtClean="0"/>
              <a:t>베르누이 실행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실험의 가능한 결과가 단지 두 개인 경우가 종종 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예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인터넷 뉴스를 선호하거나 텔레비전 뉴스를 선호</a:t>
            </a:r>
            <a:endParaRPr lang="en-US" altLang="ko-KR" dirty="0" smtClean="0"/>
          </a:p>
          <a:p>
            <a:r>
              <a:rPr lang="ko-KR" altLang="en-US" dirty="0" smtClean="0"/>
              <a:t>간단한 확률모형으로 각 결과의 가능성을 나타낼 수 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모집단의 비율은 반드시 알려져 있을 필요는 없다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spc="-150" dirty="0" smtClean="0"/>
              <a:t>대신에 확률분포는 미지의 </a:t>
            </a:r>
            <a:r>
              <a:rPr lang="ko-KR" altLang="en-US" b="1" spc="-150" dirty="0" err="1" smtClean="0"/>
              <a:t>모수</a:t>
            </a:r>
            <a:r>
              <a:rPr lang="en-US" altLang="ko-KR" spc="-150" dirty="0" smtClean="0"/>
              <a:t>(parameter)</a:t>
            </a:r>
            <a:r>
              <a:rPr lang="ko-KR" altLang="en-US" spc="-150" dirty="0" smtClean="0"/>
              <a:t>로 모집단 비율을 포함할 것</a:t>
            </a:r>
            <a:endParaRPr lang="en-US" altLang="ko-KR" spc="-150" dirty="0" smtClean="0"/>
          </a:p>
        </p:txBody>
      </p:sp>
    </p:spTree>
    <p:extLst>
      <p:ext uri="{BB962C8B-B14F-4D97-AF65-F5344CB8AC3E}">
        <p14:creationId xmlns:p14="http://schemas.microsoft.com/office/powerpoint/2010/main" val="1617819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 or B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pc="-150" dirty="0"/>
              <a:t>원소가 특성상 둘로 나눠지는 모집단에서 표본을 추출하는 상황</a:t>
            </a:r>
            <a:endParaRPr lang="en-US" altLang="ko-KR" spc="-150" dirty="0"/>
          </a:p>
          <a:p>
            <a:pPr lvl="1"/>
            <a:r>
              <a:rPr lang="ko-KR" altLang="en-US" dirty="0"/>
              <a:t>한 생산라인에서 만들어진 일정 개수의 상품에서 불량품의 개수</a:t>
            </a:r>
            <a:endParaRPr lang="en-US" altLang="ko-KR" dirty="0"/>
          </a:p>
          <a:p>
            <a:pPr lvl="1"/>
            <a:r>
              <a:rPr lang="ko-KR" altLang="en-US" spc="-150" dirty="0"/>
              <a:t>표본으로 선정된 유권자를 조사하여 얼마나 많은 사람이 </a:t>
            </a:r>
            <a:r>
              <a:rPr lang="ko-KR" altLang="en-US" spc="-150" dirty="0" err="1"/>
              <a:t>공공복지비의</a:t>
            </a:r>
            <a:r>
              <a:rPr lang="ko-KR" altLang="en-US" spc="-150" dirty="0"/>
              <a:t> 증가에 동의하는가</a:t>
            </a:r>
            <a:endParaRPr lang="en-US" altLang="ko-KR" spc="-150" dirty="0"/>
          </a:p>
          <a:p>
            <a:pPr lvl="1"/>
            <a:r>
              <a:rPr lang="ko-KR" altLang="en-US" spc="-150" dirty="0"/>
              <a:t>일정 수의 설치동물에서 채취한 피를 분석하여 몇 마리가 바이러스에 감염되었는가</a:t>
            </a:r>
            <a:endParaRPr lang="en-US" altLang="ko-KR" spc="-150" dirty="0"/>
          </a:p>
          <a:p>
            <a:pPr lvl="1"/>
            <a:r>
              <a:rPr lang="ko-KR" altLang="en-US" spc="-150" dirty="0"/>
              <a:t>일정 수의 출생기록을 조사하여 제왕절개 수술로 태어난 아이가 얼마나 많은가</a:t>
            </a:r>
            <a:endParaRPr lang="en-US" altLang="ko-KR" spc="-15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0151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베르누이 시행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이 절의 목표</a:t>
                </a:r>
                <a:r>
                  <a:rPr lang="en-US" altLang="ko-KR" dirty="0" smtClean="0"/>
                  <a:t> </a:t>
                </a:r>
                <a:r>
                  <a:rPr lang="ko-KR" altLang="en-US" dirty="0" smtClean="0"/>
                  <a:t>시행이 반복적으로 실행될 때 한 범주에 속하는 결과의 수에 대한 확률모형을 개발</a:t>
                </a:r>
                <a:endParaRPr lang="en-US" altLang="ko-KR" dirty="0" smtClean="0"/>
              </a:p>
              <a:p>
                <a:r>
                  <a:rPr lang="ko-KR" altLang="en-US" dirty="0" smtClean="0"/>
                  <a:t>시행</a:t>
                </a:r>
                <a:r>
                  <a:rPr lang="en-US" altLang="ko-KR" dirty="0" smtClean="0"/>
                  <a:t>(trial) : </a:t>
                </a:r>
                <a:r>
                  <a:rPr lang="ko-KR" altLang="en-US" dirty="0" smtClean="0"/>
                  <a:t>실험에서 각각의 반복</a:t>
                </a:r>
                <a:endParaRPr lang="en-US" altLang="ko-KR" dirty="0" smtClean="0"/>
              </a:p>
              <a:p>
                <a:r>
                  <a:rPr lang="ko-KR" altLang="en-US" dirty="0" smtClean="0"/>
                  <a:t>시행의 두 가지 가능한 결과에 </a:t>
                </a:r>
                <a:r>
                  <a:rPr lang="ko-KR" altLang="en-US" b="1" dirty="0" smtClean="0"/>
                  <a:t>성공</a:t>
                </a:r>
                <a:r>
                  <a:rPr lang="en-US" altLang="ko-KR" dirty="0" smtClean="0"/>
                  <a:t>(S)</a:t>
                </a:r>
                <a:r>
                  <a:rPr lang="ko-KR" altLang="en-US" dirty="0" smtClean="0"/>
                  <a:t>과 </a:t>
                </a:r>
                <a:r>
                  <a:rPr lang="ko-KR" altLang="en-US" b="1" dirty="0" smtClean="0"/>
                  <a:t>실패</a:t>
                </a:r>
                <a:r>
                  <a:rPr lang="en-US" altLang="ko-KR" dirty="0" smtClean="0"/>
                  <a:t>(F)</a:t>
                </a:r>
                <a:r>
                  <a:rPr lang="ko-KR" altLang="en-US" dirty="0" smtClean="0"/>
                  <a:t>를 부여</a:t>
                </a:r>
                <a:endParaRPr lang="en-US" altLang="ko-KR" dirty="0" smtClean="0"/>
              </a:p>
              <a:p>
                <a:r>
                  <a:rPr lang="ko-KR" altLang="en-US" b="1" dirty="0" smtClean="0"/>
                  <a:t>베르누이 시행</a:t>
                </a:r>
                <a:endParaRPr lang="en-US" altLang="ko-KR" b="1" dirty="0" smtClean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ko-KR" altLang="en-US" dirty="0" smtClean="0"/>
                  <a:t>각 시행에서는 성공</a:t>
                </a:r>
                <a:r>
                  <a:rPr lang="en-US" altLang="ko-KR" dirty="0" smtClean="0"/>
                  <a:t>(S)</a:t>
                </a:r>
                <a:r>
                  <a:rPr lang="ko-KR" altLang="en-US" dirty="0" smtClean="0"/>
                  <a:t>과 실패</a:t>
                </a:r>
                <a:r>
                  <a:rPr lang="en-US" altLang="ko-KR" dirty="0" smtClean="0"/>
                  <a:t>(F)</a:t>
                </a:r>
                <a:r>
                  <a:rPr lang="ko-KR" altLang="en-US" dirty="0" smtClean="0"/>
                  <a:t> 두 가지 결과 중 하나가 나타남</a:t>
                </a:r>
                <a:endParaRPr lang="en-US" altLang="ko-KR" dirty="0" smtClean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ko-KR" altLang="en-US" dirty="0" smtClean="0"/>
                  <a:t>각 시행에서 성공할 확률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 smtClean="0"/>
                  <a:t>는 같고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실패할 확률은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 smtClean="0"/>
                  <a:t>.</a:t>
                </a:r>
              </a:p>
              <a:p>
                <a:pPr lvl="2"/>
                <a:r>
                  <a:rPr lang="ko-KR" altLang="en-US" dirty="0" smtClean="0"/>
                  <a:t>만약 실패 확률을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o-KR" altLang="en-US" dirty="0" smtClean="0"/>
                  <a:t>로 표시하면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 smtClean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ko-KR" altLang="en-US" dirty="0" smtClean="0"/>
                  <a:t>시행들은 서로 독립</a:t>
                </a:r>
                <a:r>
                  <a:rPr lang="en-US" altLang="ko-KR" dirty="0" smtClean="0"/>
                  <a:t>. </a:t>
                </a:r>
                <a:r>
                  <a:rPr lang="ko-KR" altLang="en-US" dirty="0" smtClean="0"/>
                  <a:t>한 시행의 결과는 다른 모든 시행에 영향을 미치지 않음</a:t>
                </a:r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464" b="-5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018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예</a:t>
            </a:r>
            <a:r>
              <a:rPr lang="en-US" altLang="ko-KR" dirty="0" smtClean="0"/>
              <a:t>: </a:t>
            </a:r>
            <a:r>
              <a:rPr lang="ko-KR" altLang="en-US" dirty="0" smtClean="0"/>
              <a:t>두 가지 범주를 가지는 모집단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ko-KR" altLang="en-US" sz="2400" dirty="0" smtClean="0"/>
                  <a:t>불량품과 양품으로 분류되는 상품이 담긴 상자</a:t>
                </a:r>
                <a:r>
                  <a:rPr lang="en-US" altLang="ko-KR" sz="2400" dirty="0" smtClean="0"/>
                  <a:t>(</a:t>
                </a:r>
                <a:r>
                  <a:rPr lang="ko-KR" altLang="en-US" sz="2400" dirty="0" smtClean="0"/>
                  <a:t>모집단</a:t>
                </a:r>
                <a:r>
                  <a:rPr lang="en-US" altLang="ko-KR" sz="2400" dirty="0" smtClean="0"/>
                  <a:t>)</a:t>
                </a:r>
              </a:p>
              <a:p>
                <a:pPr lvl="1"/>
                <a:r>
                  <a:rPr lang="en-US" altLang="ko-KR" sz="2000" dirty="0" smtClean="0"/>
                  <a:t>15</a:t>
                </a:r>
                <a:r>
                  <a:rPr lang="ko-KR" altLang="en-US" sz="2000" dirty="0" smtClean="0"/>
                  <a:t>개의 상품이 있고 </a:t>
                </a:r>
                <a:r>
                  <a:rPr lang="en-US" altLang="ko-KR" sz="2000" dirty="0" smtClean="0"/>
                  <a:t>5</a:t>
                </a:r>
                <a:r>
                  <a:rPr lang="ko-KR" altLang="en-US" sz="2000" dirty="0" smtClean="0"/>
                  <a:t>개가 불량품</a:t>
                </a:r>
                <a:endParaRPr lang="en-US" altLang="ko-KR" sz="2000" dirty="0" smtClean="0"/>
              </a:p>
              <a:p>
                <a:r>
                  <a:rPr lang="ko-KR" altLang="en-US" sz="2400" dirty="0" smtClean="0"/>
                  <a:t>복원추출</a:t>
                </a:r>
                <a:endParaRPr lang="en-US" altLang="ko-KR" sz="2400" dirty="0" smtClean="0"/>
              </a:p>
              <a:p>
                <a:pPr lvl="1"/>
                <a:r>
                  <a:rPr lang="ko-KR" altLang="en-US" sz="2000" spc="-150" dirty="0" smtClean="0"/>
                  <a:t>하나의 상품을 임의 추출하여 품질을 조사하고 다시 상자 속으로 넣은 후 추출을 반복</a:t>
                </a:r>
                <a:endParaRPr lang="en-US" altLang="ko-KR" sz="2000" spc="-150" dirty="0" smtClean="0"/>
              </a:p>
              <a:p>
                <a:pPr lvl="1"/>
                <a:r>
                  <a:rPr lang="ko-KR" altLang="en-US" sz="2000" spc="-150" dirty="0" smtClean="0"/>
                  <a:t>이 실험은 베르누이 시행의 조건을 만족하며 </a:t>
                </a:r>
                <a14:m>
                  <m:oMath xmlns:m="http://schemas.openxmlformats.org/officeDocument/2006/math">
                    <m:r>
                      <a:rPr lang="en-US" altLang="ko-KR" sz="2000" i="1" spc="-150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2000" spc="-150" dirty="0" smtClean="0"/>
                  <a:t>가 불량품의 선택을 나타낼 때 </a:t>
                </a:r>
                <a14:m>
                  <m:oMath xmlns:m="http://schemas.openxmlformats.org/officeDocument/2006/math">
                    <m:r>
                      <a:rPr lang="en-US" altLang="ko-KR" sz="2000" i="1" spc="-150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i="1" spc="-15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 spc="-150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ko-KR" sz="2000" b="0" i="1" spc="-15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pc="-15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pc="-15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ko-KR" sz="2000" b="0" i="1" spc="-150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US" altLang="ko-KR" sz="2000" spc="-150" dirty="0" smtClean="0"/>
              </a:p>
              <a:p>
                <a:r>
                  <a:rPr lang="ko-KR" altLang="en-US" sz="2400" dirty="0" err="1" smtClean="0"/>
                  <a:t>비복원추출</a:t>
                </a:r>
                <a:endParaRPr lang="en-US" altLang="ko-KR" sz="2400" dirty="0" smtClean="0"/>
              </a:p>
              <a:p>
                <a:pPr lvl="1"/>
                <a:r>
                  <a:rPr lang="en-US" altLang="ko-KR" sz="2000" dirty="0" smtClean="0"/>
                  <a:t>3</a:t>
                </a:r>
                <a:r>
                  <a:rPr lang="ko-KR" altLang="en-US" sz="2000" dirty="0" smtClean="0"/>
                  <a:t>개의 상품을 한 번에 한 개씩 </a:t>
                </a:r>
                <a:r>
                  <a:rPr lang="ko-KR" altLang="en-US" sz="2000" dirty="0" err="1" smtClean="0"/>
                  <a:t>비복원</a:t>
                </a:r>
                <a:r>
                  <a:rPr lang="ko-KR" altLang="en-US" sz="2000" dirty="0" smtClean="0"/>
                  <a:t> 추출</a:t>
                </a:r>
                <a:endParaRPr lang="en-US" altLang="ko-KR" sz="2000" dirty="0" smtClean="0"/>
              </a:p>
              <a:p>
                <a:pPr lvl="1"/>
                <a:r>
                  <a:rPr lang="ko-KR" altLang="en-US" sz="2000" dirty="0" smtClean="0"/>
                  <a:t>시행의 독립성에 관한 조건이 만족되지 않음</a:t>
                </a:r>
                <a:endParaRPr lang="en-US" altLang="ko-KR" sz="2000" dirty="0" smtClean="0"/>
              </a:p>
              <a:p>
                <a:pPr lvl="2"/>
                <a:r>
                  <a:rPr lang="ko-KR" altLang="en-US" sz="1800" dirty="0" smtClean="0"/>
                  <a:t>첫 번째 상품을 추출할 때는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US" altLang="ko-KR" sz="1800" b="0" dirty="0" smtClean="0"/>
              </a:p>
              <a:p>
                <a:pPr lvl="2"/>
                <a:r>
                  <a:rPr lang="ko-KR" altLang="en-US" sz="1800" dirty="0" smtClean="0"/>
                  <a:t>만약 첫 번째 상품이 </a:t>
                </a:r>
                <a:r>
                  <a:rPr lang="en-US" altLang="ko-KR" sz="1800" dirty="0" smtClean="0"/>
                  <a:t>S</a:t>
                </a:r>
                <a:r>
                  <a:rPr lang="ko-KR" altLang="en-US" sz="1800" dirty="0" smtClean="0"/>
                  <a:t>라면</a:t>
                </a:r>
                <a:r>
                  <a:rPr lang="en-US" altLang="ko-KR" sz="1800" dirty="0" smtClean="0"/>
                  <a:t>, </a:t>
                </a:r>
                <a:r>
                  <a:rPr lang="ko-KR" altLang="en-US" sz="1800" dirty="0" smtClean="0"/>
                  <a:t>두 번째 추출에서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en-US" altLang="ko-KR" sz="1800" dirty="0" smtClean="0"/>
              </a:p>
              <a:p>
                <a:pPr marL="914400" lvl="2" indent="0">
                  <a:buNone/>
                </a:pPr>
                <a:endParaRPr lang="ko-KR" altLang="en-US" sz="18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157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모집단이 방대할 경우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ko-KR" altLang="en-US" dirty="0" smtClean="0"/>
                  <a:t>앞의 예제처럼 </a:t>
                </a:r>
                <a:r>
                  <a:rPr lang="ko-KR" altLang="en-US" dirty="0"/>
                  <a:t>독립성의 조건이 </a:t>
                </a:r>
                <a:r>
                  <a:rPr lang="ko-KR" altLang="en-US" dirty="0" smtClean="0"/>
                  <a:t>위배되는 상황도 모집단이 방대하고 모집단에 비해 극히 일부만 추출되는 경우 큰 의미를 갖지 못함</a:t>
                </a:r>
                <a:endParaRPr lang="en-US" altLang="ko-KR" dirty="0" smtClean="0"/>
              </a:p>
              <a:p>
                <a:r>
                  <a:rPr lang="en-US" altLang="ko-KR" dirty="0" smtClean="0"/>
                  <a:t>500</a:t>
                </a:r>
                <a:r>
                  <a:rPr lang="ko-KR" altLang="en-US" dirty="0" smtClean="0"/>
                  <a:t>개의 불량품을 포함하는 </a:t>
                </a:r>
                <a:r>
                  <a:rPr lang="en-US" altLang="ko-KR" dirty="0" smtClean="0"/>
                  <a:t>1,500</a:t>
                </a:r>
                <a:r>
                  <a:rPr lang="ko-KR" altLang="en-US" dirty="0" smtClean="0"/>
                  <a:t>개의 상품에서 비복원추출로 </a:t>
                </a:r>
                <a:r>
                  <a:rPr lang="en-US" altLang="ko-KR" dirty="0" smtClean="0"/>
                  <a:t>3</a:t>
                </a:r>
                <a:r>
                  <a:rPr lang="ko-KR" altLang="en-US" dirty="0" smtClean="0"/>
                  <a:t>개의 상품 추출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 smtClean="0"/>
                  <a:t>: </a:t>
                </a:r>
                <a:r>
                  <a:rPr lang="ko-KR" altLang="en-US" dirty="0" smtClean="0"/>
                  <a:t>첫 번째 추출에서 불량품 추출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 smtClean="0"/>
                  <a:t>: </a:t>
                </a:r>
                <a:r>
                  <a:rPr lang="ko-KR" altLang="en-US" dirty="0" smtClean="0"/>
                  <a:t>두 번째에서 불량품 추출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1,500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499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1,499</m:t>
                        </m:r>
                      </m:den>
                    </m:f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대부분의 실질적인 문제에서 위의 값은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ko-KR" altLang="en-US" dirty="0" smtClean="0"/>
                  <a:t>으로 근사</a:t>
                </a:r>
                <a:endParaRPr lang="en-US" altLang="ko-KR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8" t="-2101" r="-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0461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베르누이 실행과 근사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 sz="2400" dirty="0" smtClean="0"/>
              <a:t>만일 두 가지 특성을 가지는 모집단으로부터 표본을 임의로 </a:t>
            </a:r>
            <a:r>
              <a:rPr lang="ko-KR" altLang="en-US" sz="2400" dirty="0" err="1" smtClean="0"/>
              <a:t>복원추출하면</a:t>
            </a:r>
            <a:r>
              <a:rPr lang="ko-KR" altLang="en-US" sz="2400" dirty="0" smtClean="0"/>
              <a:t> 베르누이 시행의 조건이 만족됨</a:t>
            </a:r>
            <a:endParaRPr lang="en-US" altLang="ko-KR" sz="2400" dirty="0" smtClean="0"/>
          </a:p>
          <a:p>
            <a:r>
              <a:rPr lang="ko-KR" altLang="en-US" sz="2400" dirty="0" err="1" smtClean="0"/>
              <a:t>비복원으로</a:t>
            </a:r>
            <a:r>
              <a:rPr lang="ko-KR" altLang="en-US" sz="2400" dirty="0" smtClean="0"/>
              <a:t> 추출하면 시행의 독립성 조건이 위배된다</a:t>
            </a:r>
            <a:r>
              <a:rPr lang="en-US" altLang="ko-KR" sz="2400" dirty="0" smtClean="0"/>
              <a:t>.</a:t>
            </a:r>
          </a:p>
          <a:p>
            <a:pPr lvl="1"/>
            <a:r>
              <a:rPr lang="ko-KR" altLang="en-US" sz="2000" dirty="0" smtClean="0"/>
              <a:t>그러나 모집단이 크고 모집단의 극히 일부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일반적으로 </a:t>
            </a:r>
            <a:r>
              <a:rPr lang="en-US" altLang="ko-KR" sz="2000" dirty="0" smtClean="0"/>
              <a:t>10%</a:t>
            </a:r>
            <a:r>
              <a:rPr lang="ko-KR" altLang="en-US" sz="2000" dirty="0" smtClean="0"/>
              <a:t>미만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만 추출되면 위배의 효과는 무시해도 되며 베르누이 실행은 좋은 근사가 됨</a:t>
            </a:r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r>
              <a:rPr lang="ko-KR" altLang="en-US" sz="2400" dirty="0" smtClean="0"/>
              <a:t>예제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새로운 항생물질 테스트</a:t>
            </a:r>
            <a:endParaRPr lang="en-US" altLang="ko-KR" sz="2400" dirty="0" smtClean="0"/>
          </a:p>
          <a:p>
            <a:r>
              <a:rPr lang="ko-KR" altLang="en-US" sz="2400" spc="-150" dirty="0" smtClean="0"/>
              <a:t>새로운 항생물질을 환자 </a:t>
            </a:r>
            <a:r>
              <a:rPr lang="en-US" altLang="ko-KR" sz="2400" spc="-150" dirty="0" smtClean="0"/>
              <a:t>10</a:t>
            </a:r>
            <a:r>
              <a:rPr lang="ko-KR" altLang="en-US" sz="2400" spc="-150" dirty="0" smtClean="0"/>
              <a:t>명에게 투여</a:t>
            </a:r>
            <a:r>
              <a:rPr lang="en-US" altLang="ko-KR" sz="2400" spc="-150" dirty="0" smtClean="0"/>
              <a:t>, </a:t>
            </a:r>
            <a:r>
              <a:rPr lang="ko-KR" altLang="en-US" sz="2400" spc="-150" dirty="0" smtClean="0"/>
              <a:t>결과는 회복</a:t>
            </a:r>
            <a:r>
              <a:rPr lang="en-US" altLang="ko-KR" sz="2400" spc="-150" dirty="0" smtClean="0"/>
              <a:t>(S)</a:t>
            </a:r>
            <a:r>
              <a:rPr lang="ko-KR" altLang="en-US" sz="2400" spc="-150" dirty="0" smtClean="0"/>
              <a:t>과 </a:t>
            </a:r>
            <a:r>
              <a:rPr lang="ko-KR" altLang="en-US" sz="2400" spc="-150" dirty="0" err="1" smtClean="0"/>
              <a:t>비회복</a:t>
            </a:r>
            <a:r>
              <a:rPr lang="en-US" altLang="ko-KR" sz="2400" spc="-150" dirty="0" smtClean="0"/>
              <a:t>(F)</a:t>
            </a:r>
          </a:p>
          <a:p>
            <a:pPr lvl="1"/>
            <a:r>
              <a:rPr lang="ko-KR" altLang="en-US" sz="2000" dirty="0" smtClean="0"/>
              <a:t>각 환자들은 서로 다른 신체적 유전적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 조건을 지님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엄밀히 말하면 </a:t>
            </a:r>
            <a:r>
              <a:rPr lang="en-US" altLang="ko-KR" sz="2000" dirty="0" smtClean="0"/>
              <a:t>10</a:t>
            </a:r>
            <a:r>
              <a:rPr lang="ko-KR" altLang="en-US" sz="2000" dirty="0" smtClean="0"/>
              <a:t>명의 환자에게 행해진 시행을 베르누이 시행의 정의에서 요구하는 동일한 조건이라고 하기는 어려움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그러나 확률모형은 복잡한 상황을 단순화시켜주는 개념이며 현실상황을 베르누이 시행으로 근사화하여 간주</a:t>
            </a:r>
            <a:endParaRPr lang="en-US" altLang="ko-KR" sz="2000" dirty="0" smtClean="0"/>
          </a:p>
        </p:txBody>
      </p:sp>
    </p:spTree>
    <p:extLst>
      <p:ext uri="{BB962C8B-B14F-4D97-AF65-F5344CB8AC3E}">
        <p14:creationId xmlns:p14="http://schemas.microsoft.com/office/powerpoint/2010/main" val="41372316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확률모형과 </a:t>
            </a:r>
            <a:r>
              <a:rPr lang="ko-KR" altLang="en-US" dirty="0" err="1" smtClean="0"/>
              <a:t>모수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 smtClean="0"/>
                  <a:t>오직 두 가지 가능한 결과가 얻어지는 실험을 반복할 때 나타나는 우연적인 변동을 모형화하는 분포를 알아본다</a:t>
                </a:r>
                <a:r>
                  <a:rPr lang="en-US" altLang="ko-KR" dirty="0" smtClean="0"/>
                  <a:t>.</a:t>
                </a:r>
              </a:p>
              <a:p>
                <a:r>
                  <a:rPr lang="ko-KR" altLang="en-US" dirty="0" smtClean="0"/>
                  <a:t>실제적 상황에서는 일반적으로 모집단의 비율</a:t>
                </a:r>
                <a:r>
                  <a:rPr lang="en-US" altLang="ko-KR" dirty="0" smtClean="0"/>
                  <a:t>, </a:t>
                </a:r>
                <a:r>
                  <a:rPr lang="ko-KR" altLang="en-US" dirty="0" err="1" smtClean="0"/>
                  <a:t>모비율을</a:t>
                </a:r>
                <a:r>
                  <a:rPr lang="ko-KR" altLang="en-US" dirty="0" smtClean="0"/>
                  <a:t> 알지 못함</a:t>
                </a:r>
                <a:endParaRPr lang="en-US" altLang="ko-KR" dirty="0" smtClean="0"/>
              </a:p>
              <a:p>
                <a:pPr lvl="1"/>
                <a:r>
                  <a:rPr lang="ko-KR" altLang="en-US" dirty="0" err="1" smtClean="0"/>
                  <a:t>모수</a:t>
                </a:r>
                <a:r>
                  <a:rPr lang="en-US" altLang="ko-KR" dirty="0" smtClean="0"/>
                  <a:t>(parameter)</a:t>
                </a:r>
                <a:r>
                  <a:rPr lang="ko-KR" altLang="en-US" dirty="0" smtClean="0"/>
                  <a:t>로써 미지의 </a:t>
                </a:r>
                <a:r>
                  <a:rPr lang="ko-KR" altLang="en-US" dirty="0" err="1" smtClean="0"/>
                  <a:t>모비율을</a:t>
                </a:r>
                <a:r>
                  <a:rPr lang="ko-KR" altLang="en-US" dirty="0" smtClean="0"/>
                  <a:t> 포함하는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 smtClean="0"/>
                  <a:t>의 확률 분포에 대한 모형을 구성하는 것은 가능</a:t>
                </a:r>
                <a:endParaRPr lang="en-US" altLang="ko-KR" dirty="0"/>
              </a:p>
              <a:p>
                <a:endParaRPr lang="en-US" altLang="ko-KR" dirty="0" smtClean="0"/>
              </a:p>
              <a:p>
                <a:r>
                  <a:rPr lang="ko-KR" altLang="en-US" b="1" dirty="0" smtClean="0"/>
                  <a:t>확률모형</a:t>
                </a:r>
                <a:r>
                  <a:rPr lang="en-US" altLang="ko-KR" dirty="0" smtClean="0"/>
                  <a:t>(probability model)</a:t>
                </a:r>
              </a:p>
              <a:p>
                <a:pPr lvl="1"/>
                <a:r>
                  <a:rPr lang="ko-KR" altLang="en-US" dirty="0" smtClean="0"/>
                  <a:t>확률변수 </a:t>
                </a:r>
                <a:r>
                  <a:rPr lang="en-US" altLang="ko-KR" dirty="0" smtClean="0"/>
                  <a:t>X</a:t>
                </a:r>
                <a:r>
                  <a:rPr lang="ko-KR" altLang="en-US" dirty="0" smtClean="0"/>
                  <a:t>에 대한 우연적 현상을 기술하는 확률분포의 가정된 형태</a:t>
                </a:r>
                <a:endParaRPr lang="en-US" altLang="ko-KR" dirty="0" smtClean="0"/>
              </a:p>
              <a:p>
                <a:r>
                  <a:rPr lang="ko-KR" altLang="en-US" dirty="0" smtClean="0"/>
                  <a:t>확률은 </a:t>
                </a:r>
                <a:r>
                  <a:rPr lang="ko-KR" altLang="en-US" b="1" dirty="0" err="1" smtClean="0"/>
                  <a:t>모수</a:t>
                </a:r>
                <a:r>
                  <a:rPr lang="en-US" altLang="ko-KR" dirty="0" smtClean="0"/>
                  <a:t>(parameter)</a:t>
                </a:r>
                <a:r>
                  <a:rPr lang="ko-KR" altLang="en-US" dirty="0" smtClean="0"/>
                  <a:t>라고 하는 모집단과 관련된 어떤 수로 표현됨</a:t>
                </a:r>
                <a:endParaRPr lang="en-US" altLang="ko-KR" dirty="0" smtClean="0"/>
              </a:p>
              <a:p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361" r="-290" b="-35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310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이항분포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000" dirty="0" smtClean="0"/>
                  <a:t>각 시행에서 성공할 확률이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2000" dirty="0" smtClean="0"/>
                  <a:t>인 </a:t>
                </a:r>
                <a:r>
                  <a:rPr lang="ko-KR" altLang="en-US" sz="2000" b="1" dirty="0" smtClean="0"/>
                  <a:t>고정된 횟수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000" b="1" dirty="0" smtClean="0"/>
                  <a:t>번</a:t>
                </a:r>
                <a:r>
                  <a:rPr lang="ko-KR" altLang="en-US" sz="2000" dirty="0" smtClean="0"/>
                  <a:t>의 베르누이 시행을 고려하자</a:t>
                </a:r>
                <a:r>
                  <a:rPr lang="en-US" altLang="ko-KR" sz="2000" dirty="0" smtClean="0"/>
                  <a:t>.</a:t>
                </a:r>
              </a:p>
              <a:p>
                <a:r>
                  <a:rPr lang="ko-KR" altLang="en-US" sz="2000" dirty="0" smtClean="0"/>
                  <a:t>그러면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000" dirty="0" smtClean="0"/>
                  <a:t>번의 시행에서 얻어진 성공의 횟수는 확률변수이며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로 표시하자</a:t>
                </a:r>
                <a:r>
                  <a:rPr lang="en-US" altLang="ko-KR" sz="2000" dirty="0" smtClean="0"/>
                  <a:t>.</a:t>
                </a:r>
              </a:p>
              <a:p>
                <a:r>
                  <a:rPr lang="ko-KR" altLang="en-US" sz="2000" dirty="0" smtClean="0"/>
                  <a:t>이 확률변수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를 확률 분포를 이항분포라 한다</a:t>
                </a:r>
                <a:r>
                  <a:rPr lang="en-US" altLang="ko-KR" sz="2000" dirty="0" smtClean="0"/>
                  <a:t>.</a:t>
                </a:r>
              </a:p>
              <a:p>
                <a:r>
                  <a:rPr lang="ko-KR" altLang="en-US" sz="2000" dirty="0" smtClean="0"/>
                  <a:t>이항분포는 두 개의 수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sz="2000" dirty="0" smtClean="0"/>
                  <a:t>과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sz="2000" dirty="0" smtClean="0"/>
                  <a:t>에 의존</a:t>
                </a:r>
                <a:endParaRPr lang="en-US" altLang="ko-KR" sz="2000" dirty="0" smtClean="0"/>
              </a:p>
              <a:p>
                <a:pPr lvl="1"/>
                <a:r>
                  <a:rPr lang="ko-KR" altLang="en-US" sz="1800" dirty="0" smtClean="0"/>
                  <a:t>표 </a:t>
                </a:r>
                <a:r>
                  <a:rPr lang="en-US" altLang="ko-KR" sz="1800" dirty="0" smtClean="0"/>
                  <a:t>1</a:t>
                </a:r>
                <a:r>
                  <a:rPr lang="ko-KR" altLang="en-US" sz="1800" dirty="0" smtClean="0"/>
                  <a:t>의 분포는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o-KR" altLang="en-US" sz="1800" dirty="0" smtClean="0"/>
                  <a:t>과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ko-KR" altLang="en-US" sz="1800" dirty="0" smtClean="0"/>
                  <a:t>인 이항분포</a:t>
                </a:r>
                <a:r>
                  <a:rPr lang="en-US" altLang="ko-KR" sz="1800" dirty="0" smtClean="0"/>
                  <a:t>,  </a:t>
                </a:r>
                <a:r>
                  <a:rPr lang="ko-KR" altLang="en-US" sz="1800" dirty="0" smtClean="0"/>
                  <a:t>표 </a:t>
                </a:r>
                <a:r>
                  <a:rPr lang="en-US" altLang="ko-KR" sz="1800" dirty="0" smtClean="0"/>
                  <a:t>2</a:t>
                </a:r>
                <a:r>
                  <a:rPr lang="ko-KR" altLang="en-US" sz="1800" dirty="0" smtClean="0"/>
                  <a:t>의 분포는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ko-KR" altLang="en-US" sz="1800" dirty="0" smtClean="0"/>
                  <a:t>와 </a:t>
                </a:r>
                <a14:m>
                  <m:oMath xmlns:m="http://schemas.openxmlformats.org/officeDocument/2006/math"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ko-KR" altLang="en-US" sz="1800" dirty="0" smtClean="0"/>
                  <a:t>인 이항분포</a:t>
                </a:r>
                <a:endParaRPr lang="en-US" altLang="ko-KR" sz="1800" dirty="0" smtClean="0"/>
              </a:p>
              <a:p>
                <a:r>
                  <a:rPr lang="ko-KR" altLang="en-US" sz="2000" b="1" dirty="0" smtClean="0"/>
                  <a:t>이항분포</a:t>
                </a:r>
                <a:endParaRPr lang="en-US" altLang="ko-KR" sz="2000" b="1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800" dirty="0" smtClean="0"/>
                  <a:t> : </a:t>
                </a:r>
                <a:r>
                  <a:rPr lang="ko-KR" altLang="en-US" sz="1800" dirty="0" smtClean="0"/>
                  <a:t>베르누이 시행의 고정된 횟수</a:t>
                </a:r>
                <a:endParaRPr lang="en-US" altLang="ko-KR" sz="18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1800" dirty="0" smtClean="0"/>
                  <a:t> : </a:t>
                </a:r>
                <a:r>
                  <a:rPr lang="ko-KR" altLang="en-US" sz="1800" dirty="0" smtClean="0"/>
                  <a:t>각 시행에서 성공할 확률</a:t>
                </a:r>
                <a:endParaRPr lang="en-US" altLang="ko-KR" sz="18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1800" dirty="0" smtClean="0"/>
                  <a:t> : n</a:t>
                </a:r>
                <a:r>
                  <a:rPr lang="ko-KR" altLang="en-US" sz="1800" dirty="0" smtClean="0"/>
                  <a:t>번의 시행에서 성공의 횟수</a:t>
                </a:r>
                <a:endParaRPr lang="en-US" altLang="ko-KR" sz="1800" dirty="0" smtClean="0"/>
              </a:p>
              <a:p>
                <a:pPr marL="0" indent="0">
                  <a:buNone/>
                </a:pPr>
                <a:r>
                  <a:rPr lang="ko-KR" altLang="en-US" sz="2000" dirty="0" smtClean="0"/>
                  <a:t>확률변수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2000" dirty="0" smtClean="0"/>
                  <a:t>를 </a:t>
                </a:r>
                <a:r>
                  <a:rPr lang="ko-KR" altLang="en-US" sz="2000" b="1" dirty="0" smtClean="0"/>
                  <a:t>이항확률변수</a:t>
                </a:r>
                <a:r>
                  <a:rPr lang="en-US" altLang="ko-KR" sz="2000" dirty="0" smtClean="0"/>
                  <a:t>(binomial random variable)</a:t>
                </a:r>
                <a:r>
                  <a:rPr lang="ko-KR" altLang="en-US" sz="2000" dirty="0" smtClean="0"/>
                  <a:t>라 한다</a:t>
                </a:r>
                <a:r>
                  <a:rPr lang="en-US" altLang="ko-KR" sz="2000" dirty="0" smtClean="0"/>
                  <a:t>. </a:t>
                </a:r>
                <a:br>
                  <a:rPr lang="en-US" altLang="ko-KR" sz="2000" dirty="0" smtClean="0"/>
                </a:br>
                <a:r>
                  <a:rPr lang="ko-KR" altLang="en-US" sz="2000" dirty="0" smtClean="0"/>
                  <a:t>그것의 분포를 </a:t>
                </a:r>
                <a:r>
                  <a:rPr lang="ko-KR" altLang="en-US" sz="2000" b="1" dirty="0" smtClean="0"/>
                  <a:t>이항분포</a:t>
                </a:r>
                <a:r>
                  <a:rPr lang="en-US" altLang="ko-KR" sz="2000" dirty="0" smtClean="0"/>
                  <a:t>(binomial distribution)</a:t>
                </a:r>
                <a:r>
                  <a:rPr lang="ko-KR" altLang="en-US" sz="2000" dirty="0" smtClean="0"/>
                  <a:t>이라 한다</a:t>
                </a:r>
                <a:r>
                  <a:rPr lang="en-US" altLang="ko-KR" sz="2000" dirty="0" smtClean="0"/>
                  <a:t>.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538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이항분포의 예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2000" dirty="0" smtClean="0"/>
                  <a:t>:</a:t>
                </a:r>
                <a:r>
                  <a:rPr lang="ko-KR" altLang="en-US" sz="2000" dirty="0" smtClean="0"/>
                  <a:t> 임의로 선정된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명</m:t>
                    </m:r>
                  </m:oMath>
                </a14:m>
                <a:r>
                  <a:rPr lang="ko-KR" altLang="en-US" sz="2000" dirty="0" smtClean="0"/>
                  <a:t>의 학생들 중 인터넷 뉴스를 선호하는 학생의 수</a:t>
                </a:r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dirty="0" smtClean="0"/>
                  <a:t>: </a:t>
                </a:r>
                <a:r>
                  <a:rPr lang="ko-KR" altLang="en-US" sz="2000" dirty="0" smtClean="0"/>
                  <a:t>모집단에서 인터넷 뉴스를 선호하는 비율</a:t>
                </a:r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ko-KR" sz="2000" dirty="0" smtClean="0"/>
              </a:p>
              <a:p>
                <a:r>
                  <a:rPr lang="ko-KR" altLang="en-US" sz="2000" dirty="0" smtClean="0"/>
                  <a:t>인터넷</a:t>
                </a:r>
                <a:r>
                  <a:rPr lang="en-US" altLang="ko-KR" sz="2000" dirty="0" smtClean="0"/>
                  <a:t>(S), </a:t>
                </a:r>
                <a:r>
                  <a:rPr lang="ko-KR" altLang="en-US" sz="2000" dirty="0" smtClean="0"/>
                  <a:t>인터넷 아님</a:t>
                </a:r>
                <a:r>
                  <a:rPr lang="en-US" altLang="ko-KR" sz="2000" dirty="0" smtClean="0"/>
                  <a:t>(F)</a:t>
                </a:r>
              </a:p>
              <a:p>
                <a:endParaRPr lang="en-US" altLang="ko-KR" sz="2000" dirty="0"/>
              </a:p>
              <a:p>
                <a:endParaRPr lang="en-US" altLang="ko-KR" sz="2000" dirty="0" smtClean="0"/>
              </a:p>
              <a:p>
                <a:endParaRPr lang="en-US" altLang="ko-KR" sz="2000" dirty="0"/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=0]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하나의 결과 </a:t>
                </a:r>
                <a:r>
                  <a:rPr lang="en-US" altLang="ko-KR" sz="2000" dirty="0" smtClean="0"/>
                  <a:t>FFFF</a:t>
                </a:r>
                <a:r>
                  <a:rPr lang="ko-KR" altLang="en-US" sz="2000" dirty="0" smtClean="0"/>
                  <a:t>를 가지므로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altLang="ko-KR" sz="2000" dirty="0" smtClean="0"/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하나의 </a:t>
                </a:r>
                <a:r>
                  <a:rPr lang="en-US" altLang="ko-KR" sz="2000" dirty="0" smtClean="0"/>
                  <a:t>S</a:t>
                </a:r>
                <a:r>
                  <a:rPr lang="ko-KR" altLang="en-US" sz="2000" dirty="0" smtClean="0"/>
                  <a:t>와 세 개의 </a:t>
                </a:r>
                <a:r>
                  <a:rPr lang="en-US" altLang="ko-KR" sz="2000" dirty="0" smtClean="0"/>
                  <a:t>F</a:t>
                </a:r>
                <a:r>
                  <a:rPr lang="ko-KR" altLang="en-US" sz="2000" dirty="0" smtClean="0"/>
                  <a:t>를 가지므로 각각의 기본결과의 확률은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ko-KR" sz="2400" dirty="0" smtClean="0"/>
              </a:p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ko-KR" altLang="en-US" sz="2000" dirty="0" smtClean="0"/>
                  <a:t>인 이항분포</a:t>
                </a:r>
                <a:endParaRPr lang="en-US" altLang="ko-KR" sz="2000" dirty="0" smtClean="0"/>
              </a:p>
              <a:p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dirty="0" smtClean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8003577"/>
                  </p:ext>
                </p:extLst>
              </p:nvPr>
            </p:nvGraphicFramePr>
            <p:xfrm>
              <a:off x="1867245" y="3030310"/>
              <a:ext cx="7853405" cy="11677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0090"/>
                    <a:gridCol w="1217808"/>
                    <a:gridCol w="1090456"/>
                    <a:gridCol w="1146173"/>
                    <a:gridCol w="1162091"/>
                    <a:gridCol w="1156787"/>
                  </a:tblGrid>
                  <a:tr h="296267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ko-KR" altLang="en-US" sz="1600" dirty="0" smtClean="0"/>
                            <a:t>의 값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29626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결과에 대한 확률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  <a:tr h="397221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결과의 수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1=</m:t>
                                </m:r>
                                <m:d>
                                  <m:d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4=</m:t>
                                </m:r>
                                <m:d>
                                  <m:d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6=</m:t>
                                </m:r>
                                <m:d>
                                  <m:d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4=</m:t>
                                </m:r>
                                <m:d>
                                  <m:d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1=</m:t>
                                </m:r>
                                <m:d>
                                  <m:d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8003577"/>
                  </p:ext>
                </p:extLst>
              </p:nvPr>
            </p:nvGraphicFramePr>
            <p:xfrm>
              <a:off x="1867245" y="3030310"/>
              <a:ext cx="7853405" cy="116776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0090"/>
                    <a:gridCol w="1217808"/>
                    <a:gridCol w="1090456"/>
                    <a:gridCol w="1146173"/>
                    <a:gridCol w="1162091"/>
                    <a:gridCol w="1156787"/>
                  </a:tblGrid>
                  <a:tr h="3352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93" t="-5455" r="-279179" b="-2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0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3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/>
                    </a:tc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결과에 대한 확률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71000" t="-105455" r="-376000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2793" t="-105455" r="-320112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83511" t="-105455" r="-204787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75916" t="-105455" r="-101571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78947" t="-105455" r="-2105" b="-154545"/>
                          </a:stretch>
                        </a:blipFill>
                      </a:tcPr>
                    </a:tc>
                  </a:tr>
                  <a:tr h="49720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결과의 수</a:t>
                          </a:r>
                          <a:endParaRPr lang="ko-KR" altLang="en-US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71000" t="-137805" r="-376000" b="-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2793" t="-137805" r="-320112" b="-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83511" t="-137805" r="-204787" b="-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75916" t="-137805" r="-101571" b="-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78947" t="-137805" r="-2105" b="-365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4090992"/>
                  </p:ext>
                </p:extLst>
              </p:nvPr>
            </p:nvGraphicFramePr>
            <p:xfrm>
              <a:off x="1867245" y="5393182"/>
              <a:ext cx="8128002" cy="918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/>
                    <a:gridCol w="1354667"/>
                    <a:gridCol w="1354667"/>
                    <a:gridCol w="1354667"/>
                    <a:gridCol w="1354667"/>
                    <a:gridCol w="1354667"/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ko-KR" altLang="en-US" dirty="0" smtClean="0"/>
                            <a:t>의 값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확률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ko-K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4090992"/>
                  </p:ext>
                </p:extLst>
              </p:nvPr>
            </p:nvGraphicFramePr>
            <p:xfrm>
              <a:off x="1867245" y="5393182"/>
              <a:ext cx="8128002" cy="918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/>
                    <a:gridCol w="1354667"/>
                    <a:gridCol w="1354667"/>
                    <a:gridCol w="1354667"/>
                    <a:gridCol w="1354667"/>
                    <a:gridCol w="1354667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50" t="-8197" r="-502703" b="-1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0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4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5478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50" t="-72527" r="-502703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000" t="-72527" r="-40044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901" t="-72527" r="-302252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901" t="-72527" r="-202252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99103" t="-72527" r="-101345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1351" t="-72527" r="-1802" b="-219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21170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이항분포의 식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 smtClean="0"/>
                  <a:t>앞의 예제를 일반적인 반복 횟수인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인 경우</a:t>
                </a:r>
                <a:endParaRPr lang="en-US" altLang="ko-KR" dirty="0" smtClean="0"/>
              </a:p>
              <a:p>
                <a14:m>
                  <m:oMath xmlns:m="http://schemas.openxmlformats.org/officeDocument/2006/math">
                    <m:r>
                      <a:rPr lang="en-US" altLang="ko-KR" i="1" spc="-150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ko-KR" altLang="en-US" spc="-150" dirty="0" smtClean="0"/>
                  <a:t>번의 성공과 </a:t>
                </a:r>
                <a14:m>
                  <m:oMath xmlns:m="http://schemas.openxmlformats.org/officeDocument/2006/math">
                    <m:r>
                      <a:rPr lang="en-US" altLang="ko-KR" i="1" spc="-15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pc="-15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i="1" spc="-15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 spc="-150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 spc="-15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pc="-150" dirty="0" smtClean="0"/>
                  <a:t>번의 실패를 갖는 기본결과가 모두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pc="-15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pc="-15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pc="-15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pc="-15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r>
                      <a:rPr lang="ko-KR" altLang="en-US" i="1" spc="-150">
                        <a:latin typeface="Cambria Math" panose="02040503050406030204" pitchFamily="18" charset="0"/>
                      </a:rPr>
                      <m:t>개</m:t>
                    </m:r>
                  </m:oMath>
                </a14:m>
                <a:r>
                  <a:rPr lang="ko-KR" altLang="en-US" spc="-150" dirty="0" smtClean="0"/>
                  <a:t> 있다</a:t>
                </a:r>
                <a:r>
                  <a:rPr lang="en-US" altLang="ko-KR" spc="-150" dirty="0" smtClean="0"/>
                  <a:t>.</a:t>
                </a:r>
              </a:p>
              <a:p>
                <a:r>
                  <a:rPr lang="ko-KR" altLang="en-US" dirty="0" smtClean="0"/>
                  <a:t>또한 그러한 기본결과의 확률은 모두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 smtClean="0"/>
                  <a:t>다</a:t>
                </a:r>
                <a:r>
                  <a:rPr lang="en-US" altLang="ko-KR" dirty="0" smtClean="0"/>
                  <a:t>.</a:t>
                </a:r>
                <a:endParaRPr lang="en-US" altLang="ko-KR" dirty="0"/>
              </a:p>
              <a:p>
                <a:r>
                  <a:rPr lang="ko-KR" altLang="en-US" dirty="0" smtClean="0"/>
                  <a:t>따라서 시행횟수가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회이고 성공할 확률이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dirty="0" smtClean="0"/>
                  <a:t>인 </a:t>
                </a:r>
                <a:r>
                  <a:rPr lang="ko-KR" altLang="en-US" b="1" dirty="0" smtClean="0"/>
                  <a:t>이항분포</a:t>
                </a:r>
                <a:r>
                  <a:rPr lang="ko-KR" altLang="en-US" dirty="0" smtClean="0"/>
                  <a:t>는 다음 함수에 의해 기술된다</a:t>
                </a:r>
                <a:r>
                  <a:rPr lang="en-US" altLang="ko-KR" dirty="0" smtClean="0"/>
                  <a:t>.</a:t>
                </a:r>
              </a:p>
              <a:p>
                <a:r>
                  <a:rPr lang="ko-KR" altLang="en-US" dirty="0" smtClean="0"/>
                  <a:t>가능한 값들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=0,1,⋯,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에 대해</a:t>
                </a:r>
                <a:r>
                  <a:rPr lang="en-US" altLang="ko-KR" dirty="0" smtClean="0"/>
                  <a:t/>
                </a:r>
                <a:br>
                  <a:rPr lang="en-US" altLang="ko-KR" dirty="0" smtClean="0"/>
                </a:b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381" r="-173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327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이항분포와 유전학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000" dirty="0" smtClean="0"/>
                  <a:t>같은 종에 속하는 붉은 꽃이 피는 식물과 흰 꽃이 피는 식물의 교잡으로 나타나는 잡종 </a:t>
                </a:r>
                <a:r>
                  <a:rPr lang="en-US" altLang="ko-KR" sz="2000" dirty="0" smtClean="0"/>
                  <a:t>1</a:t>
                </a:r>
                <a:r>
                  <a:rPr lang="ko-KR" altLang="en-US" sz="2000" dirty="0" smtClean="0"/>
                  <a:t>세대는 </a:t>
                </a:r>
                <a:r>
                  <a:rPr lang="en-US" altLang="ko-KR" sz="2000" dirty="0" smtClean="0"/>
                  <a:t>25%</a:t>
                </a:r>
                <a:r>
                  <a:rPr lang="ko-KR" altLang="en-US" sz="2000" dirty="0" smtClean="0"/>
                  <a:t>가 붉은 꽃</a:t>
                </a:r>
                <a:r>
                  <a:rPr lang="en-US" altLang="ko-KR" sz="2000" dirty="0" smtClean="0"/>
                  <a:t>, </a:t>
                </a:r>
                <a:r>
                  <a:rPr lang="ko-KR" altLang="en-US" sz="2000" dirty="0" smtClean="0"/>
                  <a:t>나머지가 흰 꽃이 핀다고 한다</a:t>
                </a:r>
                <a:r>
                  <a:rPr lang="en-US" altLang="ko-KR" sz="2000" dirty="0" smtClean="0"/>
                  <a:t>.</a:t>
                </a:r>
              </a:p>
              <a:p>
                <a:r>
                  <a:rPr lang="en-US" altLang="ko-KR" sz="2000" dirty="0" smtClean="0"/>
                  <a:t>5</a:t>
                </a:r>
                <a:r>
                  <a:rPr lang="ko-KR" altLang="en-US" sz="2000" dirty="0" smtClean="0"/>
                  <a:t>쌍의 식물을 교잡하여 </a:t>
                </a:r>
                <a:r>
                  <a:rPr lang="en-US" altLang="ko-KR" sz="2000" dirty="0" smtClean="0"/>
                  <a:t>5</a:t>
                </a:r>
                <a:r>
                  <a:rPr lang="ko-KR" altLang="en-US" sz="2000" dirty="0" smtClean="0"/>
                  <a:t>포기 잡종 </a:t>
                </a:r>
                <a:r>
                  <a:rPr lang="en-US" altLang="ko-KR" sz="2000" dirty="0" smtClean="0"/>
                  <a:t>1</a:t>
                </a:r>
                <a:r>
                  <a:rPr lang="ko-KR" altLang="en-US" sz="2000" dirty="0" smtClean="0"/>
                  <a:t>세대를 얻었다면 다음의 확률은 얼마인가</a:t>
                </a:r>
                <a:r>
                  <a:rPr lang="en-US" altLang="ko-KR" sz="2000" dirty="0" smtClean="0"/>
                  <a:t>?</a:t>
                </a:r>
              </a:p>
              <a:p>
                <a:pPr lvl="1"/>
                <a:r>
                  <a:rPr lang="ko-KR" altLang="en-US" sz="1800" dirty="0" smtClean="0"/>
                  <a:t>붉은 꽃이 피는 식물은 없다</a:t>
                </a:r>
                <a:r>
                  <a:rPr lang="en-US" altLang="ko-KR" sz="1800" dirty="0" smtClean="0"/>
                  <a:t>.</a:t>
                </a:r>
              </a:p>
              <a:p>
                <a:pPr lvl="1"/>
                <a:r>
                  <a:rPr lang="ko-KR" altLang="en-US" sz="1800" dirty="0" smtClean="0"/>
                  <a:t>붉은 꽃이 피는 식물은 </a:t>
                </a:r>
                <a:r>
                  <a:rPr lang="en-US" altLang="ko-KR" sz="1800" dirty="0" smtClean="0"/>
                  <a:t>4</a:t>
                </a:r>
                <a:r>
                  <a:rPr lang="ko-KR" altLang="en-US" sz="1800" dirty="0" smtClean="0"/>
                  <a:t>포기 이상이다</a:t>
                </a:r>
                <a:r>
                  <a:rPr lang="en-US" altLang="ko-KR" sz="18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altLang="ko-KR" sz="2000" dirty="0" smtClean="0"/>
                  <a:t> 1</a:t>
                </a:r>
                <a:r>
                  <a:rPr lang="ko-KR" altLang="en-US" sz="2000" dirty="0" smtClean="0"/>
                  <a:t>세대 중 붉은 꽃이 피는 식물의 수</a:t>
                </a:r>
                <a:endParaRPr lang="en-US" altLang="ko-KR" sz="2000" dirty="0" smtClean="0"/>
              </a:p>
              <a:p>
                <a:r>
                  <a:rPr lang="ko-KR" altLang="en-US" sz="2000" dirty="0" smtClean="0"/>
                  <a:t>붉은 꽃이 피는 식물이 나타나는 것을 </a:t>
                </a:r>
                <a:r>
                  <a:rPr lang="en-US" altLang="ko-KR" sz="2000" dirty="0" smtClean="0"/>
                  <a:t>S</a:t>
                </a:r>
                <a:r>
                  <a:rPr lang="ko-KR" altLang="en-US" sz="2000" dirty="0" smtClean="0"/>
                  <a:t>라고 하면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ko-KR" sz="2000" b="0" dirty="0" smtClean="0"/>
              </a:p>
              <a:p>
                <a:r>
                  <a:rPr lang="ko-KR" altLang="en-US" sz="2000" dirty="0" smtClean="0"/>
                  <a:t>그러므로 </a:t>
                </a:r>
                <a:r>
                  <a:rPr lang="en-US" altLang="ko-KR" sz="2000" dirty="0" smtClean="0"/>
                  <a:t>X</a:t>
                </a:r>
                <a:r>
                  <a:rPr lang="ko-KR" altLang="en-US" sz="2000" dirty="0" smtClean="0"/>
                  <a:t>는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2000" dirty="0" smtClean="0"/>
                  <a:t>고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ko-KR" altLang="en-US" sz="2000" dirty="0" smtClean="0"/>
                  <a:t>인 이항분포를 따른다</a:t>
                </a:r>
                <a:r>
                  <a:rPr lang="en-US" altLang="ko-KR" sz="2000" dirty="0" smtClean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0.75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=0.237</m:t>
                    </m:r>
                  </m:oMath>
                </a14:m>
                <a:endParaRPr lang="en-US" altLang="ko-KR" sz="2000" b="0" dirty="0" smtClean="0"/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≥4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0.25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0.75+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0.25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=0.016</m:t>
                    </m:r>
                  </m:oMath>
                </a14:m>
                <a:endParaRPr lang="en-US" altLang="ko-KR" sz="2000" dirty="0" smtClean="0"/>
              </a:p>
              <a:p>
                <a:pPr lvl="1"/>
                <a:endParaRPr lang="en-US" altLang="ko-KR" sz="1800" dirty="0" smtClean="0"/>
              </a:p>
              <a:p>
                <a:endParaRPr lang="ko-KR" altLang="en-US" sz="20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635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dirty="0" smtClean="0"/>
                  <a:t>에 따른 히스토그램의 변화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제목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2308148"/>
            <a:ext cx="10515600" cy="3386292"/>
          </a:xfrm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2069250"/>
            <a:ext cx="10515600" cy="338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582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이항분포표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smtClean="0"/>
              <a:t>이항분포표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smtClean="0"/>
              <a:t>누적이항확률</a:t>
            </a:r>
            <a:r>
              <a:rPr lang="en-US" altLang="ko-KR" dirty="0" smtClean="0"/>
              <a:t>-</a:t>
            </a:r>
            <a:r>
              <a:rPr lang="ko-KR" altLang="en-US" dirty="0" smtClean="0"/>
              <a:t>부록</a:t>
            </a:r>
            <a:r>
              <a:rPr lang="en-US" altLang="ko-KR" dirty="0" smtClean="0"/>
              <a:t>B</a:t>
            </a:r>
            <a:r>
              <a:rPr lang="ko-KR" altLang="en-US" dirty="0" smtClean="0"/>
              <a:t>의 표 </a:t>
            </a:r>
            <a:r>
              <a:rPr lang="en-US" altLang="ko-KR" dirty="0" smtClean="0"/>
              <a:t>2</a:t>
            </a:r>
          </a:p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8384834"/>
                  </p:ext>
                </p:extLst>
              </p:nvPr>
            </p:nvGraphicFramePr>
            <p:xfrm>
              <a:off x="985795" y="2597893"/>
              <a:ext cx="4780692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0346"/>
                    <a:gridCol w="2390346"/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ko-KR" altLang="en-US" dirty="0" smtClean="0"/>
                            <a:t>값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확률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(2)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8384834"/>
                  </p:ext>
                </p:extLst>
              </p:nvPr>
            </p:nvGraphicFramePr>
            <p:xfrm>
              <a:off x="985795" y="2597893"/>
              <a:ext cx="4780692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90346"/>
                    <a:gridCol w="2390346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4" t="-8197" r="-101018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10" t="-8197" r="-1276" b="-6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4" t="-108197" r="-101018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10" t="-108197" r="-1276" b="-5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4" t="-208197" r="-101018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10" t="-208197" r="-1276" b="-4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4" t="-313333" r="-101018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10" t="-313333" r="-1276" b="-33000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4" t="-406557" r="-101018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10" t="-406557" r="-1276" b="-2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254" t="-506557" r="-101018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2"/>
                          <a:stretch>
                            <a:fillRect l="-100510" t="-506557" r="-1276" b="-124590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합계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511595"/>
                  </p:ext>
                </p:extLst>
              </p:nvPr>
            </p:nvGraphicFramePr>
            <p:xfrm>
              <a:off x="6726881" y="2597893"/>
              <a:ext cx="4072238" cy="25906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1930"/>
                    <a:gridCol w="3220308"/>
                  </a:tblGrid>
                  <a:tr h="37008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c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ctrlP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  <m:sup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p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  <m:d>
                                    <m:dPr>
                                      <m:ctrlP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d>
                            </m:oMath>
                          </a14:m>
                          <a:r>
                            <a:rPr lang="ko-KR" altLang="en-US" dirty="0" smtClean="0"/>
                            <a:t> 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(0)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(2)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1.000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7511595"/>
                  </p:ext>
                </p:extLst>
              </p:nvPr>
            </p:nvGraphicFramePr>
            <p:xfrm>
              <a:off x="6726881" y="2597893"/>
              <a:ext cx="4072238" cy="25906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1930"/>
                    <a:gridCol w="3220308"/>
                  </a:tblGrid>
                  <a:tr h="37008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 smtClean="0"/>
                            <a:t>c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6654" t="-118033" r="-756" b="-601639"/>
                          </a:stretch>
                        </a:blipFill>
                      </a:tcPr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714" t="-218033" r="-380714" b="-5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6654" t="-218033" r="-756" b="-501639"/>
                          </a:stretch>
                        </a:blipFill>
                      </a:tcPr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714" t="-318033" r="-380714" b="-4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6654" t="-318033" r="-756" b="-401639"/>
                          </a:stretch>
                        </a:blipFill>
                      </a:tcPr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714" t="-425000" r="-380714" b="-3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6654" t="-425000" r="-756" b="-308333"/>
                          </a:stretch>
                        </a:blipFill>
                      </a:tcPr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714" t="-516393" r="-380714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714" t="-616393" r="-380714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1.000</a:t>
                          </a:r>
                          <a:endParaRPr lang="ko-KR" altLang="en-US" dirty="0"/>
                        </a:p>
                      </a:txBody>
                      <a:tcPr/>
                    </a:tc>
                  </a:tr>
                  <a:tr h="370088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4634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치유된 환자 수에 대한 이항분포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 smtClean="0"/>
                  <a:t>새로운 치료법은 근육통 환자의 </a:t>
                </a:r>
                <a:r>
                  <a:rPr lang="en-US" altLang="ko-KR" sz="2400" dirty="0" smtClean="0"/>
                  <a:t>50%</a:t>
                </a:r>
                <a:r>
                  <a:rPr lang="ko-KR" altLang="en-US" sz="2400" dirty="0" smtClean="0"/>
                  <a:t>를 성공적으로 치유한다</a:t>
                </a:r>
                <a:r>
                  <a:rPr lang="en-US" altLang="ko-KR" sz="2400" dirty="0" smtClean="0"/>
                  <a:t>. </a:t>
                </a:r>
              </a:p>
              <a:p>
                <a:r>
                  <a:rPr lang="en-US" altLang="ko-KR" sz="2400" dirty="0" smtClean="0"/>
                  <a:t>15</a:t>
                </a:r>
                <a:r>
                  <a:rPr lang="ko-KR" altLang="en-US" sz="2400" dirty="0" smtClean="0"/>
                  <a:t>명의 환자에게 이 치료법을 적용했을 때 다음 확률을 구하라</a:t>
                </a:r>
                <a:r>
                  <a:rPr lang="en-US" altLang="ko-KR" sz="2400" dirty="0" smtClean="0"/>
                  <a:t>.</a:t>
                </a:r>
              </a:p>
              <a:p>
                <a:r>
                  <a:rPr lang="ko-KR" altLang="en-US" sz="2400" dirty="0" smtClean="0"/>
                  <a:t>많아야 </a:t>
                </a:r>
                <a:r>
                  <a:rPr lang="en-US" altLang="ko-KR" sz="2400" dirty="0" smtClean="0"/>
                  <a:t>6</a:t>
                </a:r>
                <a:r>
                  <a:rPr lang="ko-KR" altLang="en-US" sz="2400" dirty="0" smtClean="0"/>
                  <a:t>명이 치유될 확률</a:t>
                </a:r>
                <a:endParaRPr lang="en-US" altLang="ko-KR" sz="2400" dirty="0" smtClean="0"/>
              </a:p>
              <a:p>
                <a:pPr lvl="1"/>
                <a:r>
                  <a:rPr lang="en-US" altLang="ko-KR" sz="2000" dirty="0" smtClean="0"/>
                  <a:t>S : </a:t>
                </a:r>
                <a:r>
                  <a:rPr lang="ko-KR" altLang="en-US" sz="2000" dirty="0" smtClean="0"/>
                  <a:t>환자가 치유되는 것</a:t>
                </a:r>
                <a:r>
                  <a:rPr lang="en-US" altLang="ko-KR" sz="2000" dirty="0"/>
                  <a:t>,</a:t>
                </a:r>
                <a:r>
                  <a:rPr lang="en-US" altLang="ko-KR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2000" dirty="0" smtClean="0"/>
                  <a:t> : </a:t>
                </a:r>
                <a:r>
                  <a:rPr lang="ko-KR" altLang="en-US" sz="2000" dirty="0" smtClean="0"/>
                  <a:t>치유된 환자의 수</a:t>
                </a:r>
                <a:r>
                  <a:rPr lang="en-US" altLang="ko-KR" sz="2000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=15,  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≤6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=0.304, </m:t>
                    </m:r>
                  </m:oMath>
                </a14:m>
                <a:r>
                  <a:rPr lang="en-US" altLang="ko-KR" sz="2000" dirty="0" smtClean="0"/>
                  <a:t> </a:t>
                </a:r>
                <a:r>
                  <a:rPr lang="ko-KR" altLang="en-US" sz="2000" dirty="0" smtClean="0"/>
                  <a:t>이항누적분포표의 </a:t>
                </a:r>
                <a:r>
                  <a:rPr lang="en-US" altLang="ko-KR" sz="2000" dirty="0" smtClean="0"/>
                  <a:t>c=6</a:t>
                </a:r>
                <a:r>
                  <a:rPr lang="ko-KR" altLang="en-US" sz="2000" dirty="0" smtClean="0"/>
                  <a:t>에서 구할 수 있음</a:t>
                </a:r>
                <a:endParaRPr lang="en-US" altLang="ko-KR" sz="2000" dirty="0" smtClean="0"/>
              </a:p>
              <a:p>
                <a:r>
                  <a:rPr lang="ko-KR" altLang="en-US" sz="2400" dirty="0" smtClean="0"/>
                  <a:t>치유된 사람이 </a:t>
                </a:r>
                <a:r>
                  <a:rPr lang="en-US" altLang="ko-KR" sz="2400" dirty="0" smtClean="0"/>
                  <a:t>6</a:t>
                </a:r>
                <a:r>
                  <a:rPr lang="ko-KR" altLang="en-US" sz="2400" dirty="0" smtClean="0"/>
                  <a:t>명보다 적지 않고 </a:t>
                </a:r>
                <a:r>
                  <a:rPr lang="en-US" altLang="ko-KR" sz="2400" dirty="0" smtClean="0"/>
                  <a:t>10</a:t>
                </a:r>
                <a:r>
                  <a:rPr lang="ko-KR" altLang="en-US" sz="2400" dirty="0" smtClean="0"/>
                  <a:t>명보다 많지 않을 확률</a:t>
                </a:r>
                <a:endParaRPr lang="en-US" altLang="ko-KR" sz="24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6≤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≤10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≤10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≤5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=0.941−0.151=0.790</m:t>
                    </m:r>
                  </m:oMath>
                </a14:m>
                <a:endParaRPr lang="en-US" altLang="ko-KR" sz="2000" dirty="0" smtClean="0"/>
              </a:p>
              <a:p>
                <a:r>
                  <a:rPr lang="en-US" altLang="ko-KR" sz="2400" dirty="0" smtClean="0"/>
                  <a:t>12</a:t>
                </a:r>
                <a:r>
                  <a:rPr lang="ko-KR" altLang="en-US" sz="2400" dirty="0" smtClean="0"/>
                  <a:t>명 이상 치유될 확률</a:t>
                </a:r>
                <a:endParaRPr lang="en-US" altLang="ko-KR" sz="2400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≥12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≤11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=1−0.982=0.018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내용 개체 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7404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이항분포의 평균과 표준편차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ko-KR" altLang="en-US" dirty="0" smtClean="0"/>
                  <a:t>평균 </a:t>
                </a:r>
                <a:r>
                  <a:rPr lang="en-US" altLang="ko-KR" dirty="0" smtClean="0"/>
                  <a:t>=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공정한 동전을 </a:t>
                </a:r>
                <a:r>
                  <a:rPr lang="en-US" altLang="ko-KR" dirty="0" smtClean="0"/>
                  <a:t>100</a:t>
                </a:r>
                <a:r>
                  <a:rPr lang="ko-KR" altLang="en-US" smtClean="0"/>
                  <a:t>번 던져서 </a:t>
                </a:r>
                <a:r>
                  <a:rPr lang="ko-KR" altLang="en-US" dirty="0" smtClean="0"/>
                  <a:t>기대되는 앞면의 수 </a:t>
                </a:r>
                <a:r>
                  <a:rPr lang="en-US" altLang="ko-KR" dirty="0" smtClean="0"/>
                  <a:t>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어떤 사건이 일어날 확률이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dirty="0" smtClean="0"/>
                  <a:t>이면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o-KR" altLang="en-US" dirty="0" smtClean="0"/>
                  <a:t>번의 시행에서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ko-KR" altLang="en-US" dirty="0" smtClean="0"/>
                  <a:t>번 일어날 것으로 기대</a:t>
                </a:r>
                <a:endParaRPr lang="en-US" altLang="ko-KR" dirty="0" smtClean="0"/>
              </a:p>
              <a:p>
                <a:r>
                  <a:rPr lang="ko-KR" altLang="en-US" dirty="0" smtClean="0"/>
                  <a:t>분산 </a:t>
                </a:r>
                <a:r>
                  <a:rPr lang="en-US" altLang="ko-KR" dirty="0" smtClean="0"/>
                  <a:t>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𝑛𝑝𝑞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 smtClean="0"/>
              </a:p>
              <a:p>
                <a:r>
                  <a:rPr lang="ko-KR" altLang="en-US" dirty="0" smtClean="0"/>
                  <a:t>표준편차 </a:t>
                </a:r>
                <a:r>
                  <a:rPr lang="en-US" altLang="ko-KR" dirty="0" smtClean="0"/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𝑛𝑝𝑞</m:t>
                        </m:r>
                      </m:e>
                    </m:rad>
                  </m:oMath>
                </a14:m>
                <a:endParaRPr lang="en-US" altLang="ko-KR" dirty="0" smtClean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 smtClean="0"/>
                  <a:t>고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dirty="0" smtClean="0"/>
                  <a:t>=0.5</a:t>
                </a:r>
                <a:r>
                  <a:rPr lang="ko-KR" altLang="en-US" dirty="0" smtClean="0"/>
                  <a:t>인 이항분포의 평균과 표준편차</a:t>
                </a:r>
                <a:endParaRPr lang="en-US" altLang="ko-KR" dirty="0" smtClean="0"/>
              </a:p>
              <a:p>
                <a:pPr lvl="1"/>
                <a:r>
                  <a:rPr lang="ko-KR" altLang="en-US" dirty="0" smtClean="0"/>
                  <a:t>평균 </a:t>
                </a:r>
                <a:r>
                  <a:rPr lang="en-US" altLang="ko-KR" dirty="0" smtClean="0"/>
                  <a:t>=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×0.5=1.5</m:t>
                    </m:r>
                  </m:oMath>
                </a14:m>
                <a:endParaRPr lang="en-US" altLang="ko-KR" b="0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ko-KR" altLang="en-US" dirty="0" smtClean="0"/>
                  <a:t>표준편차 </a:t>
                </a:r>
                <a:r>
                  <a:rPr lang="en-US" altLang="ko-KR" dirty="0" smtClean="0"/>
                  <a:t>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𝑛𝑝𝑞</m:t>
                        </m:r>
                      </m:e>
                    </m:ra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×0.5×0.5</m:t>
                        </m:r>
                      </m:e>
                    </m:ra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=0.866</m:t>
                    </m:r>
                  </m:oMath>
                </a14:m>
                <a:endParaRPr lang="en-US" altLang="ko-KR" dirty="0"/>
              </a:p>
              <a:p>
                <a:pPr lvl="1"/>
                <a:endParaRPr lang="ko-KR" altLang="en-US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361" r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3070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3502"/>
          </a:xfrm>
        </p:spPr>
        <p:txBody>
          <a:bodyPr/>
          <a:lstStyle/>
          <a:p>
            <a:r>
              <a:rPr lang="ko-KR" altLang="en-US" dirty="0" smtClean="0"/>
              <a:t>이항분포의 예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신용카드 신청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2724"/>
                <a:ext cx="10515600" cy="4974239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sz="2000" dirty="0" smtClean="0"/>
                  <a:t>신용카드 신청자가 좋은 신용기록을 갖고 있지 않으면 정밀검사가 필요</a:t>
                </a:r>
                <a:endParaRPr lang="en-US" altLang="ko-KR" sz="2000" dirty="0" smtClean="0"/>
              </a:p>
              <a:p>
                <a:r>
                  <a:rPr lang="ko-KR" altLang="en-US" sz="2000" spc="-150" dirty="0" smtClean="0"/>
                  <a:t>한 금융기관에서 매주 </a:t>
                </a:r>
                <a:r>
                  <a:rPr lang="en-US" altLang="ko-KR" sz="2000" spc="-150" dirty="0" smtClean="0"/>
                  <a:t>20</a:t>
                </a:r>
                <a:r>
                  <a:rPr lang="ko-KR" altLang="en-US" sz="2000" spc="-150" dirty="0" smtClean="0"/>
                  <a:t>명의 신청자를 임의로 추출하여 정밀 검사가 필요한 신청자의 수를 셈</a:t>
                </a:r>
                <a:endParaRPr lang="en-US" altLang="ko-KR" sz="2000" spc="-150" dirty="0" smtClean="0"/>
              </a:p>
              <a:p>
                <a:pPr lvl="1"/>
                <a:r>
                  <a:rPr lang="ko-KR" altLang="en-US" sz="1800" dirty="0" smtClean="0"/>
                  <a:t>약 </a:t>
                </a:r>
                <a:r>
                  <a:rPr lang="en-US" altLang="ko-KR" sz="1800" dirty="0" smtClean="0"/>
                  <a:t>40%</a:t>
                </a:r>
                <a:r>
                  <a:rPr lang="ko-KR" altLang="en-US" sz="1800" dirty="0" smtClean="0"/>
                  <a:t>정도가 정밀검사를 필요로 하는 것으로 확인</a:t>
                </a:r>
                <a:endParaRPr lang="en-US" altLang="ko-KR" sz="18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 smtClean="0"/>
                  <a:t>를 기대비율이라고 했을 때</a:t>
                </a:r>
                <a:r>
                  <a:rPr lang="en-US" altLang="ko-KR" sz="2000" dirty="0" smtClean="0"/>
                  <a:t>, 3</a:t>
                </a:r>
                <a:r>
                  <a:rPr lang="ko-KR" altLang="en-US" sz="2000" dirty="0" smtClean="0"/>
                  <a:t>배의 표준편차를 이용하여 관리 </a:t>
                </a:r>
                <a:r>
                  <a:rPr lang="ko-KR" altLang="en-US" sz="2000" dirty="0" err="1" smtClean="0"/>
                  <a:t>상하한을</a:t>
                </a:r>
                <a:r>
                  <a:rPr lang="ko-KR" altLang="en-US" sz="2000" dirty="0" smtClean="0"/>
                  <a:t> 정의하여 모집단 비율이 안정적으로 유지되는지 확인하고 싶음</a:t>
                </a:r>
                <a:endParaRPr lang="en-US" altLang="ko-KR" sz="2000" dirty="0" smtClean="0"/>
              </a:p>
              <a:p>
                <a:pPr lvl="1"/>
                <a:r>
                  <a:rPr lang="ko-KR" altLang="en-US" sz="1800" dirty="0" smtClean="0"/>
                  <a:t>관리상한 </a:t>
                </a:r>
                <a:r>
                  <a:rPr lang="en-US" altLang="ko-KR" sz="1800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ko-KR" altLang="en-US" sz="18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800" dirty="0" smtClean="0"/>
                  <a:t> </a:t>
                </a:r>
                <a:r>
                  <a:rPr lang="ko-KR" altLang="en-US" sz="1800" dirty="0" smtClean="0"/>
                  <a:t>표본의 크기로 나눈 값</a:t>
                </a:r>
                <a:endParaRPr lang="en-US" altLang="ko-KR" sz="1800" dirty="0" smtClean="0"/>
              </a:p>
              <a:p>
                <a:pPr lvl="1"/>
                <a:r>
                  <a:rPr lang="ko-KR" altLang="en-US" sz="1800" dirty="0" smtClean="0"/>
                  <a:t>관리하한 </a:t>
                </a:r>
                <a:r>
                  <a:rPr lang="en-US" altLang="ko-KR" sz="18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ko-KR" altLang="en-US" sz="18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800" dirty="0"/>
                  <a:t> </a:t>
                </a:r>
                <a:r>
                  <a:rPr lang="ko-KR" altLang="en-US" sz="1800" dirty="0"/>
                  <a:t>표본의 크기로 나눈 </a:t>
                </a:r>
                <a:r>
                  <a:rPr lang="ko-KR" altLang="en-US" sz="1800" dirty="0" smtClean="0"/>
                  <a:t>값</a:t>
                </a:r>
                <a:endParaRPr lang="en-US" altLang="ko-KR" sz="1800" dirty="0" smtClean="0"/>
              </a:p>
              <a:p>
                <a:r>
                  <a:rPr lang="ko-KR" altLang="en-US" sz="2200" dirty="0" smtClean="0"/>
                  <a:t>만약 데이터들이 </a:t>
                </a:r>
                <a:r>
                  <a:rPr lang="ko-KR" altLang="en-US" sz="2200" dirty="0" err="1" smtClean="0"/>
                  <a:t>관리상하한을</a:t>
                </a:r>
                <a:r>
                  <a:rPr lang="ko-KR" altLang="en-US" sz="2200" dirty="0"/>
                  <a:t> </a:t>
                </a:r>
                <a:r>
                  <a:rPr lang="ko-KR" altLang="en-US" sz="2200" dirty="0" smtClean="0"/>
                  <a:t>자주 벗어난 다면 모집단 비율이 변하고 있다고 간주할 수 있음</a:t>
                </a:r>
                <a:endParaRPr lang="en-US" altLang="ko-KR" sz="2200" dirty="0" smtClean="0"/>
              </a:p>
              <a:p>
                <a:r>
                  <a:rPr lang="ko-KR" altLang="en-US" sz="2000" dirty="0" smtClean="0"/>
                  <a:t>따라서 위의 예제에서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ko-KR" altLang="en-US" sz="2000" dirty="0" smtClean="0"/>
                  <a:t>이므로 관리한계는</a:t>
                </a:r>
                <a:endParaRPr lang="en-US" altLang="ko-KR" sz="2000" dirty="0" smtClean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−3</m:t>
                    </m:r>
                    <m:rad>
                      <m:radPr>
                        <m:degHide m:val="on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=0.4−3</m:t>
                    </m:r>
                    <m:rad>
                      <m:radPr>
                        <m:degHide m:val="on"/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0.4</m:t>
                            </m:r>
                            <m:d>
                              <m:dPr>
                                <m:ctrlP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</a:rPr>
                                  <m:t>1−0.4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ra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=0.4−3</m:t>
                    </m:r>
                    <m:d>
                      <m:d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0.110</m:t>
                        </m:r>
                      </m:e>
                    </m:d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=0.07</m:t>
                    </m:r>
                  </m:oMath>
                </a14:m>
                <a:endParaRPr lang="en-US" altLang="ko-KR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=0.4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0.4</m:t>
                            </m:r>
                            <m:d>
                              <m:dPr>
                                <m:ctrlP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1−0.4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20</m:t>
                            </m:r>
                          </m:den>
                        </m:f>
                      </m:e>
                    </m:rad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=0.4−3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0.110</m:t>
                        </m:r>
                      </m:e>
                    </m:d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73</m:t>
                    </m:r>
                  </m:oMath>
                </a14:m>
                <a:endParaRPr lang="en-US" altLang="ko-KR" sz="1800" dirty="0"/>
              </a:p>
              <a:p>
                <a:pPr lvl="1"/>
                <a:endParaRPr lang="en-US" altLang="ko-KR" sz="18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2724"/>
                <a:ext cx="10515600" cy="4974239"/>
              </a:xfrm>
              <a:blipFill rotWithShape="0">
                <a:blip r:embed="rId2"/>
                <a:stretch>
                  <a:fillRect l="-696" t="-12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630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0438"/>
          </a:xfrm>
        </p:spPr>
        <p:txBody>
          <a:bodyPr/>
          <a:lstStyle/>
          <a:p>
            <a:r>
              <a:rPr lang="ko-KR" altLang="en-US" dirty="0"/>
              <a:t>이항분포의 예 </a:t>
            </a:r>
            <a:r>
              <a:rPr lang="en-US" altLang="ko-KR" dirty="0"/>
              <a:t>: </a:t>
            </a:r>
            <a:r>
              <a:rPr lang="ko-KR" altLang="en-US" dirty="0"/>
              <a:t>신용카드 </a:t>
            </a:r>
            <a:r>
              <a:rPr lang="ko-KR" altLang="en-US" dirty="0" smtClean="0"/>
              <a:t>신청 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4851399"/>
          </a:xfrm>
        </p:spPr>
        <p:txBody>
          <a:bodyPr>
            <a:normAutofit/>
          </a:bodyPr>
          <a:lstStyle/>
          <a:p>
            <a:r>
              <a:rPr lang="ko-KR" altLang="en-US" sz="2400" dirty="0" smtClean="0"/>
              <a:t>표본 </a:t>
            </a:r>
            <a:r>
              <a:rPr lang="en-US" altLang="ko-KR" sz="2400" dirty="0" smtClean="0"/>
              <a:t>20</a:t>
            </a:r>
            <a:r>
              <a:rPr lang="ko-KR" altLang="en-US" sz="2400" dirty="0" smtClean="0"/>
              <a:t>명 중에서 정밀검사가 필요한 신청자의 수를 </a:t>
            </a:r>
            <a:r>
              <a:rPr lang="en-US" altLang="ko-KR" sz="2400" dirty="0" smtClean="0"/>
              <a:t>19</a:t>
            </a:r>
            <a:r>
              <a:rPr lang="ko-KR" altLang="en-US" sz="2400" dirty="0" smtClean="0"/>
              <a:t>주 동안 기록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11 7 8 4 9 10 4 8 8 7 10 6 9 10 7 7 6 9 10</a:t>
            </a:r>
          </a:p>
          <a:p>
            <a:r>
              <a:rPr lang="en-US" altLang="ko-KR" sz="2400" dirty="0" smtClean="0"/>
              <a:t>20</a:t>
            </a:r>
            <a:r>
              <a:rPr lang="ko-KR" altLang="en-US" sz="2400" dirty="0" smtClean="0"/>
              <a:t>으로 나누어 표본비율로 바꾼 후 차트 생성</a:t>
            </a:r>
            <a:endParaRPr lang="en-US" altLang="ko-KR" sz="2400" dirty="0" smtClean="0"/>
          </a:p>
          <a:p>
            <a:r>
              <a:rPr lang="ko-KR" altLang="en-US" sz="2400" dirty="0" smtClean="0"/>
              <a:t>모든 점들이 관리 하에 있으므로 신청자들의 구성이 특이한 경우를 포함하지 않는 것으로 확인</a:t>
            </a:r>
            <a:endParaRPr lang="en-US" altLang="ko-KR" sz="2400" dirty="0" smtClean="0"/>
          </a:p>
          <a:p>
            <a:pPr marL="0" indent="0">
              <a:buNone/>
            </a:pPr>
            <a:endParaRPr lang="ko-KR" altLang="en-US" sz="24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68561" y="3029667"/>
            <a:ext cx="4551405" cy="347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991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2368</Words>
  <Application>Microsoft Office PowerPoint</Application>
  <PresentationFormat>와이드스크린</PresentationFormat>
  <Paragraphs>597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4" baseType="lpstr">
      <vt:lpstr>맑은 고딕</vt:lpstr>
      <vt:lpstr>Arial</vt:lpstr>
      <vt:lpstr>Cambria Math</vt:lpstr>
      <vt:lpstr>Office 테마</vt:lpstr>
      <vt:lpstr>확률 분포</vt:lpstr>
      <vt:lpstr>서론</vt:lpstr>
      <vt:lpstr>확률변수</vt:lpstr>
      <vt:lpstr>확률변수로서 앞면의 수</vt:lpstr>
      <vt:lpstr>확률변수의 성질</vt:lpstr>
      <vt:lpstr>예제 : 확률변수</vt:lpstr>
      <vt:lpstr>확률 변수의 종류</vt:lpstr>
      <vt:lpstr>이산확률변수의 확률분포</vt:lpstr>
      <vt:lpstr>이산확률 변수의 확률분포(2)</vt:lpstr>
      <vt:lpstr>확률 히스토그램(probability histogram)</vt:lpstr>
      <vt:lpstr>선호하는 뉴스 출처에 대한 확률 분포</vt:lpstr>
      <vt:lpstr>선호하는 뉴스 출처에 대한 확률 분포(2)</vt:lpstr>
      <vt:lpstr>선호하는 뉴스 출처에 대한 확률 분포(3)</vt:lpstr>
      <vt:lpstr>통계적 추론</vt:lpstr>
      <vt:lpstr>경험적 연구를 바탕으로 한 확률분포</vt:lpstr>
      <vt:lpstr>상대도수분포와 확률분포</vt:lpstr>
      <vt:lpstr>확률분포의 기댓값(평균)과 표준편차</vt:lpstr>
      <vt:lpstr>기댓값</vt:lpstr>
      <vt:lpstr>예제 : 앞면의 수에 대한 모평균 계산</vt:lpstr>
      <vt:lpstr>예제 : 기댓값-보험료 정하기 </vt:lpstr>
      <vt:lpstr>분산과 표준편차</vt:lpstr>
      <vt:lpstr>모분산과 표준편차의 계산</vt:lpstr>
      <vt:lpstr>분산을 계산하는 다른 방법</vt:lpstr>
      <vt:lpstr>성공과 실패-베르누이 실행</vt:lpstr>
      <vt:lpstr>A or B</vt:lpstr>
      <vt:lpstr>베르누이 시행</vt:lpstr>
      <vt:lpstr>예: 두 가지 범주를 가지는 모집단</vt:lpstr>
      <vt:lpstr>모집단이 방대할 경우</vt:lpstr>
      <vt:lpstr>베르누이 실행과 근사</vt:lpstr>
      <vt:lpstr>확률모형과 모수</vt:lpstr>
      <vt:lpstr>이항분포</vt:lpstr>
      <vt:lpstr>이항분포의 예</vt:lpstr>
      <vt:lpstr>이항분포의 식</vt:lpstr>
      <vt:lpstr>이항분포와 유전학</vt:lpstr>
      <vt:lpstr>p에 따른 히스토그램의 변화</vt:lpstr>
      <vt:lpstr>이항분포표</vt:lpstr>
      <vt:lpstr>치유된 환자 수에 대한 이항분포</vt:lpstr>
      <vt:lpstr>이항분포의 평균과 표준편차</vt:lpstr>
      <vt:lpstr>이항분포의 예 : 신용카드 신청</vt:lpstr>
      <vt:lpstr>이항분포의 예 : 신용카드 신청 (2)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확률 분포</dc:title>
  <dc:creator>sw</dc:creator>
  <cp:lastModifiedBy>kyungsub@gmail.com</cp:lastModifiedBy>
  <cp:revision>128</cp:revision>
  <dcterms:created xsi:type="dcterms:W3CDTF">2016-03-05T04:18:19Z</dcterms:created>
  <dcterms:modified xsi:type="dcterms:W3CDTF">2017-04-11T08:03:02Z</dcterms:modified>
</cp:coreProperties>
</file>