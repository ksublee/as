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상대도수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찬성</c:v>
                </c:pt>
                <c:pt idx="1">
                  <c:v>중립</c:v>
                </c:pt>
                <c:pt idx="2">
                  <c:v>반대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0.54300000000000004</c:v>
                </c:pt>
                <c:pt idx="1">
                  <c:v>0.27500000000000002</c:v>
                </c:pt>
                <c:pt idx="2">
                  <c:v>0.182</c:v>
                </c:pt>
              </c:numCache>
            </c:numRef>
          </c:val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343054146991946"/>
          <c:y val="5.7906399606376981E-2"/>
          <c:w val="0.82947096049705171"/>
          <c:h val="0.74737654716840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찢어짐</c:v>
                </c:pt>
                <c:pt idx="1">
                  <c:v>구멍</c:v>
                </c:pt>
                <c:pt idx="2">
                  <c:v>접힘</c:v>
                </c:pt>
                <c:pt idx="3">
                  <c:v>기타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15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999132176"/>
        <c:axId val="-1000366080"/>
      </c:barChart>
      <c:catAx>
        <c:axId val="-999132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000366080"/>
        <c:crosses val="autoZero"/>
        <c:auto val="1"/>
        <c:lblAlgn val="ctr"/>
        <c:lblOffset val="100"/>
        <c:noMultiLvlLbl val="0"/>
      </c:catAx>
      <c:valAx>
        <c:axId val="-1000366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/>
                  <a:t>도수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999132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403305413987832E-2"/>
          <c:y val="6.1656251613204878E-2"/>
          <c:w val="0.90136107938344168"/>
          <c:h val="0.734461043831395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도수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TV</c:v>
                </c:pt>
                <c:pt idx="1">
                  <c:v>신문</c:v>
                </c:pt>
                <c:pt idx="2">
                  <c:v>전화</c:v>
                </c:pt>
                <c:pt idx="3">
                  <c:v>운전</c:v>
                </c:pt>
                <c:pt idx="4">
                  <c:v>장보기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21</c:v>
                </c:pt>
                <c:pt idx="2">
                  <c:v>14</c:v>
                </c:pt>
                <c:pt idx="3">
                  <c:v>7</c:v>
                </c:pt>
                <c:pt idx="4">
                  <c:v>3</c:v>
                </c:pt>
                <c:pt idx="5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-1000369888"/>
        <c:axId val="-1000376416"/>
      </c:barChart>
      <c:catAx>
        <c:axId val="-1000369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000376416"/>
        <c:crosses val="autoZero"/>
        <c:auto val="1"/>
        <c:lblAlgn val="ctr"/>
        <c:lblOffset val="100"/>
        <c:noMultiLvlLbl val="0"/>
      </c:catAx>
      <c:valAx>
        <c:axId val="-1000376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000369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alpha val="70000"/>
                </a:schemeClr>
              </a:solidFill>
              <a:ln>
                <a:solidFill>
                  <a:schemeClr val="tx1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>
                  <a:alpha val="70000"/>
                </a:schemeClr>
              </a:solidFill>
              <a:ln>
                <a:solidFill>
                  <a:schemeClr val="tx1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>
                  <a:alpha val="70000"/>
                </a:schemeClr>
              </a:solidFill>
              <a:ln>
                <a:solidFill>
                  <a:schemeClr val="tx1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1">
                  <a:alpha val="70000"/>
                </a:schemeClr>
              </a:solidFill>
              <a:ln>
                <a:solidFill>
                  <a:schemeClr val="tx1"/>
                </a:solidFill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>
                  <a:alpha val="70000"/>
                </a:schemeClr>
              </a:solidFill>
              <a:ln>
                <a:solidFill>
                  <a:schemeClr val="tx1"/>
                </a:solidFill>
              </a:ln>
              <a:effectLst/>
            </c:spPr>
          </c:dPt>
          <c:cat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0.23333333333333334</c:v>
                </c:pt>
                <c:pt idx="1">
                  <c:v>0.3</c:v>
                </c:pt>
                <c:pt idx="2">
                  <c:v>0.2</c:v>
                </c:pt>
                <c:pt idx="3">
                  <c:v>0.16666666666666666</c:v>
                </c:pt>
                <c:pt idx="4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25"/>
        <c:axId val="-1000375872"/>
        <c:axId val="-1000368800"/>
      </c:barChart>
      <c:catAx>
        <c:axId val="-1000375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000368800"/>
        <c:crosses val="autoZero"/>
        <c:auto val="1"/>
        <c:lblAlgn val="ctr"/>
        <c:lblOffset val="100"/>
        <c:noMultiLvlLbl val="0"/>
      </c:catAx>
      <c:valAx>
        <c:axId val="-1000368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000375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val>
            <c:numRef>
              <c:f>Sheet1!$B$2:$B$6</c:f>
              <c:numCache>
                <c:formatCode>General</c:formatCode>
                <c:ptCount val="5"/>
                <c:pt idx="0">
                  <c:v>0.23333333333333334</c:v>
                </c:pt>
                <c:pt idx="1">
                  <c:v>0.3</c:v>
                </c:pt>
                <c:pt idx="2">
                  <c:v>0.2</c:v>
                </c:pt>
                <c:pt idx="3">
                  <c:v>0.16666666666666666</c:v>
                </c:pt>
                <c:pt idx="4">
                  <c:v>0.1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num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</c:numCache>
                  </c:num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24"/>
        <c:axId val="-1000366624"/>
        <c:axId val="-1000365536"/>
      </c:barChart>
      <c:catAx>
        <c:axId val="-1000366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000365536"/>
        <c:crosses val="autoZero"/>
        <c:auto val="1"/>
        <c:lblAlgn val="ctr"/>
        <c:lblOffset val="100"/>
        <c:noMultiLvlLbl val="0"/>
      </c:catAx>
      <c:valAx>
        <c:axId val="-1000365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000366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087352362204716E-2"/>
          <c:y val="0.64565044079612144"/>
          <c:w val="0.91326808562992123"/>
          <c:h val="0.1947554068209839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값</c:v>
                </c:pt>
              </c:strCache>
            </c:strRef>
          </c:tx>
          <c:spPr>
            <a:ln w="25400" cap="flat" cmpd="sng" algn="ctr">
              <a:noFill/>
              <a:prstDash val="sysDot"/>
              <a:round/>
            </a:ln>
            <a:effectLst/>
          </c:spPr>
          <c:marker>
            <c:symbol val="circle"/>
            <c:size val="8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19050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15</c:v>
                </c:pt>
                <c:pt idx="1">
                  <c:v>3</c:v>
                </c:pt>
                <c:pt idx="2">
                  <c:v>46</c:v>
                </c:pt>
                <c:pt idx="3">
                  <c:v>623</c:v>
                </c:pt>
                <c:pt idx="4">
                  <c:v>126</c:v>
                </c:pt>
                <c:pt idx="5">
                  <c:v>64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000362272"/>
        <c:axId val="-998534592"/>
      </c:scatterChart>
      <c:valAx>
        <c:axId val="-1000362272"/>
        <c:scaling>
          <c:orientation val="minMax"/>
        </c:scaling>
        <c:delete val="0"/>
        <c:axPos val="b"/>
        <c:majorGridlines>
          <c:spPr>
            <a:ln w="0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rnd">
            <a:solidFill>
              <a:schemeClr val="dk1">
                <a:lumMod val="20000"/>
                <a:lumOff val="8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998534592"/>
        <c:crosses val="autoZero"/>
        <c:crossBetween val="midCat"/>
      </c:valAx>
      <c:valAx>
        <c:axId val="-998534592"/>
        <c:scaling>
          <c:orientation val="minMax"/>
          <c:max val="0.1"/>
        </c:scaling>
        <c:delete val="1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1000362272"/>
        <c:crosses val="autoZero"/>
        <c:crossBetween val="midCat"/>
        <c:majorUnit val="0.1"/>
        <c:minorUnit val="0.1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>
                <a:alpha val="0"/>
              </a:schemeClr>
            </a:gs>
          </a:gsLst>
          <a:lin ang="5400000" scaled="0"/>
        </a:gradFill>
        <a:ln>
          <a:solidFill>
            <a:schemeClr val="accent1">
              <a:shade val="95000"/>
            </a:schemeClr>
          </a:solidFill>
        </a:ln>
        <a:effectLst/>
      </c:spPr>
    </c:plotArea>
    <c:plotVisOnly val="1"/>
    <c:dispBlanksAs val="gap"/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810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568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198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85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49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10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93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649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881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265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95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71DC3-9277-4553-940C-9ADCC9EB178F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D45AB-E114-422A-9E5C-0B5A5A84FA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0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데이터의 정리와 설명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02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데이터의 주요 형태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크게 두 가지의 기본 유형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질적</a:t>
            </a:r>
            <a:r>
              <a:rPr lang="en-US" altLang="ko-KR" dirty="0" smtClean="0"/>
              <a:t>(qualitative) </a:t>
            </a:r>
            <a:r>
              <a:rPr lang="ko-KR" altLang="en-US" dirty="0" smtClean="0"/>
              <a:t>또는 범주</a:t>
            </a:r>
            <a:r>
              <a:rPr lang="en-US" altLang="ko-KR" dirty="0" smtClean="0"/>
              <a:t>(categorical)</a:t>
            </a:r>
            <a:r>
              <a:rPr lang="ko-KR" altLang="en-US" dirty="0" smtClean="0"/>
              <a:t>형 데이터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수치</a:t>
            </a:r>
            <a:r>
              <a:rPr lang="en-US" altLang="ko-KR" dirty="0" smtClean="0"/>
              <a:t>(numerical) </a:t>
            </a:r>
            <a:r>
              <a:rPr lang="ko-KR" altLang="en-US" dirty="0" smtClean="0"/>
              <a:t>또는 측정</a:t>
            </a:r>
            <a:r>
              <a:rPr lang="en-US" altLang="ko-KR" dirty="0" smtClean="0"/>
              <a:t>(measurement)</a:t>
            </a:r>
            <a:r>
              <a:rPr lang="ko-KR" altLang="en-US" dirty="0" smtClean="0"/>
              <a:t>형 데이터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범주형 데이터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연구 중인 특성이 범주들로 분류만 되고 수치적으로 측정되지 않을 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머리 색깔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고용 상태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혈액형</a:t>
            </a:r>
            <a:endParaRPr lang="en-US" altLang="ko-KR" dirty="0" smtClean="0"/>
          </a:p>
          <a:p>
            <a:r>
              <a:rPr lang="ko-KR" altLang="en-US" dirty="0" err="1" smtClean="0"/>
              <a:t>측정형</a:t>
            </a:r>
            <a:r>
              <a:rPr lang="ko-KR" altLang="en-US" dirty="0" smtClean="0"/>
              <a:t> 데이터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특성이 수치적 단위로 측정될 경우</a:t>
            </a:r>
            <a:endParaRPr lang="en-US" altLang="ko-KR" dirty="0"/>
          </a:p>
          <a:p>
            <a:pPr lvl="2"/>
            <a:r>
              <a:rPr lang="ko-KR" altLang="en-US" dirty="0" err="1" smtClean="0"/>
              <a:t>수치값</a:t>
            </a:r>
            <a:r>
              <a:rPr lang="ko-KR" altLang="en-US" dirty="0" smtClean="0"/>
              <a:t> 변수</a:t>
            </a:r>
            <a:r>
              <a:rPr lang="en-US" altLang="ko-KR" dirty="0" smtClean="0"/>
              <a:t>(numerical-valued variable) </a:t>
            </a:r>
            <a:r>
              <a:rPr lang="ko-KR" altLang="en-US" dirty="0" smtClean="0"/>
              <a:t>또는 변수</a:t>
            </a:r>
            <a:r>
              <a:rPr lang="en-US" altLang="ko-KR" dirty="0" smtClean="0"/>
              <a:t>(variable)</a:t>
            </a:r>
            <a:r>
              <a:rPr lang="ko-KR" altLang="en-US" dirty="0" smtClean="0"/>
              <a:t>이라는 단어 사용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성인 남성의 신발 사이즈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어느 도에서 발생한 교통사고 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376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변수의 종류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이산 변수</a:t>
            </a:r>
            <a:r>
              <a:rPr lang="en-US" altLang="ko-KR" dirty="0" smtClean="0"/>
              <a:t>(discrete variable)</a:t>
            </a:r>
          </a:p>
          <a:p>
            <a:pPr lvl="1"/>
            <a:r>
              <a:rPr lang="ko-KR" altLang="en-US" dirty="0" smtClean="0"/>
              <a:t>교통 사고 사망자 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동물의 한 배에서 태어난 새끼의 수</a:t>
            </a:r>
            <a:endParaRPr lang="en-US" altLang="ko-KR" dirty="0" smtClean="0"/>
          </a:p>
          <a:p>
            <a:r>
              <a:rPr lang="ko-KR" altLang="en-US" dirty="0" smtClean="0"/>
              <a:t>연속 변수</a:t>
            </a:r>
            <a:r>
              <a:rPr lang="en-US" altLang="ko-KR" dirty="0" smtClean="0"/>
              <a:t>(continuous variable)</a:t>
            </a:r>
          </a:p>
          <a:p>
            <a:pPr lvl="1"/>
            <a:r>
              <a:rPr lang="ko-KR" altLang="en-US" dirty="0" smtClean="0"/>
              <a:t>키</a:t>
            </a:r>
            <a:r>
              <a:rPr lang="en-US" altLang="ko-KR" dirty="0" smtClean="0"/>
              <a:t>, </a:t>
            </a:r>
            <a:r>
              <a:rPr lang="ko-KR" altLang="en-US" dirty="0" smtClean="0"/>
              <a:t>체중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생존 기간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단순화 혹은 측정 장치의 제한 때문에 실제 데이터 집합의 </a:t>
            </a:r>
            <a:r>
              <a:rPr lang="ko-KR" altLang="en-US" dirty="0" err="1" smtClean="0"/>
              <a:t>기록값이</a:t>
            </a:r>
            <a:r>
              <a:rPr lang="ko-KR" altLang="en-US" dirty="0" smtClean="0"/>
              <a:t> 이산적이라 하더라도 실제 값은 연속이기 때문에 연속 변수라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세는 값의 범위가 넓게 퍼져 있으면 종종 연속 변수로 간주될 수 있음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백혈구의 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곤충의 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하루에 거래되는 주식의 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162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측정형</a:t>
            </a:r>
            <a:r>
              <a:rPr lang="ko-KR" altLang="en-US" dirty="0" smtClean="0"/>
              <a:t> 데이터의 집합 설명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전체 형태의 요약과 설명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표와 그래프에 의한 제시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대칭 또는 비대칭 정도를 포함한 그래프 데이터의 주요 형태 파악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데이터의 밀집 지역으로부터 멀리 떨어진 </a:t>
            </a:r>
            <a:r>
              <a:rPr lang="ko-KR" altLang="en-US" dirty="0" err="1" smtClean="0"/>
              <a:t>관측값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 이상치를 발견하기 위해 그래프에 표시된 데이터 검사</a:t>
            </a:r>
            <a:endParaRPr lang="en-US" altLang="ko-KR" dirty="0" smtClean="0"/>
          </a:p>
          <a:p>
            <a:r>
              <a:rPr lang="ko-KR" altLang="en-US" dirty="0" smtClean="0"/>
              <a:t>수치적 측도의 계산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데이터의 중심을 나타내는 전형적인 값 또는 대표 값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데이터에 존재하는 흩어짐 또는 변동의 크기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19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범주형 데이터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단위들의 표본에 대해 질적 특성이 관측될 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각 </a:t>
                </a:r>
                <a:r>
                  <a:rPr lang="ko-KR" altLang="en-US" dirty="0" err="1" smtClean="0"/>
                  <a:t>관측값은</a:t>
                </a:r>
                <a:r>
                  <a:rPr lang="ko-KR" altLang="en-US" dirty="0" smtClean="0"/>
                  <a:t> 여러 범주 중 하나로 기록됨</a:t>
                </a:r>
                <a:endParaRPr lang="en-US" altLang="ko-KR" dirty="0" smtClean="0"/>
              </a:p>
              <a:p>
                <a:r>
                  <a:rPr lang="ko-KR" altLang="en-US" dirty="0" smtClean="0"/>
                  <a:t>이와 같은 데이터는 각 범주의 도수</a:t>
                </a:r>
                <a:r>
                  <a:rPr lang="en-US" altLang="ko-KR" dirty="0" smtClean="0"/>
                  <a:t>(frequency)</a:t>
                </a:r>
                <a:r>
                  <a:rPr lang="ko-KR" altLang="en-US" dirty="0" smtClean="0"/>
                  <a:t>를 나타내는 도수분포의 형태로 정리됨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각 범주의 비율</a:t>
                </a:r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상대도수</a:t>
                </a:r>
                <a:r>
                  <a:rPr lang="en-US" altLang="ko-KR" dirty="0" smtClean="0"/>
                  <a:t>-relative frequency)</a:t>
                </a:r>
                <a:r>
                  <a:rPr lang="ko-KR" altLang="en-US" dirty="0" smtClean="0"/>
                  <a:t>를 계산하면 데이터에 대한 이해가 향상됨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endParaRPr lang="en-US" altLang="ko-KR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0" i="1" dirty="0">
                          <a:latin typeface="Cambria Math" panose="02040503050406030204" pitchFamily="18" charset="0"/>
                        </a:rPr>
                        <m:t>범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의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상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대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도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범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주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도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수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관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도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수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1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461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여론 조사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기숙사 규정의 변경사항에 대한 찬반 조사</a:t>
            </a:r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369999"/>
              </p:ext>
            </p:extLst>
          </p:nvPr>
        </p:nvGraphicFramePr>
        <p:xfrm>
          <a:off x="1141877" y="3076734"/>
          <a:ext cx="4384983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661"/>
                <a:gridCol w="940773"/>
                <a:gridCol w="1982549"/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응답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도수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상대도수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찬성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152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125/280=0.543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중립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77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77/280=0.275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반대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51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51/280=0.182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1.000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차트 11"/>
          <p:cNvGraphicFramePr/>
          <p:nvPr>
            <p:extLst>
              <p:ext uri="{D42A27DB-BD31-4B8C-83A1-F6EECF244321}">
                <p14:modId xmlns:p14="http://schemas.microsoft.com/office/powerpoint/2010/main" val="3846722052"/>
              </p:ext>
            </p:extLst>
          </p:nvPr>
        </p:nvGraphicFramePr>
        <p:xfrm>
          <a:off x="6902506" y="2744960"/>
          <a:ext cx="3649508" cy="3100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9246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파레토</a:t>
            </a:r>
            <a:r>
              <a:rPr lang="ko-KR" altLang="en-US" dirty="0" smtClean="0"/>
              <a:t> 다이어그램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화장지의 하루 생산량에서 발견된 결함의 유형에 대한 </a:t>
            </a:r>
            <a:r>
              <a:rPr lang="ko-KR" altLang="en-US" dirty="0" err="1" smtClean="0"/>
              <a:t>파레토</a:t>
            </a:r>
            <a:r>
              <a:rPr lang="ko-KR" altLang="en-US" dirty="0" smtClean="0"/>
              <a:t> 다이어그램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첫 번째 원인에 대한 누적 도수는 </a:t>
            </a:r>
            <a:r>
              <a:rPr lang="en-US" altLang="ko-KR" dirty="0" smtClean="0"/>
              <a:t>22, </a:t>
            </a:r>
          </a:p>
          <a:p>
            <a:pPr lvl="1"/>
            <a:r>
              <a:rPr lang="ko-KR" altLang="en-US" dirty="0" smtClean="0"/>
              <a:t>첫 번째</a:t>
            </a:r>
            <a:r>
              <a:rPr lang="en-US" altLang="ko-KR" dirty="0" smtClean="0"/>
              <a:t>,</a:t>
            </a:r>
            <a:r>
              <a:rPr lang="ko-KR" altLang="en-US" dirty="0" smtClean="0"/>
              <a:t> 두 번째 원인을 합하면 </a:t>
            </a:r>
            <a:r>
              <a:rPr lang="en-US" altLang="ko-KR" dirty="0" smtClean="0"/>
              <a:t>22+15=37, </a:t>
            </a:r>
            <a:r>
              <a:rPr lang="ko-KR" altLang="en-US" dirty="0" smtClean="0"/>
              <a:t>전체의 </a:t>
            </a:r>
            <a:r>
              <a:rPr lang="en-US" altLang="ko-KR" dirty="0" smtClean="0"/>
              <a:t>74%</a:t>
            </a:r>
          </a:p>
          <a:p>
            <a:pPr lvl="2"/>
            <a:r>
              <a:rPr lang="ko-KR" altLang="en-US" dirty="0" smtClean="0"/>
              <a:t>대략적으로 </a:t>
            </a:r>
            <a:r>
              <a:rPr lang="ko-KR" altLang="en-US" dirty="0" err="1" smtClean="0"/>
              <a:t>파레토</a:t>
            </a:r>
            <a:r>
              <a:rPr lang="ko-KR" altLang="en-US" dirty="0" smtClean="0"/>
              <a:t> 법칙을 보여줌</a:t>
            </a:r>
            <a:endParaRPr lang="en-US" altLang="ko-KR" dirty="0" smtClean="0"/>
          </a:p>
        </p:txBody>
      </p:sp>
      <p:graphicFrame>
        <p:nvGraphicFramePr>
          <p:cNvPr id="6" name="차트 5"/>
          <p:cNvGraphicFramePr/>
          <p:nvPr>
            <p:extLst>
              <p:ext uri="{D42A27DB-BD31-4B8C-83A1-F6EECF244321}">
                <p14:modId xmlns:p14="http://schemas.microsoft.com/office/powerpoint/2010/main" val="96268997"/>
              </p:ext>
            </p:extLst>
          </p:nvPr>
        </p:nvGraphicFramePr>
        <p:xfrm>
          <a:off x="2290119" y="3871784"/>
          <a:ext cx="6087762" cy="2784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542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손톱 물어뜯는 상황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주 동안 손톱 물어뜯는 중에 행한 도수 수집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/>
              <a:t>이 사람의 다음 단계는 </a:t>
            </a:r>
            <a:r>
              <a:rPr lang="en-US" altLang="ko-KR" dirty="0"/>
              <a:t>TV </a:t>
            </a:r>
            <a:r>
              <a:rPr lang="ko-KR" altLang="en-US" dirty="0"/>
              <a:t>시청 시간 동안 손톱 물어뜯기 대신할 것을 찾아보는 </a:t>
            </a:r>
            <a:r>
              <a:rPr lang="ko-KR" altLang="en-US" dirty="0" smtClean="0"/>
              <a:t>것</a:t>
            </a:r>
            <a:endParaRPr lang="en-US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452891"/>
              </p:ext>
            </p:extLst>
          </p:nvPr>
        </p:nvGraphicFramePr>
        <p:xfrm>
          <a:off x="1117599" y="2375472"/>
          <a:ext cx="332259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298"/>
                <a:gridCol w="166129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도수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행동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58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TV </a:t>
                      </a:r>
                      <a:r>
                        <a:rPr lang="ko-KR" altLang="en-US" dirty="0" smtClean="0"/>
                        <a:t>시청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신문 읽기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전화 통화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운전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장보기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기타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3163083928"/>
              </p:ext>
            </p:extLst>
          </p:nvPr>
        </p:nvGraphicFramePr>
        <p:xfrm>
          <a:off x="4931374" y="2375472"/>
          <a:ext cx="5258831" cy="2595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2006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이산형</a:t>
            </a:r>
            <a:r>
              <a:rPr lang="ko-KR" altLang="en-US" dirty="0" smtClean="0"/>
              <a:t> 데이터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범주형 데이터와 같이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이산 데이터 집합의 정보는 상대도수의 계산이 포함된 도수분포로 요약할 수 있음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질적 범주 대신에 데이터 집합에 나타나는 서로 다른 수치 측정값을 나열하고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도수를 센다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393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도수분포 만들기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spc="-150" dirty="0" smtClean="0"/>
              <a:t>소매상은 </a:t>
            </a:r>
            <a:r>
              <a:rPr lang="en-US" altLang="ko-KR" sz="2000" spc="-150" dirty="0" smtClean="0"/>
              <a:t>12</a:t>
            </a:r>
            <a:r>
              <a:rPr lang="ko-KR" altLang="en-US" sz="2000" spc="-150" dirty="0" smtClean="0"/>
              <a:t>월 </a:t>
            </a:r>
            <a:r>
              <a:rPr lang="en-US" altLang="ko-KR" sz="2000" spc="-150" dirty="0" smtClean="0"/>
              <a:t>26</a:t>
            </a:r>
            <a:r>
              <a:rPr lang="ko-KR" altLang="en-US" sz="2000" spc="-150" dirty="0" smtClean="0"/>
              <a:t>일</a:t>
            </a:r>
            <a:r>
              <a:rPr lang="en-US" altLang="ko-KR" sz="2000" spc="-150" dirty="0" smtClean="0"/>
              <a:t>, 27</a:t>
            </a:r>
            <a:r>
              <a:rPr lang="ko-KR" altLang="en-US" sz="2000" spc="-150" dirty="0" smtClean="0"/>
              <a:t>일 가장 많은 반품을 경험한다</a:t>
            </a:r>
            <a:r>
              <a:rPr lang="en-US" altLang="ko-KR" sz="2000" spc="-150" dirty="0" smtClean="0"/>
              <a:t>. </a:t>
            </a:r>
            <a:r>
              <a:rPr lang="ko-KR" altLang="en-US" sz="2000" spc="-150" dirty="0" smtClean="0"/>
              <a:t>대부분은 마음에 들지 않는 선물 반환</a:t>
            </a:r>
            <a:r>
              <a:rPr lang="en-US" altLang="ko-KR" sz="2000" spc="-150" dirty="0" smtClean="0"/>
              <a:t>.</a:t>
            </a:r>
          </a:p>
          <a:p>
            <a:r>
              <a:rPr lang="en-US" altLang="ko-KR" sz="2000" dirty="0" smtClean="0"/>
              <a:t>30</a:t>
            </a:r>
            <a:r>
              <a:rPr lang="ko-KR" altLang="en-US" sz="2000" dirty="0" smtClean="0"/>
              <a:t>명의 표본을 택해 반환된 물품의 개수를 조사한 데이터</a:t>
            </a:r>
            <a:endParaRPr lang="en-US" altLang="ko-KR" sz="2000" dirty="0" smtClean="0"/>
          </a:p>
          <a:p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r>
              <a:rPr lang="ko-KR" altLang="en-US" sz="2000" dirty="0" smtClean="0"/>
              <a:t>반환된 물품의 개수에 대한 도수분포</a:t>
            </a:r>
            <a:endParaRPr lang="en-US" altLang="ko-KR" sz="2000" dirty="0" smtClean="0"/>
          </a:p>
          <a:p>
            <a:endParaRPr lang="ko-KR" altLang="en-US" sz="20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387411"/>
              </p:ext>
            </p:extLst>
          </p:nvPr>
        </p:nvGraphicFramePr>
        <p:xfrm>
          <a:off x="1636583" y="2575243"/>
          <a:ext cx="8075830" cy="1005840"/>
        </p:xfrm>
        <a:graphic>
          <a:graphicData uri="http://schemas.openxmlformats.org/drawingml/2006/table">
            <a:tbl>
              <a:tblPr bandRow="1">
                <a:tableStyleId>{69CF1AB2-1976-4502-BF36-3FF5EA218861}</a:tableStyleId>
              </a:tblPr>
              <a:tblGrid>
                <a:gridCol w="807583"/>
                <a:gridCol w="807583"/>
                <a:gridCol w="807583"/>
                <a:gridCol w="807583"/>
                <a:gridCol w="807583"/>
                <a:gridCol w="807583"/>
                <a:gridCol w="807583"/>
                <a:gridCol w="807583"/>
                <a:gridCol w="807583"/>
                <a:gridCol w="807583"/>
              </a:tblGrid>
              <a:tr h="3052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</a:tr>
              <a:tr h="3052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5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</a:tr>
              <a:tr h="3052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4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5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0323750"/>
                  </p:ext>
                </p:extLst>
              </p:nvPr>
            </p:nvGraphicFramePr>
            <p:xfrm>
              <a:off x="3468130" y="4028303"/>
              <a:ext cx="4226013" cy="2346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8671"/>
                    <a:gridCol w="1408671"/>
                    <a:gridCol w="1408671"/>
                  </a:tblGrid>
                  <a:tr h="30857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값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도수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상대도수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0857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7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0.233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0857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0.300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0857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6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0.200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0857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0.167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0857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0.100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0857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합계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1.000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0323750"/>
                  </p:ext>
                </p:extLst>
              </p:nvPr>
            </p:nvGraphicFramePr>
            <p:xfrm>
              <a:off x="3468130" y="4028303"/>
              <a:ext cx="4226013" cy="2346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8671"/>
                    <a:gridCol w="1408671"/>
                    <a:gridCol w="1408671"/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431" t="-3636" r="-201293" b="-62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도수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상대도수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7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0.233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0.300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6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0.200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0.167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0.100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합계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1.000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899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히스토그램</a:t>
            </a:r>
            <a:r>
              <a:rPr lang="en-US" altLang="ko-KR" dirty="0" smtClean="0"/>
              <a:t>(Histogram)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이산변수의 도수분포는 상대도수를 직선이나 직사각형으로 나타낼 수 있음</a:t>
            </a:r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18" name="차트 17"/>
          <p:cNvGraphicFramePr/>
          <p:nvPr>
            <p:extLst>
              <p:ext uri="{D42A27DB-BD31-4B8C-83A1-F6EECF244321}">
                <p14:modId xmlns:p14="http://schemas.microsoft.com/office/powerpoint/2010/main" val="2980577163"/>
              </p:ext>
            </p:extLst>
          </p:nvPr>
        </p:nvGraphicFramePr>
        <p:xfrm>
          <a:off x="6096000" y="3081524"/>
          <a:ext cx="5060778" cy="3230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차트 18"/>
          <p:cNvGraphicFramePr/>
          <p:nvPr>
            <p:extLst>
              <p:ext uri="{D42A27DB-BD31-4B8C-83A1-F6EECF244321}">
                <p14:modId xmlns:p14="http://schemas.microsoft.com/office/powerpoint/2010/main" val="2139614308"/>
              </p:ext>
            </p:extLst>
          </p:nvPr>
        </p:nvGraphicFramePr>
        <p:xfrm>
          <a:off x="838200" y="3081524"/>
          <a:ext cx="5060778" cy="3230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4630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연속 변수 데이터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연속 변수 측정값들의 데이터 집합을 표시하는데 사용되는 두 가지 방법은 </a:t>
            </a:r>
            <a:r>
              <a:rPr lang="ko-KR" altLang="en-US" dirty="0" err="1" smtClean="0"/>
              <a:t>점도표</a:t>
            </a:r>
            <a:r>
              <a:rPr lang="en-US" altLang="ko-KR" dirty="0" smtClean="0"/>
              <a:t>(dot diagram)</a:t>
            </a:r>
            <a:r>
              <a:rPr lang="ko-KR" altLang="en-US" dirty="0" smtClean="0"/>
              <a:t>와 히스토그램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점도표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상대적으로 </a:t>
            </a:r>
            <a:r>
              <a:rPr lang="ko-KR" altLang="en-US" dirty="0" err="1" smtClean="0"/>
              <a:t>관측값이</a:t>
            </a:r>
            <a:r>
              <a:rPr lang="ko-KR" altLang="en-US" dirty="0" smtClean="0"/>
              <a:t> 적을 때 </a:t>
            </a:r>
            <a:r>
              <a:rPr lang="en-US" altLang="ko-KR" dirty="0" smtClean="0"/>
              <a:t>(20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25 </a:t>
            </a:r>
            <a:r>
              <a:rPr lang="ko-KR" altLang="en-US" dirty="0" smtClean="0"/>
              <a:t>미만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히스토그램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관측값이</a:t>
            </a:r>
            <a:r>
              <a:rPr lang="ko-KR" altLang="en-US" dirty="0" smtClean="0"/>
              <a:t> 많을 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269752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점도표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pc="-150" dirty="0" smtClean="0"/>
              <a:t>측정값의 </a:t>
            </a:r>
            <a:r>
              <a:rPr lang="ko-KR" altLang="en-US" spc="-150" dirty="0"/>
              <a:t>범위를 포함하는 척도의 직선 위에 측정값들을 굵은 점으로 표시</a:t>
            </a:r>
            <a:endParaRPr lang="en-US" altLang="ko-KR" spc="-150" dirty="0"/>
          </a:p>
          <a:p>
            <a:r>
              <a:rPr lang="ko-KR" altLang="en-US" spc="-150" dirty="0" smtClean="0"/>
              <a:t>예제 </a:t>
            </a:r>
            <a:r>
              <a:rPr lang="en-US" altLang="ko-KR" spc="-150" dirty="0" smtClean="0"/>
              <a:t>– </a:t>
            </a:r>
            <a:r>
              <a:rPr lang="ko-KR" altLang="en-US" spc="-150" dirty="0" smtClean="0"/>
              <a:t>생존 시간</a:t>
            </a:r>
            <a:endParaRPr lang="en-US" altLang="ko-KR" spc="-150" dirty="0" smtClean="0"/>
          </a:p>
          <a:p>
            <a:pPr lvl="1"/>
            <a:r>
              <a:rPr lang="ko-KR" altLang="en-US" spc="-150" dirty="0" smtClean="0"/>
              <a:t>최초 여섯 명의 심장이식 환자가 수술 후 생존한 날짜 </a:t>
            </a:r>
            <a:r>
              <a:rPr lang="en-US" altLang="ko-KR" spc="-150" dirty="0" smtClean="0"/>
              <a:t>: 15, 3, 46, 623, 126, 64</a:t>
            </a:r>
          </a:p>
          <a:p>
            <a:pPr lvl="1"/>
            <a:r>
              <a:rPr lang="ko-KR" altLang="en-US" spc="-150" dirty="0" smtClean="0"/>
              <a:t>이 </a:t>
            </a:r>
            <a:r>
              <a:rPr lang="ko-KR" altLang="en-US" spc="-150" dirty="0" err="1" smtClean="0"/>
              <a:t>점도표를</a:t>
            </a:r>
            <a:r>
              <a:rPr lang="ko-KR" altLang="en-US" spc="-150" dirty="0" smtClean="0"/>
              <a:t> 보면 대부분은 생존 기간이 짧고 한 명이 상당이 큰 값을 나타냄을 알 수 있다</a:t>
            </a:r>
            <a:r>
              <a:rPr lang="en-US" altLang="ko-KR" spc="-150" dirty="0" smtClean="0"/>
              <a:t>.</a:t>
            </a:r>
            <a:endParaRPr lang="ko-KR" altLang="en-US" spc="-150" dirty="0"/>
          </a:p>
          <a:p>
            <a:endParaRPr lang="ko-KR" altLang="en-US" dirty="0"/>
          </a:p>
        </p:txBody>
      </p:sp>
      <p:graphicFrame>
        <p:nvGraphicFramePr>
          <p:cNvPr id="16" name="차트 15"/>
          <p:cNvGraphicFramePr/>
          <p:nvPr>
            <p:extLst>
              <p:ext uri="{D42A27DB-BD31-4B8C-83A1-F6EECF244321}">
                <p14:modId xmlns:p14="http://schemas.microsoft.com/office/powerpoint/2010/main" val="3017641407"/>
              </p:ext>
            </p:extLst>
          </p:nvPr>
        </p:nvGraphicFramePr>
        <p:xfrm>
          <a:off x="1615615" y="4479886"/>
          <a:ext cx="8128000" cy="1104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17282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구간의 도수분포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데이터가 많은 수의 측정값으로 이루어져 있으면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점도표를</a:t>
            </a:r>
            <a:r>
              <a:rPr lang="ko-KR" altLang="en-US" dirty="0" smtClean="0"/>
              <a:t> 그리는 것은 번거로움</a:t>
            </a:r>
            <a:endParaRPr lang="en-US" altLang="ko-KR" dirty="0" smtClean="0"/>
          </a:p>
          <a:p>
            <a:r>
              <a:rPr lang="ko-KR" altLang="en-US" spc="-150" dirty="0" smtClean="0"/>
              <a:t>이런 경우 구간별로 </a:t>
            </a:r>
            <a:r>
              <a:rPr lang="ko-KR" altLang="en-US" spc="-150" dirty="0" err="1" smtClean="0"/>
              <a:t>관측값을</a:t>
            </a:r>
            <a:r>
              <a:rPr lang="ko-KR" altLang="en-US" spc="-150" dirty="0" smtClean="0"/>
              <a:t> 그룹화하고 각 구간의 도수를 기록</a:t>
            </a:r>
            <a:endParaRPr lang="en-US" altLang="ko-KR" spc="-150" dirty="0" smtClean="0"/>
          </a:p>
          <a:p>
            <a:pPr lvl="1"/>
            <a:r>
              <a:rPr lang="ko-KR" altLang="en-US" spc="-150" dirty="0" smtClean="0"/>
              <a:t>자연스럽게 한 점에서 그룹화 되는 이산 도수분포와 달리</a:t>
            </a:r>
            <a:r>
              <a:rPr lang="en-US" altLang="ko-KR" spc="-150" dirty="0" smtClean="0"/>
              <a:t>, </a:t>
            </a:r>
            <a:r>
              <a:rPr lang="ko-KR" altLang="en-US" spc="-150" dirty="0" smtClean="0"/>
              <a:t>값의 구간을 이용</a:t>
            </a:r>
            <a:endParaRPr lang="en-US" altLang="ko-KR" spc="-150" dirty="0" smtClean="0"/>
          </a:p>
          <a:p>
            <a:pPr marL="0" indent="0">
              <a:buNone/>
            </a:pPr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534577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691"/>
          </a:xfrm>
        </p:spPr>
        <p:txBody>
          <a:bodyPr/>
          <a:lstStyle/>
          <a:p>
            <a:r>
              <a:rPr lang="ko-KR" altLang="en-US" dirty="0" smtClean="0"/>
              <a:t>연속변수에 대한 도수분포 작성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0432"/>
                <a:ext cx="10515600" cy="4776531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데이터 집합에서 최솟값과 최댓값을 찾는다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최솟값과 최댓값을 포함하는 겹치지 않는 </a:t>
                </a:r>
                <a:r>
                  <a:rPr lang="ko-KR" altLang="en-US" sz="2400" dirty="0" err="1" smtClean="0"/>
                  <a:t>등간격</a:t>
                </a:r>
                <a:r>
                  <a:rPr lang="ko-KR" altLang="en-US" sz="2400" dirty="0" smtClean="0"/>
                  <a:t> 구간 생성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이 구간을 계급구간</a:t>
                </a:r>
                <a:r>
                  <a:rPr lang="en-US" altLang="ko-KR" sz="2000" dirty="0" smtClean="0"/>
                  <a:t>(class interval)</a:t>
                </a:r>
                <a:r>
                  <a:rPr lang="ko-KR" altLang="en-US" sz="2000" dirty="0" smtClean="0"/>
                  <a:t>이라 하고</a:t>
                </a:r>
                <a:r>
                  <a:rPr lang="en-US" altLang="ko-KR" sz="2000" dirty="0" smtClean="0"/>
                  <a:t>, </a:t>
                </a:r>
                <a:r>
                  <a:rPr lang="ko-KR" altLang="en-US" sz="2000" dirty="0" smtClean="0"/>
                  <a:t>양 끝을 계급경계</a:t>
                </a:r>
                <a:r>
                  <a:rPr lang="en-US" altLang="ko-KR" sz="2000" dirty="0" smtClean="0"/>
                  <a:t>(class boundary)</a:t>
                </a:r>
                <a:r>
                  <a:rPr lang="ko-KR" altLang="en-US" sz="2000" dirty="0" smtClean="0"/>
                  <a:t>라 함</a:t>
                </a:r>
                <a:endParaRPr lang="en-US" altLang="ko-KR" sz="2000" dirty="0" smtClean="0"/>
              </a:p>
              <a:p>
                <a:r>
                  <a:rPr lang="ko-KR" altLang="en-US" sz="2400" dirty="0" smtClean="0"/>
                  <a:t>각 계급구간에 속한 데이터에 대해 </a:t>
                </a:r>
                <a:r>
                  <a:rPr lang="ko-KR" altLang="en-US" sz="2400" dirty="0" err="1" smtClean="0"/>
                  <a:t>관측값의</a:t>
                </a:r>
                <a:r>
                  <a:rPr lang="ko-KR" altLang="en-US" sz="2400" dirty="0" smtClean="0"/>
                  <a:t> 개수를 셈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이 값을 계급도수</a:t>
                </a:r>
                <a:r>
                  <a:rPr lang="en-US" altLang="ko-KR" sz="2000" dirty="0" smtClean="0"/>
                  <a:t>(class frequency) </a:t>
                </a:r>
                <a:r>
                  <a:rPr lang="ko-KR" altLang="en-US" sz="2000" dirty="0" smtClean="0"/>
                  <a:t>또는 </a:t>
                </a:r>
                <a:r>
                  <a:rPr lang="ko-KR" altLang="en-US" sz="2000" dirty="0" err="1" smtClean="0"/>
                  <a:t>칸도수</a:t>
                </a:r>
                <a:r>
                  <a:rPr lang="en-US" altLang="ko-KR" sz="2000" dirty="0" smtClean="0"/>
                  <a:t>(cell frequency)</a:t>
                </a:r>
                <a:r>
                  <a:rPr lang="ko-KR" altLang="en-US" sz="2000" dirty="0" smtClean="0"/>
                  <a:t>라 </a:t>
                </a:r>
                <a:r>
                  <a:rPr lang="ko-KR" altLang="en-US" sz="2000" dirty="0" smtClean="0"/>
                  <a:t>함</a:t>
                </a:r>
                <a:endParaRPr lang="en-US" altLang="ko-KR" sz="2000" dirty="0" smtClean="0"/>
              </a:p>
              <a:p>
                <a:pPr lvl="1"/>
                <a:endParaRPr lang="en-US" altLang="ko-KR" sz="2000" dirty="0" smtClean="0"/>
              </a:p>
              <a:p>
                <a:r>
                  <a:rPr lang="ko-KR" altLang="en-US" sz="2400" dirty="0" smtClean="0"/>
                  <a:t>데이터에 대한 총 관측 개수로 계급도수를 나눠 각 계급의 상대도수</a:t>
                </a:r>
                <a:r>
                  <a:rPr lang="en-US" altLang="ko-KR" sz="2400" dirty="0" smtClean="0"/>
                  <a:t>(relative frequency)</a:t>
                </a:r>
                <a:r>
                  <a:rPr lang="ko-KR" altLang="en-US" sz="2400" dirty="0" smtClean="0"/>
                  <a:t>를 계산</a:t>
                </a:r>
                <a:endParaRPr lang="en-US" altLang="ko-KR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dirty="0">
                          <a:latin typeface="Cambria Math" panose="02040503050406030204" pitchFamily="18" charset="0"/>
                        </a:rPr>
                        <m:t>상</m:t>
                      </m:r>
                      <m:r>
                        <a:rPr lang="ko-KR" altLang="en-US" sz="2400" i="1" dirty="0" smtClean="0">
                          <a:latin typeface="Cambria Math" panose="02040503050406030204" pitchFamily="18" charset="0"/>
                        </a:rPr>
                        <m:t>대</m:t>
                      </m:r>
                      <m:r>
                        <a:rPr lang="ko-KR" altLang="en-US" sz="2400" i="1" dirty="0">
                          <a:latin typeface="Cambria Math" panose="02040503050406030204" pitchFamily="18" charset="0"/>
                        </a:rPr>
                        <m:t>도</m:t>
                      </m:r>
                      <m:r>
                        <a:rPr lang="ko-KR" altLang="en-US" sz="2400" i="1" dirty="0" smtClean="0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계</m:t>
                          </m:r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급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도</m:t>
                          </m:r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수</m:t>
                          </m:r>
                        </m:num>
                        <m:den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관</m:t>
                          </m:r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측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개</m:t>
                          </m:r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수</m:t>
                          </m:r>
                        </m:den>
                      </m:f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0432"/>
                <a:ext cx="10515600" cy="4776531"/>
              </a:xfrm>
              <a:blipFill rotWithShape="0">
                <a:blip r:embed="rId2"/>
                <a:stretch>
                  <a:fillRect l="-812" t="-17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327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계급 구간의 선택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계급 구간의 개수와 위치의 선택은 다음을 고려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계급의 수는 데이터의 관측 수에 따라 보통 </a:t>
            </a:r>
            <a:r>
              <a:rPr lang="en-US" altLang="ko-KR" dirty="0" smtClean="0"/>
              <a:t>5</a:t>
            </a:r>
            <a:r>
              <a:rPr lang="ko-KR" altLang="en-US" dirty="0" smtClean="0"/>
              <a:t>에서</a:t>
            </a:r>
            <a:r>
              <a:rPr lang="en-US" altLang="ko-KR" dirty="0"/>
              <a:t> </a:t>
            </a:r>
            <a:r>
              <a:rPr lang="en-US" altLang="ko-KR" dirty="0" smtClean="0"/>
              <a:t>15</a:t>
            </a:r>
            <a:r>
              <a:rPr lang="ko-KR" altLang="en-US" dirty="0" smtClean="0"/>
              <a:t>사이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그룹화한 </a:t>
            </a:r>
            <a:r>
              <a:rPr lang="ko-KR" altLang="en-US" dirty="0" err="1" smtClean="0"/>
              <a:t>관측값들은</a:t>
            </a:r>
            <a:r>
              <a:rPr lang="ko-KR" altLang="en-US" dirty="0" smtClean="0"/>
              <a:t> 각 구간 내에서 어떻게 분포되어 있는지에 대한 정보는 상실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구간의 수가 너무 적으면 정보의 손실이 심각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구간의 수가 너무 많고 데이터 집합이 상대적으로 적으면 전반적인 형태가 나타나지 않을 수 있음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초기 단계에서는 구간의 수를 많게 결정하고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차츰 분포의 모양이 부드럽게 되도록 줄여나가는 것도 좋음</a:t>
            </a: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2953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수면시간에 대한 도수분포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59</a:t>
            </a:r>
            <a:r>
              <a:rPr lang="ko-KR" altLang="en-US" dirty="0" smtClean="0"/>
              <a:t>명의 수면시간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최소 수면시간 </a:t>
            </a:r>
            <a:r>
              <a:rPr lang="en-US" altLang="ko-KR" dirty="0" smtClean="0"/>
              <a:t>: 4.5, </a:t>
            </a:r>
            <a:r>
              <a:rPr lang="ko-KR" altLang="en-US" dirty="0" smtClean="0"/>
              <a:t>최대 수면시간</a:t>
            </a:r>
            <a:r>
              <a:rPr lang="en-US" altLang="ko-KR" dirty="0"/>
              <a:t> </a:t>
            </a:r>
            <a:r>
              <a:rPr lang="en-US" altLang="ko-KR" dirty="0" smtClean="0"/>
              <a:t>: 10.0</a:t>
            </a:r>
          </a:p>
          <a:p>
            <a:pPr lvl="1"/>
            <a:r>
              <a:rPr lang="ko-KR" altLang="en-US" dirty="0" smtClean="0"/>
              <a:t>편의상 계급 구간의 길이를 </a:t>
            </a:r>
            <a:r>
              <a:rPr lang="en-US" altLang="ko-KR" dirty="0" smtClean="0"/>
              <a:t>1.2</a:t>
            </a:r>
            <a:r>
              <a:rPr lang="ko-KR" altLang="en-US" dirty="0" smtClean="0"/>
              <a:t>시간으로 정함</a:t>
            </a:r>
            <a:endParaRPr lang="en-US" altLang="ko-KR" dirty="0" smtClean="0"/>
          </a:p>
          <a:p>
            <a:r>
              <a:rPr lang="ko-KR" altLang="en-US" dirty="0" smtClean="0"/>
              <a:t>계급 경계의 선택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여러 가지 방법이 있을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왼쪽 끝점은 포함하고 오른쪽 끝점을 포함하지 않도록 함</a:t>
            </a:r>
            <a:endParaRPr lang="en-US" altLang="ko-KR" dirty="0" smtClean="0"/>
          </a:p>
          <a:p>
            <a:r>
              <a:rPr lang="ko-KR" altLang="en-US" dirty="0" smtClean="0"/>
              <a:t>위 방법을 이용하면 첫째 구간은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 </a:t>
            </a:r>
            <a:r>
              <a:rPr lang="ko-KR" altLang="en-US" dirty="0" err="1" smtClean="0"/>
              <a:t>관측값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상대도수 </a:t>
            </a:r>
            <a:r>
              <a:rPr lang="en-US" altLang="ko-KR" dirty="0" smtClean="0"/>
              <a:t>5/59=0.085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571393"/>
              </p:ext>
            </p:extLst>
          </p:nvPr>
        </p:nvGraphicFramePr>
        <p:xfrm>
          <a:off x="3870035" y="1825625"/>
          <a:ext cx="655782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5782"/>
                <a:gridCol w="655782"/>
                <a:gridCol w="655782"/>
                <a:gridCol w="655782"/>
                <a:gridCol w="655782"/>
                <a:gridCol w="655782"/>
                <a:gridCol w="655782"/>
                <a:gridCol w="655782"/>
                <a:gridCol w="655782"/>
                <a:gridCol w="655782"/>
              </a:tblGrid>
              <a:tr h="1771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4.5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4.7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5.7</a:t>
                      </a:r>
                      <a:endParaRPr lang="ko-KR" altLang="en-US" sz="1400" dirty="0"/>
                    </a:p>
                  </a:txBody>
                  <a:tcPr/>
                </a:tc>
              </a:tr>
              <a:tr h="1771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6.5</a:t>
                      </a:r>
                      <a:endParaRPr lang="ko-KR" altLang="en-US" sz="1400" dirty="0"/>
                    </a:p>
                  </a:txBody>
                  <a:tcPr/>
                </a:tc>
              </a:tr>
              <a:tr h="1771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7.3</a:t>
                      </a:r>
                      <a:endParaRPr lang="ko-KR" altLang="en-US" sz="1400" dirty="0"/>
                    </a:p>
                  </a:txBody>
                  <a:tcPr/>
                </a:tc>
              </a:tr>
              <a:tr h="1771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7.7</a:t>
                      </a:r>
                      <a:endParaRPr lang="ko-KR" altLang="en-US" sz="1400" dirty="0"/>
                    </a:p>
                  </a:txBody>
                  <a:tcPr/>
                </a:tc>
              </a:tr>
              <a:tr h="1771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8.5</a:t>
                      </a:r>
                      <a:endParaRPr lang="ko-KR" altLang="en-US" sz="1400" dirty="0"/>
                    </a:p>
                  </a:txBody>
                  <a:tcPr/>
                </a:tc>
              </a:tr>
              <a:tr h="1771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880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r>
              <a:rPr lang="ko-KR" altLang="en-US" dirty="0"/>
              <a:t>수면시간에 대한 </a:t>
            </a:r>
            <a:r>
              <a:rPr lang="ko-KR" altLang="en-US" dirty="0" smtClean="0"/>
              <a:t>도수분포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도수분포표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경계규칙을 포함하는 문제에서는 항상 어느 끝점이 포함되고 포함되지 않는지 명확히 하는 것이 중요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324728"/>
              </p:ext>
            </p:extLst>
          </p:nvPr>
        </p:nvGraphicFramePr>
        <p:xfrm>
          <a:off x="1487055" y="2336030"/>
          <a:ext cx="497839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466"/>
                <a:gridCol w="1659466"/>
                <a:gridCol w="1659466"/>
              </a:tblGrid>
              <a:tr h="3510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계급 구간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도수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상대도수</a:t>
                      </a:r>
                      <a:endParaRPr lang="ko-KR" altLang="en-US" dirty="0"/>
                    </a:p>
                  </a:txBody>
                  <a:tcPr/>
                </a:tc>
              </a:tr>
              <a:tr h="3510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4.3-5.5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5/59=0.085</a:t>
                      </a:r>
                      <a:endParaRPr lang="ko-KR" altLang="en-US" dirty="0"/>
                    </a:p>
                  </a:txBody>
                  <a:tcPr/>
                </a:tc>
              </a:tr>
              <a:tr h="3510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5.5-6.7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15/59=0.254</a:t>
                      </a:r>
                      <a:endParaRPr lang="ko-KR" altLang="en-US" dirty="0"/>
                    </a:p>
                  </a:txBody>
                  <a:tcPr/>
                </a:tc>
              </a:tr>
              <a:tr h="3510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6.7-7.9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20/59=0.339</a:t>
                      </a:r>
                      <a:endParaRPr lang="ko-KR" altLang="en-US" dirty="0"/>
                    </a:p>
                  </a:txBody>
                  <a:tcPr/>
                </a:tc>
              </a:tr>
              <a:tr h="3510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7.9-9.1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16/59=0.271</a:t>
                      </a:r>
                      <a:endParaRPr lang="ko-KR" altLang="en-US" dirty="0"/>
                    </a:p>
                  </a:txBody>
                  <a:tcPr/>
                </a:tc>
              </a:tr>
              <a:tr h="3510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9.1-10.3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3/59=0.051</a:t>
                      </a:r>
                      <a:endParaRPr lang="ko-KR" altLang="en-US" dirty="0"/>
                    </a:p>
                  </a:txBody>
                  <a:tcPr/>
                </a:tc>
              </a:tr>
              <a:tr h="3510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합계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1.000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859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도수분포를 </a:t>
            </a:r>
            <a:r>
              <a:rPr lang="ko-KR" altLang="en-US" dirty="0" smtClean="0"/>
              <a:t>히스토그램으로</a:t>
            </a: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6238102" cy="435133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먼저 수평축에 구간을 표시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각 구간에 면적이 상대도수가 되게 하는 직사각형을 그릴 수 있음</a:t>
                </a:r>
                <a:endParaRPr lang="en-US" altLang="ko-KR" sz="24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높</m:t>
                    </m:r>
                    <m:r>
                      <a:rPr lang="ko-KR" altLang="en-US" sz="2000" i="1" dirty="0" smtClean="0">
                        <a:latin typeface="Cambria Math" panose="02040503050406030204" pitchFamily="18" charset="0"/>
                      </a:rPr>
                      <m:t>이</m:t>
                    </m:r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상</m:t>
                        </m:r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대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도</m:t>
                        </m:r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수</m:t>
                        </m:r>
                      </m:num>
                      <m:den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구</m:t>
                        </m:r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간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의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너</m:t>
                        </m:r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비</m:t>
                        </m:r>
                      </m:den>
                    </m:f>
                  </m:oMath>
                </a14:m>
                <a:endParaRPr lang="en-US" altLang="ko-KR" sz="2000" dirty="0" smtClean="0"/>
              </a:p>
              <a:p>
                <a:pPr lvl="1"/>
                <a:r>
                  <a:rPr lang="ko-KR" altLang="en-US" sz="2000" dirty="0" smtClean="0"/>
                  <a:t>위와 같이 설정하면 히스토그램의 전체 면적이 </a:t>
                </a:r>
                <a:r>
                  <a:rPr lang="en-US" altLang="ko-KR" sz="2000" dirty="0" smtClean="0"/>
                  <a:t>1</a:t>
                </a:r>
                <a:r>
                  <a:rPr lang="ko-KR" altLang="en-US" sz="2000" dirty="0" smtClean="0"/>
                  <a:t>이 됨</a:t>
                </a:r>
                <a:endParaRPr lang="en-US" altLang="ko-KR" sz="2000" dirty="0" smtClean="0"/>
              </a:p>
              <a:p>
                <a:r>
                  <a:rPr lang="en-US" altLang="ko-KR" sz="2400" spc="-150" dirty="0" smtClean="0"/>
                  <a:t>4.3-5.5</a:t>
                </a:r>
                <a:r>
                  <a:rPr lang="ko-KR" altLang="en-US" sz="2400" spc="-150" dirty="0" smtClean="0"/>
                  <a:t>의 계급 구간에 그려진 직사각형의 높이</a:t>
                </a:r>
                <a:r>
                  <a:rPr lang="en-US" altLang="ko-KR" sz="2400" spc="-150" dirty="0" smtClean="0"/>
                  <a:t/>
                </a:r>
                <a:br>
                  <a:rPr lang="en-US" altLang="ko-KR" sz="2400" spc="-150" dirty="0" smtClean="0"/>
                </a:br>
                <a:r>
                  <a:rPr lang="en-US" altLang="ko-KR" sz="2400" spc="-150" dirty="0" smtClean="0"/>
                  <a:t>= </a:t>
                </a:r>
                <a:r>
                  <a:rPr lang="ko-KR" altLang="en-US" sz="2400" spc="-150" dirty="0" smtClean="0"/>
                  <a:t>상대도수</a:t>
                </a:r>
                <a:r>
                  <a:rPr lang="en-US" altLang="ko-KR" sz="2400" spc="-150" dirty="0" smtClean="0"/>
                  <a:t>/</a:t>
                </a:r>
                <a:r>
                  <a:rPr lang="ko-KR" altLang="en-US" sz="2400" spc="-150" dirty="0" smtClean="0"/>
                  <a:t>구간의 너비 </a:t>
                </a:r>
                <a:r>
                  <a:rPr lang="en-US" altLang="ko-KR" sz="2400" spc="-150" dirty="0" smtClean="0"/>
                  <a:t>= 0.085/1.2 = 0.071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6238102" cy="4351338"/>
              </a:xfrm>
              <a:blipFill rotWithShape="0">
                <a:blip r:embed="rId2"/>
                <a:stretch>
                  <a:fillRect l="-1369" t="-1961" r="-13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내용 개체 틀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302" y="2058194"/>
            <a:ext cx="4506098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44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줄기</a:t>
            </a:r>
            <a:r>
              <a:rPr lang="en-US" altLang="ko-KR" dirty="0" smtClean="0"/>
              <a:t>-</a:t>
            </a:r>
            <a:r>
              <a:rPr lang="ko-KR" altLang="en-US" dirty="0" smtClean="0"/>
              <a:t>잎 그림</a:t>
            </a:r>
            <a:r>
              <a:rPr lang="en-US" altLang="ko-KR" dirty="0" smtClean="0"/>
              <a:t>(stem-and-leaf display)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데이터를 표현하는 보다 효율적인 히스토그램의 변형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특히 </a:t>
            </a:r>
            <a:r>
              <a:rPr lang="ko-KR" altLang="en-US" dirty="0" err="1" smtClean="0"/>
              <a:t>관측값이</a:t>
            </a:r>
            <a:r>
              <a:rPr lang="ko-KR" altLang="en-US" dirty="0" smtClean="0"/>
              <a:t> 두 자릿수일 때 효과적</a:t>
            </a:r>
            <a:endParaRPr lang="en-US" altLang="ko-KR" dirty="0" smtClean="0"/>
          </a:p>
          <a:p>
            <a:endParaRPr lang="en-US" altLang="ko-KR" dirty="0" smtClean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 smtClean="0"/>
              <a:t>열에 </a:t>
            </a:r>
            <a:r>
              <a:rPr lang="en-US" altLang="ko-KR" dirty="0" smtClean="0"/>
              <a:t>0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9</a:t>
            </a:r>
            <a:r>
              <a:rPr lang="ko-KR" altLang="en-US" dirty="0" smtClean="0"/>
              <a:t>까지 숫자를 나열하고 수직선을 그림</a:t>
            </a:r>
            <a:endParaRPr lang="en-US" altLang="ko-KR" dirty="0" smtClean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 smtClean="0"/>
              <a:t>각 </a:t>
            </a:r>
            <a:r>
              <a:rPr lang="ko-KR" altLang="en-US" dirty="0" err="1" smtClean="0"/>
              <a:t>관측값에</a:t>
            </a:r>
            <a:r>
              <a:rPr lang="ko-KR" altLang="en-US" dirty="0" smtClean="0"/>
              <a:t> 대해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두 번째 자릿수를 수직선 오른쪽에 첫 번째 자릿수가 나타난 행에 기록</a:t>
            </a:r>
            <a:endParaRPr lang="en-US" altLang="ko-KR" dirty="0" smtClean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 smtClean="0"/>
              <a:t>마지막으로 각행의 두 번째 자릿수를 오름차순으로 정렬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179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줄기</a:t>
            </a:r>
            <a:r>
              <a:rPr lang="en-US" altLang="ko-KR" dirty="0"/>
              <a:t>-</a:t>
            </a:r>
            <a:r>
              <a:rPr lang="ko-KR" altLang="en-US" dirty="0"/>
              <a:t>잎 그림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61768" y="1825625"/>
            <a:ext cx="10515600" cy="4351338"/>
          </a:xfrm>
        </p:spPr>
        <p:txBody>
          <a:bodyPr/>
          <a:lstStyle/>
          <a:p>
            <a:r>
              <a:rPr lang="ko-KR" altLang="en-US" sz="2400" dirty="0" smtClean="0"/>
              <a:t>시험 점수</a:t>
            </a:r>
            <a:endParaRPr lang="en-US" altLang="ko-KR" sz="2400" dirty="0" smtClean="0"/>
          </a:p>
          <a:p>
            <a:endParaRPr lang="en-US" altLang="ko-KR" dirty="0"/>
          </a:p>
          <a:p>
            <a:endParaRPr lang="en-US" altLang="ko-KR" sz="2400" dirty="0" smtClean="0"/>
          </a:p>
          <a:p>
            <a:r>
              <a:rPr lang="ko-KR" altLang="en-US" sz="2400" dirty="0" smtClean="0"/>
              <a:t>줄기</a:t>
            </a:r>
            <a:r>
              <a:rPr lang="en-US" altLang="ko-KR" sz="2400" dirty="0" smtClean="0"/>
              <a:t>-</a:t>
            </a:r>
            <a:r>
              <a:rPr lang="ko-KR" altLang="en-US" sz="2400" dirty="0" smtClean="0"/>
              <a:t>잎 그림</a:t>
            </a:r>
            <a:endParaRPr lang="en-US" altLang="ko-KR" sz="2400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470886"/>
              </p:ext>
            </p:extLst>
          </p:nvPr>
        </p:nvGraphicFramePr>
        <p:xfrm>
          <a:off x="3516186" y="1825625"/>
          <a:ext cx="6980200" cy="91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</a:tblGrid>
              <a:tr h="284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42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37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80</a:t>
                      </a:r>
                      <a:endParaRPr lang="ko-KR" altLang="en-US" sz="1400" dirty="0"/>
                    </a:p>
                  </a:txBody>
                  <a:tcPr/>
                </a:tc>
              </a:tr>
              <a:tr h="284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49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81</a:t>
                      </a:r>
                      <a:endParaRPr lang="ko-KR" altLang="en-US" sz="1400" dirty="0"/>
                    </a:p>
                  </a:txBody>
                  <a:tcPr/>
                </a:tc>
              </a:tr>
              <a:tr h="2840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58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84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48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117536"/>
              </p:ext>
            </p:extLst>
          </p:nvPr>
        </p:nvGraphicFramePr>
        <p:xfrm>
          <a:off x="3516186" y="3128963"/>
          <a:ext cx="5159628" cy="3048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760623"/>
                <a:gridCol w="4399005"/>
              </a:tblGrid>
              <a:tr h="254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4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4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4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7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4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289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4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35789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4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6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022345689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4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7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01234556778899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4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00134456789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546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9</a:t>
                      </a:r>
                      <a:endParaRPr lang="ko-KR" alt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0023589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09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중심 측도 </a:t>
            </a:r>
            <a:r>
              <a:rPr lang="en-US" altLang="ko-KR" dirty="0" smtClean="0"/>
              <a:t>- </a:t>
            </a:r>
            <a:r>
              <a:rPr lang="ko-KR" altLang="en-US" smtClean="0"/>
              <a:t>평균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ko-KR" altLang="en-US" dirty="0" smtClean="0"/>
                  <a:t>측정값들은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ko-KR" altLang="en-US" dirty="0" smtClean="0"/>
                  <a:t> 같이 나타낸다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예를 들어</a:t>
                </a:r>
                <a:r>
                  <a:rPr lang="en-US" altLang="ko-KR" dirty="0" smtClean="0"/>
                  <a:t>, 2.1, 3.2, 4.1, 5.6, 3.7</a:t>
                </a:r>
                <a:r>
                  <a:rPr lang="ko-KR" altLang="en-US" dirty="0" smtClean="0"/>
                  <a:t>인 </a:t>
                </a:r>
                <a:r>
                  <a:rPr lang="en-US" altLang="ko-KR" dirty="0" smtClean="0"/>
                  <a:t>5</a:t>
                </a:r>
                <a:r>
                  <a:rPr lang="ko-KR" altLang="en-US" dirty="0" smtClean="0"/>
                  <a:t>개의 측정값으로 구성된 데이터는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=2.1,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=3.2,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=4.1,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=5.6,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=3.7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spc="-150" dirty="0" smtClean="0"/>
                  <a:t>측정값들의 표본분포를 연구할 때 중심 값의 위치를 찾는 것이 중요</a:t>
                </a:r>
                <a:endParaRPr lang="en-US" altLang="ko-KR" spc="-150" dirty="0" smtClean="0"/>
              </a:p>
              <a:p>
                <a:endParaRPr lang="en-US" altLang="ko-KR" spc="-150" dirty="0"/>
              </a:p>
              <a:p>
                <a:r>
                  <a:rPr lang="ko-KR" altLang="en-US" sz="2600" spc="-150" dirty="0" smtClean="0"/>
                  <a:t>평균</a:t>
                </a:r>
                <a:r>
                  <a:rPr lang="en-US" altLang="ko-KR" sz="2600" spc="-150" dirty="0" smtClean="0"/>
                  <a:t>(mean </a:t>
                </a:r>
                <a:r>
                  <a:rPr lang="ko-KR" altLang="en-US" sz="2600" spc="-150" dirty="0" smtClean="0"/>
                  <a:t>또는 </a:t>
                </a:r>
                <a:r>
                  <a:rPr lang="en-US" altLang="ko-KR" sz="2600" spc="-150" dirty="0" smtClean="0"/>
                  <a:t>average)</a:t>
                </a:r>
                <a:r>
                  <a:rPr lang="ko-KR" altLang="en-US" sz="2600" spc="-150" dirty="0" smtClean="0"/>
                  <a:t> </a:t>
                </a:r>
                <a:r>
                  <a:rPr lang="en-US" altLang="ko-KR" sz="2600" spc="-150" dirty="0" smtClean="0"/>
                  <a:t>: </a:t>
                </a:r>
                <a:r>
                  <a:rPr lang="ko-KR" altLang="en-US" sz="2600" spc="-150" dirty="0" smtClean="0"/>
                  <a:t>측정값을 합한 후 개수로 나눈 값</a:t>
                </a:r>
                <a:endParaRPr lang="en-US" altLang="ko-KR" sz="2600" spc="-150" dirty="0" smtClean="0"/>
              </a:p>
              <a:p>
                <a:r>
                  <a:rPr lang="en-US" altLang="ko-KR" sz="2400" spc="-150" dirty="0" smtClean="0"/>
                  <a:t>n</a:t>
                </a:r>
                <a:r>
                  <a:rPr lang="ko-KR" altLang="en-US" sz="2400" spc="-150" dirty="0" smtClean="0"/>
                  <a:t>개의 측정값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pc="-1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spc="-1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i="1" spc="-1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spc="-15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 spc="-1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spc="-1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i="1" spc="-1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spc="-15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i="1" spc="-1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2400" b="0" i="1" spc="-1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 spc="-1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spc="-1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i="1" spc="-1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400" spc="-150" dirty="0" smtClean="0"/>
                  <a:t>의 표본평균</a:t>
                </a:r>
                <a:r>
                  <a:rPr lang="en-US" altLang="ko-KR" sz="2400" spc="-150" dirty="0" smtClean="0"/>
                  <a:t>(sample mean)</a:t>
                </a:r>
                <a:r>
                  <a:rPr lang="ko-KR" altLang="en-US" sz="2400" spc="-150" dirty="0" smtClean="0"/>
                  <a:t>은 측정값들의 합을 </a:t>
                </a:r>
                <a:r>
                  <a:rPr lang="en-US" altLang="ko-KR" sz="2400" spc="-150" dirty="0" smtClean="0"/>
                  <a:t>n</a:t>
                </a:r>
                <a:r>
                  <a:rPr lang="ko-KR" altLang="en-US" sz="2400" spc="-150" dirty="0" smtClean="0"/>
                  <a:t>으로 나눈 것</a:t>
                </a:r>
                <a:r>
                  <a:rPr lang="en-US" altLang="ko-KR" sz="2400" spc="-150" dirty="0" smtClean="0"/>
                  <a:t>. </a:t>
                </a:r>
              </a:p>
              <a:p>
                <a:r>
                  <a:rPr lang="ko-KR" altLang="en-US" sz="2400" spc="-150" dirty="0" smtClean="0"/>
                  <a:t>이 표본평균은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400" i="1" spc="-15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pc="-1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ko-KR" altLang="en-US" sz="2400" spc="-150" dirty="0" err="1" smtClean="0"/>
                  <a:t>로</a:t>
                </a:r>
                <a:r>
                  <a:rPr lang="ko-KR" altLang="en-US" sz="2400" spc="-150" dirty="0" smtClean="0"/>
                  <a:t> 표시된다</a:t>
                </a:r>
                <a:r>
                  <a:rPr lang="en-US" altLang="ko-KR" sz="2400" spc="-150" dirty="0" smtClean="0"/>
                  <a:t>.</a:t>
                </a:r>
                <a:br>
                  <a:rPr lang="en-US" altLang="ko-KR" sz="2400" spc="-150" dirty="0" smtClean="0"/>
                </a:br>
                <a:endParaRPr lang="en-US" altLang="ko-KR" sz="2400" spc="-15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ko-KR" sz="2400" i="1" spc="-15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2400" b="0" i="1" spc="-15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ko-KR" sz="2400" b="0" i="1" spc="-15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i="1" spc="-1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400" i="1" spc="-1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 spc="-15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400" i="1" spc="-15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400" i="1" spc="-15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400" i="1" spc="-1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 spc="-15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400" i="1" spc="-15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400" i="1" spc="-15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400" i="1" spc="-1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ko-KR" sz="2400" i="1" spc="-15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 spc="-15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400" i="1" spc="-15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2400" i="1" spc="-15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sz="2400" i="1" spc="-15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i="1" spc="-1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i="1" spc="-15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en-US" sz="2400" i="1" spc="-150">
                              <a:latin typeface="Cambria Math" panose="02040503050406030204" pitchFamily="18" charset="0"/>
                            </a:rPr>
                            <m:t>개</m:t>
                          </m:r>
                          <m:r>
                            <a:rPr lang="en-US" altLang="ko-KR" sz="2400" i="1" spc="-15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2400" i="1" spc="-150">
                              <a:latin typeface="Cambria Math" panose="02040503050406030204" pitchFamily="18" charset="0"/>
                            </a:rPr>
                            <m:t>측정값의</m:t>
                          </m:r>
                          <m:r>
                            <a:rPr lang="en-US" altLang="ko-KR" sz="2400" i="1" spc="-15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2400" i="1" spc="-150">
                              <a:latin typeface="Cambria Math" panose="02040503050406030204" pitchFamily="18" charset="0"/>
                            </a:rPr>
                            <m:t>합</m:t>
                          </m:r>
                        </m:num>
                        <m:den>
                          <m:r>
                            <a:rPr lang="en-US" altLang="ko-KR" sz="2400" i="1" spc="-15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ko-KR" altLang="en-US" sz="2400" spc="-15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0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08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 중앙값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개 측정값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표본중앙값</a:t>
                </a:r>
                <a:r>
                  <a:rPr lang="en-US" altLang="ko-KR" dirty="0" smtClean="0"/>
                  <a:t>(sample median)</a:t>
                </a:r>
                <a:r>
                  <a:rPr lang="ko-KR" altLang="en-US" dirty="0" smtClean="0"/>
                  <a:t>은 측정값을 작은 값에서 큰 값 순으로 나열했을 때 중앙에 해당하는 값이다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대략적으로 중앙값은 데이터를 반반씩 나누는 값</a:t>
                </a:r>
                <a:endParaRPr lang="en-US" altLang="ko-KR" dirty="0" smtClean="0"/>
              </a:p>
              <a:p>
                <a:pPr lvl="1"/>
                <a:r>
                  <a:rPr lang="ko-KR" altLang="en-US" spc="-150" dirty="0" smtClean="0"/>
                  <a:t>만일 </a:t>
                </a:r>
                <a14:m>
                  <m:oMath xmlns:m="http://schemas.openxmlformats.org/officeDocument/2006/math">
                    <m:r>
                      <a:rPr lang="en-US" altLang="ko-KR" i="1" spc="-15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pc="-150" dirty="0" smtClean="0"/>
                  <a:t>이 홀수이면</a:t>
                </a:r>
                <a:r>
                  <a:rPr lang="en-US" altLang="ko-KR" spc="-150" dirty="0" smtClean="0"/>
                  <a:t>, </a:t>
                </a:r>
                <a:r>
                  <a:rPr lang="ko-KR" altLang="en-US" spc="-150" dirty="0" smtClean="0"/>
                  <a:t>중앙에 있는 값은 한 개 </a:t>
                </a:r>
                <a:r>
                  <a:rPr lang="en-US" altLang="ko-KR" spc="-150" dirty="0" smtClean="0"/>
                  <a:t>= </a:t>
                </a:r>
                <a:r>
                  <a:rPr lang="ko-KR" altLang="en-US" spc="-150" dirty="0" smtClean="0"/>
                  <a:t>중앙값</a:t>
                </a:r>
                <a:endParaRPr lang="en-US" altLang="ko-KR" spc="-150" dirty="0" smtClean="0"/>
              </a:p>
              <a:p>
                <a:pPr lvl="1"/>
                <a:r>
                  <a:rPr lang="ko-KR" altLang="en-US" spc="-150" dirty="0" smtClean="0"/>
                  <a:t>만일 </a:t>
                </a:r>
                <a14:m>
                  <m:oMath xmlns:m="http://schemas.openxmlformats.org/officeDocument/2006/math">
                    <m:r>
                      <a:rPr lang="en-US" altLang="ko-KR" i="1" spc="-15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pc="-150" dirty="0" smtClean="0"/>
                  <a:t>이 짝수이면</a:t>
                </a:r>
                <a:r>
                  <a:rPr lang="en-US" altLang="ko-KR" spc="-150" dirty="0" smtClean="0"/>
                  <a:t>, </a:t>
                </a:r>
                <a:r>
                  <a:rPr lang="ko-KR" altLang="en-US" spc="-150" dirty="0" smtClean="0"/>
                  <a:t>중앙에 있는 값은 두 개이고 중앙값은 이 둘의 평균</a:t>
                </a:r>
                <a:endParaRPr lang="ko-KR" altLang="en-US" spc="-15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461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평균과 중앙값의 비교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dirty="0" smtClean="0"/>
                  <a:t>생존 시간 예제 </a:t>
                </a:r>
                <a:r>
                  <a:rPr lang="en-US" altLang="ko-KR" dirty="0" smtClean="0"/>
                  <a:t>: </a:t>
                </a:r>
                <a:r>
                  <a:rPr lang="ko-KR" altLang="en-US" dirty="0" smtClean="0"/>
                  <a:t>이식 수술 후 생존 시간</a:t>
                </a:r>
                <a:endParaRPr lang="en-US" altLang="ko-KR" dirty="0" smtClean="0"/>
              </a:p>
              <a:p>
                <a:pPr lvl="1"/>
                <a:r>
                  <a:rPr lang="en-US" altLang="ko-KR" spc="-150" dirty="0" smtClean="0"/>
                  <a:t>3, 15, </a:t>
                </a:r>
                <a:r>
                  <a:rPr lang="en-US" altLang="ko-KR" spc="-150" dirty="0"/>
                  <a:t>46, </a:t>
                </a:r>
                <a:r>
                  <a:rPr lang="en-US" altLang="ko-KR" spc="-150" dirty="0" smtClean="0"/>
                  <a:t>64, 126,</a:t>
                </a:r>
                <a:r>
                  <a:rPr lang="en-US" altLang="ko-KR" spc="-150" dirty="0"/>
                  <a:t> </a:t>
                </a:r>
                <a:r>
                  <a:rPr lang="en-US" altLang="ko-KR" spc="-150" dirty="0" smtClean="0"/>
                  <a:t>623</a:t>
                </a:r>
              </a:p>
              <a:p>
                <a14:m>
                  <m:oMath xmlns:m="http://schemas.openxmlformats.org/officeDocument/2006/math">
                    <m:r>
                      <a:rPr lang="ko-KR" altLang="en-US" b="0" i="1" spc="-150" dirty="0">
                        <a:latin typeface="Cambria Math" panose="02040503050406030204" pitchFamily="18" charset="0"/>
                      </a:rPr>
                      <m:t>중</m:t>
                    </m:r>
                    <m:r>
                      <a:rPr lang="ko-KR" altLang="en-US" i="1" spc="-150" dirty="0" smtClean="0">
                        <a:latin typeface="Cambria Math" panose="02040503050406030204" pitchFamily="18" charset="0"/>
                      </a:rPr>
                      <m:t>앙</m:t>
                    </m:r>
                    <m:r>
                      <a:rPr lang="ko-KR" altLang="en-US" i="1" spc="-150" dirty="0">
                        <a:latin typeface="Cambria Math" panose="02040503050406030204" pitchFamily="18" charset="0"/>
                      </a:rPr>
                      <m:t>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46+64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=55</m:t>
                    </m:r>
                  </m:oMath>
                </a14:m>
                <a:r>
                  <a:rPr lang="ko-KR" altLang="en-US" dirty="0" smtClean="0"/>
                  <a:t>일</a:t>
                </a:r>
                <a:endParaRPr lang="en-US" altLang="ko-KR" dirty="0" smtClean="0"/>
              </a:p>
              <a:p>
                <a:r>
                  <a:rPr lang="ko-KR" altLang="en-US" dirty="0" smtClean="0"/>
                  <a:t>표본평균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3+15+46+126+623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877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=146.2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ko-KR" altLang="en-US" dirty="0" smtClean="0"/>
                  <a:t>하나의 긴 생존시간 값이 평균을 매우 크게 </a:t>
                </a:r>
                <a:r>
                  <a:rPr lang="ko-KR" altLang="en-US" dirty="0" err="1" smtClean="0"/>
                  <a:t>만듬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여기서 중앙값 </a:t>
                </a:r>
                <a:r>
                  <a:rPr lang="en-US" altLang="ko-KR" dirty="0" smtClean="0"/>
                  <a:t>55</a:t>
                </a:r>
                <a:r>
                  <a:rPr lang="ko-KR" altLang="en-US" dirty="0" smtClean="0"/>
                  <a:t>일은 평균보다 중심의 더 좋은 지표</a:t>
                </a:r>
                <a:endParaRPr lang="en-US" altLang="ko-KR" dirty="0" smtClean="0"/>
              </a:p>
              <a:p>
                <a:r>
                  <a:rPr lang="ko-KR" altLang="en-US" dirty="0" smtClean="0"/>
                  <a:t>중앙값은 몇 개의 매우 작거나 큰 값에 영향을 받지 않지만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평균은 극단적인 값에 상당한 영향을 받는다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극도로 비대칭인 분포에서는 중앙값이 평균보다 합리적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소득분포 등에서는 중앙값으로 요약</a:t>
                </a:r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361" b="-8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537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분위수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 smtClean="0"/>
                  <a:t>사분위수</a:t>
                </a:r>
                <a:r>
                  <a:rPr lang="en-US" altLang="ko-KR" dirty="0" smtClean="0"/>
                  <a:t>(quartile)</a:t>
                </a:r>
              </a:p>
              <a:p>
                <a:pPr lvl="1"/>
                <a:r>
                  <a:rPr lang="ko-KR" altLang="en-US" dirty="0" err="1" smtClean="0"/>
                  <a:t>관측값의</a:t>
                </a:r>
                <a:r>
                  <a:rPr lang="ko-KR" altLang="en-US" dirty="0" smtClean="0"/>
                  <a:t> 수가 매우 큰 경우</a:t>
                </a:r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대체로 </a:t>
                </a:r>
                <a:r>
                  <a:rPr lang="en-US" altLang="ko-KR" dirty="0" smtClean="0"/>
                  <a:t>25 </a:t>
                </a:r>
                <a:r>
                  <a:rPr lang="ko-KR" altLang="en-US" dirty="0" smtClean="0"/>
                  <a:t>또는 </a:t>
                </a:r>
                <a:r>
                  <a:rPr lang="en-US" altLang="ko-KR" dirty="0" smtClean="0"/>
                  <a:t>30</a:t>
                </a:r>
                <a:r>
                  <a:rPr lang="ko-KR" altLang="en-US" dirty="0" smtClean="0"/>
                  <a:t>이상</a:t>
                </a:r>
                <a:r>
                  <a:rPr lang="en-US" altLang="ko-KR" dirty="0" smtClean="0"/>
                  <a:t>), </a:t>
                </a:r>
                <a:r>
                  <a:rPr lang="ko-KR" altLang="en-US" dirty="0" smtClean="0"/>
                  <a:t>데이터를 네 등분하는 값을 찾는 것이 종종 유용</a:t>
                </a:r>
                <a:endParaRPr lang="en-US" altLang="ko-KR" dirty="0" smtClean="0"/>
              </a:p>
              <a:p>
                <a:r>
                  <a:rPr lang="ko-KR" altLang="en-US" dirty="0" smtClean="0"/>
                  <a:t>백분위수</a:t>
                </a:r>
                <a:r>
                  <a:rPr lang="en-US" altLang="ko-KR" dirty="0" smtClean="0"/>
                  <a:t>(percentile)</a:t>
                </a:r>
              </a:p>
              <a:p>
                <a:pPr lvl="1"/>
                <a:r>
                  <a:rPr lang="ko-KR" altLang="en-US" dirty="0" smtClean="0"/>
                  <a:t>표본의 제 </a:t>
                </a:r>
                <a:r>
                  <a:rPr lang="en-US" altLang="ko-KR" dirty="0" smtClean="0"/>
                  <a:t>100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백분위수</a:t>
                </a:r>
                <a:r>
                  <a:rPr lang="en-US" altLang="ko-KR" dirty="0" smtClean="0"/>
                  <a:t>(sample 100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 smtClean="0"/>
                  <a:t>-th percentile)</a:t>
                </a:r>
                <a:r>
                  <a:rPr lang="ko-KR" altLang="en-US" dirty="0" smtClean="0"/>
                  <a:t>는 데이터를 작은 값에서 큰 값 순으로 정렬할 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적어도 </a:t>
                </a:r>
                <a:r>
                  <a:rPr lang="ko-KR" altLang="en-US" dirty="0" err="1" smtClean="0"/>
                  <a:t>관측값의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100p%</a:t>
                </a:r>
                <a:r>
                  <a:rPr lang="ko-KR" altLang="en-US" dirty="0" smtClean="0"/>
                  <a:t>가 이 값보다 작거나 같고 적어도 </a:t>
                </a:r>
                <a:r>
                  <a:rPr lang="en-US" altLang="ko-KR" dirty="0" smtClean="0"/>
                  <a:t>100(1-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 smtClean="0"/>
                  <a:t>)%</a:t>
                </a:r>
                <a:r>
                  <a:rPr lang="ko-KR" altLang="en-US" dirty="0" smtClean="0"/>
                  <a:t>가 이 값보다 크거나 같은 값이다</a:t>
                </a:r>
                <a:r>
                  <a:rPr lang="en-US" altLang="ko-KR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ko-KR" altLang="en-US" dirty="0" smtClean="0"/>
                  <a:t>를 택하면 표본 제 </a:t>
                </a:r>
                <a:r>
                  <a:rPr lang="en-US" altLang="ko-KR" dirty="0" smtClean="0"/>
                  <a:t>100(0.25)=25 </a:t>
                </a:r>
                <a:r>
                  <a:rPr lang="ko-KR" altLang="en-US" dirty="0" smtClean="0"/>
                  <a:t>백분위수는 </a:t>
                </a:r>
                <a:r>
                  <a:rPr lang="ko-KR" altLang="en-US" dirty="0" err="1" smtClean="0"/>
                  <a:t>관측값의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1/4</a:t>
                </a:r>
                <a:r>
                  <a:rPr lang="ko-KR" altLang="en-US" dirty="0" smtClean="0"/>
                  <a:t>이 이 값보다 작거나 같고 </a:t>
                </a:r>
                <a:r>
                  <a:rPr lang="en-US" altLang="ko-KR" dirty="0" smtClean="0"/>
                  <a:t>3/4</a:t>
                </a:r>
                <a:r>
                  <a:rPr lang="ko-KR" altLang="en-US" dirty="0" smtClean="0"/>
                  <a:t>이 이 값보다 크거나 같다</a:t>
                </a:r>
                <a:r>
                  <a:rPr lang="en-US" altLang="ko-KR" dirty="0" smtClean="0"/>
                  <a:t>.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33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표본백분위수 계산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표본의 제 </a:t>
                </a:r>
                <a:r>
                  <a:rPr lang="en-US" altLang="ko-KR" dirty="0" smtClean="0"/>
                  <a:t>100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백분위수 계산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데이터를 작은 것부터 </a:t>
                </a:r>
                <a:r>
                  <a:rPr lang="ko-KR" altLang="en-US" dirty="0" err="1" smtClean="0"/>
                  <a:t>크기순으로</a:t>
                </a:r>
                <a:r>
                  <a:rPr lang="ko-KR" altLang="en-US" dirty="0" smtClean="0"/>
                  <a:t> 나열한다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표본크기</a:t>
                </a:r>
                <a:r>
                  <a:rPr lang="en-US" altLang="ko-KR" dirty="0" smtClean="0"/>
                  <a:t>)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비율</a:t>
                </a:r>
                <a:r>
                  <a:rPr lang="en-US" altLang="ko-KR" dirty="0" smtClean="0"/>
                  <a:t>)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 smtClean="0"/>
                  <a:t> 구한다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만일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ko-KR" altLang="en-US" dirty="0" smtClean="0"/>
                  <a:t>가 정수가 아니면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다음 정수로 올림하고 그에 대응되는 순서화된 값을 찾는다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만일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ko-KR" altLang="en-US" dirty="0" smtClean="0"/>
                  <a:t>가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dirty="0" smtClean="0"/>
                  <a:t>인 정수이면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dirty="0" smtClean="0"/>
                  <a:t>번째와 </a:t>
                </a:r>
                <a:r>
                  <a:rPr lang="en-US" altLang="ko-KR" dirty="0" smtClean="0"/>
                  <a:t>(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dirty="0" smtClean="0"/>
                  <a:t>)</a:t>
                </a:r>
                <a:r>
                  <a:rPr lang="ko-KR" altLang="en-US" dirty="0" smtClean="0"/>
                  <a:t>번째 순서화된 값의 평균을 구한다</a:t>
                </a:r>
                <a:r>
                  <a:rPr lang="en-US" altLang="ko-KR" dirty="0" smtClean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3280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사분위수와 백분위수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사분위수는 제</a:t>
                </a:r>
                <a:r>
                  <a:rPr lang="en-US" altLang="ko-KR" dirty="0"/>
                  <a:t>25, </a:t>
                </a:r>
                <a:r>
                  <a:rPr lang="ko-KR" altLang="en-US" dirty="0"/>
                  <a:t>제</a:t>
                </a:r>
                <a:r>
                  <a:rPr lang="en-US" altLang="ko-KR" dirty="0"/>
                  <a:t>50, </a:t>
                </a:r>
                <a:r>
                  <a:rPr lang="ko-KR" altLang="en-US" dirty="0"/>
                  <a:t>제</a:t>
                </a:r>
                <a:r>
                  <a:rPr lang="en-US" altLang="ko-KR" dirty="0"/>
                  <a:t>75 </a:t>
                </a:r>
                <a:r>
                  <a:rPr lang="ko-KR" altLang="en-US" dirty="0"/>
                  <a:t>백분위수이다</a:t>
                </a:r>
                <a:r>
                  <a:rPr lang="en-US" altLang="ko-KR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제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사분위수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제</a:t>
                </a:r>
                <a:r>
                  <a:rPr lang="en-US" altLang="ko-KR" dirty="0"/>
                  <a:t>25</a:t>
                </a:r>
                <a:r>
                  <a:rPr lang="ko-KR" altLang="en-US" dirty="0" smtClean="0"/>
                  <a:t>백분위수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 smtClean="0"/>
                  <a:t> 제</a:t>
                </a:r>
                <a:r>
                  <a:rPr lang="en-US" altLang="ko-KR" dirty="0" smtClean="0"/>
                  <a:t>2</a:t>
                </a:r>
                <a:r>
                  <a:rPr lang="ko-KR" altLang="en-US" dirty="0" smtClean="0"/>
                  <a:t>사분위수 </a:t>
                </a:r>
                <a:r>
                  <a:rPr lang="en-US" altLang="ko-KR" dirty="0" smtClean="0"/>
                  <a:t>= </a:t>
                </a:r>
                <a:r>
                  <a:rPr lang="ko-KR" altLang="en-US" dirty="0" smtClean="0"/>
                  <a:t>중앙값 </a:t>
                </a:r>
                <a:r>
                  <a:rPr lang="en-US" altLang="ko-KR" dirty="0" smtClean="0"/>
                  <a:t>= </a:t>
                </a:r>
                <a:r>
                  <a:rPr lang="ko-KR" altLang="en-US" dirty="0" smtClean="0"/>
                  <a:t>제</a:t>
                </a:r>
                <a:r>
                  <a:rPr lang="en-US" altLang="ko-KR" dirty="0" smtClean="0"/>
                  <a:t>50</a:t>
                </a:r>
                <a:r>
                  <a:rPr lang="ko-KR" altLang="en-US" dirty="0" smtClean="0"/>
                  <a:t>백분위수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 smtClean="0"/>
                  <a:t> 제</a:t>
                </a:r>
                <a:r>
                  <a:rPr lang="en-US" altLang="ko-KR" dirty="0" smtClean="0"/>
                  <a:t>3</a:t>
                </a:r>
                <a:r>
                  <a:rPr lang="ko-KR" altLang="en-US" dirty="0" smtClean="0"/>
                  <a:t>사분위수 </a:t>
                </a:r>
                <a:r>
                  <a:rPr lang="en-US" altLang="ko-KR" dirty="0" smtClean="0"/>
                  <a:t>= </a:t>
                </a:r>
                <a:r>
                  <a:rPr lang="ko-KR" altLang="en-US" dirty="0" smtClean="0"/>
                  <a:t>제</a:t>
                </a:r>
                <a:r>
                  <a:rPr lang="en-US" altLang="ko-KR" dirty="0" smtClean="0"/>
                  <a:t>75</a:t>
                </a:r>
                <a:r>
                  <a:rPr lang="ko-KR" altLang="en-US" dirty="0" smtClean="0"/>
                  <a:t>백분위수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33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전화 통화시간 요약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ko-KR" altLang="en-US" dirty="0" smtClean="0"/>
                  <a:t>전화 통화 시간 </a:t>
                </a:r>
                <a:r>
                  <a:rPr lang="en-US" altLang="ko-KR" dirty="0" smtClean="0"/>
                  <a:t>:</a:t>
                </a:r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r>
                  <a:rPr lang="ko-KR" altLang="en-US" dirty="0" smtClean="0"/>
                  <a:t>제</a:t>
                </a:r>
                <a:r>
                  <a:rPr lang="en-US" altLang="ko-KR" dirty="0" smtClean="0"/>
                  <a:t>1</a:t>
                </a:r>
                <a:r>
                  <a:rPr lang="ko-KR" altLang="en-US" dirty="0" smtClean="0"/>
                  <a:t>사분위수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38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×0.25=9.5</m:t>
                    </m:r>
                  </m:oMath>
                </a14:m>
                <a:endParaRPr lang="en-US" altLang="ko-KR" b="0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ko-KR" dirty="0" smtClean="0"/>
                  <a:t>9.5</a:t>
                </a:r>
                <a:r>
                  <a:rPr lang="ko-KR" altLang="en-US" dirty="0" smtClean="0"/>
                  <a:t>는 정수가 아니므로 다음 정수인 </a:t>
                </a:r>
                <a:r>
                  <a:rPr lang="en-US" altLang="ko-KR" dirty="0" smtClean="0"/>
                  <a:t>10</a:t>
                </a:r>
                <a:r>
                  <a:rPr lang="ko-KR" altLang="en-US" dirty="0" smtClean="0"/>
                  <a:t>번째 값 </a:t>
                </a:r>
                <a:r>
                  <a:rPr lang="en-US" altLang="ko-KR" dirty="0" smtClean="0"/>
                  <a:t>= 4.4</a:t>
                </a:r>
              </a:p>
              <a:p>
                <a:r>
                  <a:rPr lang="ko-KR" altLang="en-US" dirty="0" smtClean="0"/>
                  <a:t>중앙값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38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×0.5=19</m:t>
                    </m:r>
                  </m:oMath>
                </a14:m>
                <a:r>
                  <a:rPr lang="en-US" altLang="ko-KR" dirty="0" smtClean="0"/>
                  <a:t>, 19</a:t>
                </a:r>
                <a:r>
                  <a:rPr lang="ko-KR" altLang="en-US" dirty="0" smtClean="0"/>
                  <a:t>는 정수이므로 </a:t>
                </a:r>
                <a:r>
                  <a:rPr lang="en-US" altLang="ko-KR" dirty="0" smtClean="0"/>
                  <a:t>19</a:t>
                </a:r>
                <a:r>
                  <a:rPr lang="ko-KR" altLang="en-US" dirty="0" smtClean="0"/>
                  <a:t>번째 </a:t>
                </a:r>
                <a:r>
                  <a:rPr lang="ko-KR" altLang="en-US" dirty="0" err="1" smtClean="0"/>
                  <a:t>관측값과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20</a:t>
                </a:r>
                <a:r>
                  <a:rPr lang="ko-KR" altLang="en-US" dirty="0" smtClean="0"/>
                  <a:t>번째 </a:t>
                </a:r>
                <a:r>
                  <a:rPr lang="ko-KR" altLang="en-US" dirty="0" err="1" smtClean="0"/>
                  <a:t>관측값의</a:t>
                </a:r>
                <a:r>
                  <a:rPr lang="ko-KR" altLang="en-US" dirty="0" smtClean="0"/>
                  <a:t> 평균</a:t>
                </a:r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(9.3+9.5)/2 =9.4</a:t>
                </a:r>
              </a:p>
              <a:p>
                <a:r>
                  <a:rPr lang="ko-KR" altLang="en-US" dirty="0" smtClean="0"/>
                  <a:t>제</a:t>
                </a:r>
                <a:r>
                  <a:rPr lang="en-US" altLang="ko-KR" dirty="0" smtClean="0"/>
                  <a:t>90</a:t>
                </a:r>
                <a:r>
                  <a:rPr lang="ko-KR" altLang="en-US" dirty="0" smtClean="0"/>
                  <a:t>백분위수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38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×0.90=34.2</m:t>
                    </m:r>
                  </m:oMath>
                </a14:m>
                <a:r>
                  <a:rPr lang="en-US" altLang="ko-KR" b="0" dirty="0" smtClean="0">
                    <a:ea typeface="Cambria Math" panose="02040503050406030204" pitchFamily="18" charset="0"/>
                  </a:rPr>
                  <a:t> </a:t>
                </a:r>
              </a:p>
              <a:p>
                <a:pPr lvl="1"/>
                <a:r>
                  <a:rPr lang="en-US" altLang="ko-KR" dirty="0" smtClean="0">
                    <a:latin typeface="+mn-ea"/>
                  </a:rPr>
                  <a:t>35</a:t>
                </a:r>
                <a:r>
                  <a:rPr lang="ko-KR" altLang="en-US" dirty="0" smtClean="0">
                    <a:latin typeface="+mn-ea"/>
                  </a:rPr>
                  <a:t>번째 값인 </a:t>
                </a:r>
                <a:r>
                  <a:rPr lang="en-US" altLang="ko-KR" dirty="0" smtClean="0">
                    <a:latin typeface="+mn-ea"/>
                  </a:rPr>
                  <a:t>31.7, </a:t>
                </a:r>
                <a:r>
                  <a:rPr lang="ko-KR" altLang="en-US" dirty="0" smtClean="0">
                    <a:latin typeface="+mn-ea"/>
                  </a:rPr>
                  <a:t>오직 </a:t>
                </a:r>
                <a:r>
                  <a:rPr lang="en-US" altLang="ko-KR" dirty="0" smtClean="0">
                    <a:latin typeface="+mn-ea"/>
                  </a:rPr>
                  <a:t>10%</a:t>
                </a:r>
                <a:r>
                  <a:rPr lang="ko-KR" altLang="en-US" dirty="0" smtClean="0">
                    <a:latin typeface="+mn-ea"/>
                  </a:rPr>
                  <a:t>가 통화시간이 </a:t>
                </a:r>
                <a:r>
                  <a:rPr lang="en-US" altLang="ko-KR" dirty="0" smtClean="0">
                    <a:latin typeface="+mn-ea"/>
                  </a:rPr>
                  <a:t>31.7</a:t>
                </a:r>
                <a:r>
                  <a:rPr lang="ko-KR" altLang="en-US" dirty="0" smtClean="0">
                    <a:latin typeface="+mn-ea"/>
                  </a:rPr>
                  <a:t>분 이상 지속된다</a:t>
                </a:r>
                <a:r>
                  <a:rPr lang="en-US" altLang="ko-KR" dirty="0" smtClean="0">
                    <a:latin typeface="+mn-ea"/>
                  </a:rPr>
                  <a:t>.</a:t>
                </a:r>
                <a:endParaRPr lang="en-US" altLang="ko-KR" b="0" dirty="0" smtClean="0">
                  <a:latin typeface="+mn-ea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3501" b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976483"/>
              </p:ext>
            </p:extLst>
          </p:nvPr>
        </p:nvGraphicFramePr>
        <p:xfrm>
          <a:off x="3687806" y="1822450"/>
          <a:ext cx="733442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3442"/>
                <a:gridCol w="733442"/>
                <a:gridCol w="733442"/>
                <a:gridCol w="733442"/>
                <a:gridCol w="733442"/>
                <a:gridCol w="733442"/>
                <a:gridCol w="733442"/>
                <a:gridCol w="733442"/>
                <a:gridCol w="733442"/>
                <a:gridCol w="733442"/>
              </a:tblGrid>
              <a:tr h="3558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4.4</a:t>
                      </a:r>
                      <a:endParaRPr lang="ko-KR" altLang="en-US" dirty="0"/>
                    </a:p>
                  </a:txBody>
                  <a:tcPr/>
                </a:tc>
              </a:tr>
              <a:tr h="3558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4.5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4.5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5.9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7.1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7.4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7.5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7.7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8.6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9.3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9.5</a:t>
                      </a:r>
                      <a:endParaRPr lang="ko-KR" altLang="en-US" dirty="0"/>
                    </a:p>
                  </a:txBody>
                  <a:tcPr/>
                </a:tc>
              </a:tr>
              <a:tr h="3558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12.7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15.3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15.5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15.9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15.9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16.1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16.5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17.5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18.3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19.0</a:t>
                      </a:r>
                      <a:endParaRPr lang="ko-KR" altLang="en-US" dirty="0"/>
                    </a:p>
                  </a:txBody>
                  <a:tcPr/>
                </a:tc>
              </a:tr>
              <a:tr h="3558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19.4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22.5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23.5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24.0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31.7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32.8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43.5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53.3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25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변이 측도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데이터의 중심 위치와 함께 중심 주변에 데이터가 흩어져 있는 정도를 수치적으로 측정하는 것이 중요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두 데이터가 중심의 위치가 비슷하더라도 데이터의 흩어진 정도가 다를 수 있음</a:t>
                </a:r>
                <a:endParaRPr lang="en-US" altLang="ko-KR" dirty="0" smtClean="0"/>
              </a:p>
              <a:p>
                <a:r>
                  <a:rPr lang="ko-KR" altLang="en-US" dirty="0" smtClean="0"/>
                  <a:t>표본평균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dirty="0" smtClean="0"/>
                  <a:t> 중심 측도이므로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이 중심에 대한 각 데이터의 변이는 평균과의 편차로 표현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ko-KR" altLang="en-US">
                        <a:latin typeface="Cambria Math" panose="02040503050406030204" pitchFamily="18" charset="0"/>
                      </a:rPr>
                      <m:t>편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차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관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측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−(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표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본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평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altLang="ko-KR" dirty="0" smtClean="0"/>
              </a:p>
              <a:p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230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편차의 계산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dirty="0" smtClean="0"/>
                  <a:t>데이터 집합 </a:t>
                </a:r>
                <a:r>
                  <a:rPr lang="en-US" altLang="ko-KR" dirty="0" smtClean="0"/>
                  <a:t>: 3, 5, 7, 7, 8</a:t>
                </a:r>
              </a:p>
              <a:p>
                <a:pPr lvl="1"/>
                <a:r>
                  <a:rPr lang="ko-KR" altLang="en-US" dirty="0" smtClean="0"/>
                  <a:t>평균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3+5+7+7+8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altLang="ko-KR" b="0" dirty="0" smtClean="0"/>
              </a:p>
              <a:p>
                <a:r>
                  <a:rPr lang="ko-KR" altLang="en-US" dirty="0" smtClean="0"/>
                  <a:t>편차의 계산</a:t>
                </a:r>
                <a:endParaRPr lang="en-US" altLang="ko-KR" dirty="0" smtClean="0"/>
              </a:p>
              <a:p>
                <a:endParaRPr lang="en-US" altLang="ko-KR" b="0" dirty="0"/>
              </a:p>
              <a:p>
                <a:endParaRPr lang="en-US" altLang="ko-KR" dirty="0" smtClean="0"/>
              </a:p>
              <a:p>
                <a:endParaRPr lang="en-US" altLang="ko-KR" b="0" dirty="0"/>
              </a:p>
              <a:p>
                <a:endParaRPr lang="en-US" altLang="ko-KR" dirty="0" smtClean="0"/>
              </a:p>
              <a:p>
                <a:endParaRPr lang="en-US" altLang="ko-KR" b="0" dirty="0"/>
              </a:p>
              <a:p>
                <a:r>
                  <a:rPr lang="ko-KR" altLang="en-US" dirty="0" smtClean="0"/>
                  <a:t>총 편차의 합은 </a:t>
                </a:r>
                <a:r>
                  <a:rPr lang="en-US" altLang="ko-KR" dirty="0" smtClean="0"/>
                  <a:t>0</a:t>
                </a:r>
                <a:r>
                  <a:rPr lang="ko-KR" altLang="en-US" dirty="0" smtClean="0"/>
                  <a:t>이 된다</a:t>
                </a:r>
                <a:r>
                  <a:rPr lang="en-US" altLang="ko-KR" dirty="0" smtClean="0"/>
                  <a:t>.</a:t>
                </a:r>
                <a:endParaRPr lang="en-US" altLang="ko-KR" b="0" dirty="0" smtClean="0"/>
              </a:p>
              <a:p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361" b="-2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7315198"/>
                  </p:ext>
                </p:extLst>
              </p:nvPr>
            </p:nvGraphicFramePr>
            <p:xfrm>
              <a:off x="1702486" y="3273394"/>
              <a:ext cx="535734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8671"/>
                    <a:gridCol w="2678671"/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err="1" smtClean="0"/>
                            <a:t>관측값</a:t>
                          </a:r>
                          <a:r>
                            <a:rPr lang="ko-KR" altLang="en-US" dirty="0" smtClean="0"/>
                            <a:t> </a:t>
                          </a:r>
                          <a:r>
                            <a:rPr lang="en-US" altLang="ko-KR" dirty="0" smtClean="0"/>
                            <a:t>x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편차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-3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-1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7315198"/>
                  </p:ext>
                </p:extLst>
              </p:nvPr>
            </p:nvGraphicFramePr>
            <p:xfrm>
              <a:off x="1702486" y="3273394"/>
              <a:ext cx="535734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8671"/>
                    <a:gridCol w="2678671"/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err="1" smtClean="0"/>
                            <a:t>관측값</a:t>
                          </a:r>
                          <a:r>
                            <a:rPr lang="ko-KR" altLang="en-US" dirty="0" smtClean="0"/>
                            <a:t> </a:t>
                          </a:r>
                          <a:r>
                            <a:rPr lang="en-US" altLang="ko-KR" dirty="0" smtClean="0"/>
                            <a:t>x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227" t="-8197" r="-909" b="-5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-3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-1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7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09230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 분산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변이의 측도를 얻기 위해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편차의 부호를 제거하고 평균을 구함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부호를 제거하는 방법으로 제곱을 사용</a:t>
                </a:r>
                <a:endParaRPr lang="en-US" altLang="ko-KR" dirty="0" smtClean="0"/>
              </a:p>
              <a:p>
                <a:pPr lvl="1"/>
                <a:endParaRPr lang="en-US" altLang="ko-KR" dirty="0"/>
              </a:p>
              <a:p>
                <a:r>
                  <a:rPr lang="en-US" altLang="ko-KR" dirty="0" smtClean="0"/>
                  <a:t>n</a:t>
                </a:r>
                <a:r>
                  <a:rPr lang="ko-KR" altLang="en-US" dirty="0" smtClean="0"/>
                  <a:t>개 </a:t>
                </a:r>
                <a:r>
                  <a:rPr lang="ko-KR" altLang="en-US" dirty="0" err="1" smtClean="0"/>
                  <a:t>관측값의</a:t>
                </a:r>
                <a:r>
                  <a:rPr lang="ko-KR" altLang="en-US" dirty="0" smtClean="0"/>
                  <a:t> 표본분산</a:t>
                </a:r>
                <a:r>
                  <a:rPr lang="en-US" altLang="ko-KR" dirty="0" smtClean="0"/>
                  <a:t>(sample variance)</a:t>
                </a:r>
              </a:p>
              <a:p>
                <a:pPr lvl="1"/>
                <a:r>
                  <a:rPr lang="ko-KR" altLang="en-US" dirty="0" smtClean="0"/>
                  <a:t>편차를 제곱하여 모두 합한 후 </a:t>
                </a:r>
                <a:r>
                  <a:rPr lang="ko-KR" altLang="en-US" dirty="0" err="1" smtClean="0"/>
                  <a:t>관측값의</a:t>
                </a:r>
                <a:r>
                  <a:rPr lang="ko-KR" altLang="en-US" dirty="0" smtClean="0"/>
                  <a:t> 개수에서 </a:t>
                </a:r>
                <a:r>
                  <a:rPr lang="en-US" altLang="ko-KR" dirty="0" smtClean="0"/>
                  <a:t>1</a:t>
                </a:r>
                <a:r>
                  <a:rPr lang="ko-KR" altLang="en-US" dirty="0" smtClean="0"/>
                  <a:t>을 뺀 수로 나눔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endParaRPr lang="en-US" altLang="ko-KR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편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차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제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곱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의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합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altLang="ko-KR" dirty="0" smtClean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4320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 분산의 계산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r>
                  <a:rPr lang="ko-KR" altLang="en-US" dirty="0" smtClean="0"/>
                  <a:t>표본 분산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5−1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표본 분산에서 나누는 수는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이 아닌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dirty="0" smtClean="0"/>
                  <a:t>, </a:t>
                </a:r>
              </a:p>
              <a:p>
                <a:pPr lvl="1"/>
                <a:r>
                  <a:rPr lang="ko-KR" altLang="en-US" dirty="0" smtClean="0"/>
                  <a:t>나누는 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dirty="0" smtClean="0"/>
                  <a:t>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관련된 </a:t>
                </a:r>
                <a:r>
                  <a:rPr lang="ko-KR" altLang="en-US" dirty="0" err="1" smtClean="0"/>
                  <a:t>자유도라</a:t>
                </a:r>
                <a:r>
                  <a:rPr lang="ko-KR" altLang="en-US" dirty="0" smtClean="0"/>
                  <a:t> 한다</a:t>
                </a:r>
                <a:r>
                  <a:rPr lang="en-US" altLang="ko-KR" dirty="0" smtClean="0"/>
                  <a:t>.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546015"/>
                  </p:ext>
                </p:extLst>
              </p:nvPr>
            </p:nvGraphicFramePr>
            <p:xfrm>
              <a:off x="1359243" y="1690687"/>
              <a:ext cx="7479958" cy="2749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29647"/>
                    <a:gridCol w="2044540"/>
                    <a:gridCol w="2019506"/>
                    <a:gridCol w="2086265"/>
                  </a:tblGrid>
                  <a:tr h="344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err="1" smtClean="0"/>
                            <a:t>관측값</a:t>
                          </a:r>
                          <a:r>
                            <a:rPr lang="ko-KR" altLang="en-US" sz="1600" dirty="0" smtClean="0"/>
                            <a:t> </a:t>
                          </a:r>
                          <a:r>
                            <a:rPr lang="en-US" altLang="ko-KR" sz="1600" dirty="0" smtClean="0"/>
                            <a:t>x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편차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oMath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편차</a:t>
                          </a:r>
                          <a:r>
                            <a:rPr lang="en-US" altLang="ko-KR" sz="1600" baseline="30000" dirty="0" smtClean="0"/>
                            <a:t>2  </a:t>
                          </a:r>
                          <a:r>
                            <a:rPr lang="ko-KR" altLang="en-US" sz="1600" dirty="0" smtClean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6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6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US" altLang="ko-KR" sz="16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16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6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7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7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8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합계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16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ko-KR" alt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nary>
                            </m:oMath>
                          </a14:m>
                          <a:r>
                            <a:rPr lang="ko-KR" altLang="en-US" sz="1600" dirty="0" smtClean="0"/>
                            <a:t> 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ko-KR" alt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r>
                            <a:rPr lang="ko-KR" altLang="en-US" sz="1600" dirty="0" smtClean="0"/>
                            <a:t> 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ko-KR" alt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oMath>
                          </a14:m>
                          <a:r>
                            <a:rPr lang="ko-KR" altLang="en-US" sz="1600" dirty="0" smtClean="0"/>
                            <a:t> 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546015"/>
                  </p:ext>
                </p:extLst>
              </p:nvPr>
            </p:nvGraphicFramePr>
            <p:xfrm>
              <a:off x="1359243" y="1690687"/>
              <a:ext cx="7479958" cy="27495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29647"/>
                    <a:gridCol w="2044540"/>
                    <a:gridCol w="2019506"/>
                    <a:gridCol w="2086265"/>
                  </a:tblGrid>
                  <a:tr h="344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err="1" smtClean="0"/>
                            <a:t>관측값</a:t>
                          </a:r>
                          <a:r>
                            <a:rPr lang="ko-KR" altLang="en-US" sz="1600" dirty="0" smtClean="0"/>
                            <a:t> </a:t>
                          </a:r>
                          <a:r>
                            <a:rPr lang="en-US" altLang="ko-KR" sz="1600" dirty="0" smtClean="0"/>
                            <a:t>x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7169" t="-5263" r="-104518" b="-859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58601" t="-5263" r="-1166" b="-859649"/>
                          </a:stretch>
                        </a:blipFill>
                      </a:tcPr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9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7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7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8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합계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16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43564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5179" t="-712500" r="-202083" b="-16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7169" t="-712500" r="-104518" b="-16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58601" t="-712500" r="-1166" b="-16964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065469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 smtClean="0"/>
              <a:t>표본표준편차</a:t>
            </a:r>
            <a:r>
              <a:rPr lang="en-US" altLang="ko-KR" sz="4000" dirty="0" smtClean="0"/>
              <a:t>(Sample Standard deviation)</a:t>
            </a:r>
            <a:endParaRPr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분산은 제곱의 합으로 얻어지므로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그 단위가 원래 측정치 단위의 제곱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데이터가 파운드로 측정되면 분산은 </a:t>
                </a:r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파운드</a:t>
                </a:r>
                <a:r>
                  <a:rPr lang="en-US" altLang="ko-KR" dirty="0" smtClean="0"/>
                  <a:t>)</a:t>
                </a:r>
                <a:r>
                  <a:rPr lang="en-US" altLang="ko-KR" baseline="30000" dirty="0" smtClean="0"/>
                  <a:t>2</a:t>
                </a:r>
              </a:p>
              <a:p>
                <a:r>
                  <a:rPr lang="ko-KR" altLang="en-US" dirty="0" smtClean="0"/>
                  <a:t>표본표준편차</a:t>
                </a:r>
                <a:endParaRPr lang="en-US" altLang="ko-KR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분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산</m:t>
                          </m:r>
                        </m:e>
                      </m:ra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altLang="ko-KR" dirty="0" smtClean="0"/>
              </a:p>
              <a:p>
                <a:r>
                  <a:rPr lang="ko-KR" altLang="en-US" dirty="0" smtClean="0"/>
                  <a:t>앞의 예제에서 분산</a:t>
                </a:r>
                <a:r>
                  <a:rPr lang="en-US" altLang="ko-KR" dirty="0" smtClean="0"/>
                  <a:t>=4</a:t>
                </a:r>
                <a:r>
                  <a:rPr lang="ko-KR" altLang="en-US" dirty="0" smtClean="0"/>
                  <a:t>이었으므로 표준편차는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=2.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553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표분분산에</a:t>
            </a:r>
            <a:r>
              <a:rPr lang="ko-KR" altLang="en-US" dirty="0" smtClean="0"/>
              <a:t> 대한 다른 공식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표본분산에 대한 제</a:t>
                </a:r>
                <a:r>
                  <a:rPr lang="en-US" altLang="ko-KR" dirty="0" smtClean="0"/>
                  <a:t>2</a:t>
                </a:r>
                <a:r>
                  <a:rPr lang="ko-KR" altLang="en-US" dirty="0" smtClean="0"/>
                  <a:t>공식</a:t>
                </a:r>
                <a:endParaRPr lang="en-US" altLang="ko-KR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dirty="0" smtClean="0"/>
              </a:p>
              <a:p>
                <a:pPr marL="0" indent="0">
                  <a:buNone/>
                </a:pPr>
                <a:endParaRPr lang="en-US" altLang="ko-KR" dirty="0" smtClean="0"/>
              </a:p>
              <a:p>
                <a:r>
                  <a:rPr lang="ko-KR" altLang="en-US" dirty="0" smtClean="0"/>
                  <a:t>이 공식에서는 각각의 편차를 구할 필요가 없다</a:t>
                </a:r>
                <a:r>
                  <a:rPr lang="en-US" altLang="ko-KR" dirty="0" smtClean="0"/>
                  <a:t>.</a:t>
                </a: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243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 비율과 표준편차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spc="-150" dirty="0" smtClean="0"/>
                  <a:t>표준편차는 평균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pc="-15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spc="-1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ko-KR" altLang="en-US" spc="-150" dirty="0" smtClean="0"/>
                  <a:t>와의 기준 거리를 나타내는 측도로 볼 수 있음</a:t>
                </a:r>
                <a:endParaRPr lang="en-US" altLang="ko-KR" spc="-150" dirty="0" smtClean="0"/>
              </a:p>
              <a:p>
                <a:r>
                  <a:rPr lang="ko-KR" altLang="en-US" dirty="0" smtClean="0"/>
                  <a:t>좌우대칭인 종 모양 분포의 경험적 규칙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근사적으로 데이터의 </a:t>
                </a:r>
                <a:r>
                  <a:rPr lang="en-US" altLang="ko-KR" dirty="0" smtClean="0"/>
                  <a:t>68%</a:t>
                </a:r>
                <a:r>
                  <a:rPr lang="ko-KR" altLang="en-US" dirty="0" smtClean="0"/>
                  <a:t>가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 smtClean="0"/>
                  <a:t>내에 있다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근사적으로 데이터의 </a:t>
                </a:r>
                <a:r>
                  <a:rPr lang="en-US" altLang="ko-KR" dirty="0" smtClean="0"/>
                  <a:t>95%</a:t>
                </a:r>
                <a:r>
                  <a:rPr lang="ko-KR" altLang="en-US" dirty="0" smtClean="0"/>
                  <a:t>가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/>
                  <a:t>내에 있다</a:t>
                </a:r>
                <a:r>
                  <a:rPr lang="en-US" altLang="ko-KR" dirty="0"/>
                  <a:t>.</a:t>
                </a:r>
              </a:p>
              <a:p>
                <a:pPr lvl="1"/>
                <a:r>
                  <a:rPr lang="ko-KR" altLang="en-US" dirty="0" smtClean="0"/>
                  <a:t>근사적으로 </a:t>
                </a:r>
                <a:r>
                  <a:rPr lang="ko-KR" altLang="en-US" dirty="0"/>
                  <a:t>데이터의 </a:t>
                </a:r>
                <a:r>
                  <a:rPr lang="en-US" altLang="ko-KR" dirty="0" smtClean="0"/>
                  <a:t>99.7%</a:t>
                </a:r>
                <a:r>
                  <a:rPr lang="ko-KR" altLang="en-US" dirty="0"/>
                  <a:t>가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/>
                  <a:t>내에 있다</a:t>
                </a:r>
                <a:r>
                  <a:rPr lang="en-US" altLang="ko-KR" dirty="0" smtClean="0"/>
                  <a:t>.</a:t>
                </a:r>
              </a:p>
              <a:p>
                <a:r>
                  <a:rPr lang="ko-KR" altLang="en-US" dirty="0" smtClean="0"/>
                  <a:t>수면시간 예제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=7.18,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=1.28,  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=2.56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 smtClean="0"/>
                  <a:t>서 양쪽으로 표준편차의 </a:t>
                </a:r>
                <a:r>
                  <a:rPr lang="en-US" altLang="ko-KR" dirty="0" smtClean="0"/>
                  <a:t>2</a:t>
                </a:r>
                <a:r>
                  <a:rPr lang="ko-KR" altLang="en-US" dirty="0" smtClean="0"/>
                  <a:t>배만큼 떨어진 값의 구간은</a:t>
                </a:r>
                <a:r>
                  <a:rPr lang="en-US" altLang="ko-KR" dirty="0"/>
                  <a:t/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7.18−2.56=4.62</m:t>
                    </m:r>
                  </m:oMath>
                </a14:m>
                <a:r>
                  <a:rPr lang="ko-KR" altLang="en-US" dirty="0" smtClean="0"/>
                  <a:t>에서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7.18+2.56=9.74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실제로 확인해보면</a:t>
                </a:r>
                <a:r>
                  <a:rPr lang="en-US" altLang="ko-KR" dirty="0" smtClean="0"/>
                  <a:t>, 4.5</a:t>
                </a:r>
                <a:r>
                  <a:rPr lang="ko-KR" altLang="en-US" dirty="0" smtClean="0"/>
                  <a:t>와 </a:t>
                </a:r>
                <a:r>
                  <a:rPr lang="en-US" altLang="ko-KR" dirty="0" smtClean="0"/>
                  <a:t>10.0</a:t>
                </a:r>
                <a:r>
                  <a:rPr lang="ko-KR" altLang="en-US" dirty="0" smtClean="0"/>
                  <a:t>을 제외한 모든 </a:t>
                </a:r>
                <a:r>
                  <a:rPr lang="ko-KR" altLang="en-US" dirty="0" err="1" smtClean="0"/>
                  <a:t>관측값이</a:t>
                </a:r>
                <a:r>
                  <a:rPr lang="ko-KR" altLang="en-US" dirty="0" smtClean="0"/>
                  <a:t> 이 구간에 있음</a:t>
                </a:r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57/59=96.6%</a:t>
                </a:r>
                <a:r>
                  <a:rPr lang="ko-KR" altLang="en-US" dirty="0"/>
                  <a:t>가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두 배 표준편차에 포함됨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361" r="-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3915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다른 변이측도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표본범위</a:t>
            </a:r>
            <a:r>
              <a:rPr lang="en-US" altLang="ko-KR" dirty="0" smtClean="0"/>
              <a:t>(sample range)=</a:t>
            </a:r>
            <a:r>
              <a:rPr lang="ko-KR" altLang="en-US" dirty="0" smtClean="0"/>
              <a:t>가장 큰 </a:t>
            </a:r>
            <a:r>
              <a:rPr lang="ko-KR" altLang="en-US" dirty="0" err="1" smtClean="0"/>
              <a:t>관측값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가장 작은 </a:t>
            </a:r>
            <a:r>
              <a:rPr lang="ko-KR" altLang="en-US" dirty="0" err="1" smtClean="0"/>
              <a:t>관측값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표본사분위범위</a:t>
            </a:r>
            <a:r>
              <a:rPr lang="en-US" altLang="ko-KR" dirty="0" smtClean="0"/>
              <a:t>(sample interquartile range)</a:t>
            </a:r>
          </a:p>
          <a:p>
            <a:pPr lvl="1"/>
            <a:r>
              <a:rPr lang="en-US" altLang="ko-KR" dirty="0" smtClean="0"/>
              <a:t>=</a:t>
            </a:r>
            <a:r>
              <a:rPr lang="ko-KR" altLang="en-US" dirty="0" smtClean="0"/>
              <a:t>제</a:t>
            </a:r>
            <a:r>
              <a:rPr lang="en-US" altLang="ko-KR" dirty="0" smtClean="0"/>
              <a:t>3</a:t>
            </a:r>
            <a:r>
              <a:rPr lang="ko-KR" altLang="en-US" dirty="0" smtClean="0"/>
              <a:t>사분위수</a:t>
            </a:r>
            <a:r>
              <a:rPr lang="en-US" altLang="ko-KR" dirty="0" smtClean="0"/>
              <a:t>-</a:t>
            </a:r>
            <a:r>
              <a:rPr lang="ko-KR" altLang="en-US" dirty="0" smtClean="0"/>
              <a:t>제</a:t>
            </a:r>
            <a:r>
              <a:rPr lang="en-US" altLang="ko-KR" dirty="0" smtClean="0"/>
              <a:t>1</a:t>
            </a:r>
            <a:r>
              <a:rPr lang="ko-KR" altLang="en-US" dirty="0" smtClean="0"/>
              <a:t>사분위수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615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상자그림</a:t>
            </a:r>
            <a:r>
              <a:rPr lang="en-US" altLang="ko-KR" dirty="0" smtClean="0"/>
              <a:t>(boxplot)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사분위수에 포함된 정보를 요약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최소값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dirty="0" smtClean="0"/>
                  <a:t> 최대값</a:t>
                </a:r>
                <a:endParaRPr lang="en-US" altLang="ko-KR" dirty="0" smtClean="0"/>
              </a:p>
              <a:p>
                <a:r>
                  <a:rPr lang="ko-KR" altLang="en-US" dirty="0" smtClean="0"/>
                  <a:t>제</a:t>
                </a:r>
                <a:r>
                  <a:rPr lang="en-US" altLang="ko-KR" dirty="0" smtClean="0"/>
                  <a:t>1</a:t>
                </a:r>
                <a:r>
                  <a:rPr lang="ko-KR" altLang="en-US" dirty="0" smtClean="0"/>
                  <a:t>사분위수에서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중앙값</a:t>
                </a:r>
                <a:r>
                  <a:rPr lang="en-US" altLang="ko-KR" dirty="0" smtClean="0"/>
                  <a:t>,</a:t>
                </a:r>
                <a:r>
                  <a:rPr lang="ko-KR" altLang="en-US" dirty="0" smtClean="0"/>
                  <a:t> 제</a:t>
                </a:r>
                <a:r>
                  <a:rPr lang="en-US" altLang="ko-KR" dirty="0" smtClean="0"/>
                  <a:t>3</a:t>
                </a:r>
                <a:r>
                  <a:rPr lang="ko-KR" altLang="en-US" dirty="0" smtClean="0"/>
                  <a:t>사분위수까지는 직사각형으로 표현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 smtClean="0"/>
                  <a:t>에서 최대값까지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 smtClean="0"/>
                  <a:t>에서 최소값까지는 선분으로 연결</a:t>
                </a:r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806" y="3444856"/>
            <a:ext cx="9006016" cy="327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9016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상자그림 예제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6637278" cy="4351338"/>
          </a:xfrm>
        </p:spPr>
        <p:txBody>
          <a:bodyPr/>
          <a:lstStyle/>
          <a:p>
            <a:r>
              <a:rPr lang="ko-KR" altLang="en-US" dirty="0" smtClean="0"/>
              <a:t>반사광 자료에 대한 상자 그림</a:t>
            </a:r>
            <a:endParaRPr lang="en-US" altLang="ko-KR" dirty="0" smtClean="0"/>
          </a:p>
          <a:p>
            <a:r>
              <a:rPr lang="ko-KR" altLang="en-US" dirty="0" smtClean="0"/>
              <a:t>산림지역이 더 큰 중앙값을 가지며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지역의 중앙값은 도시 지역보다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단위 이상 높다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상자의 높이는 사분범위</a:t>
            </a:r>
            <a:r>
              <a:rPr lang="en-US" altLang="ko-KR" dirty="0" smtClean="0"/>
              <a:t>(IQR)</a:t>
            </a:r>
            <a:r>
              <a:rPr lang="ko-KR" altLang="en-US" dirty="0" smtClean="0"/>
              <a:t>을 나타내며 산림지역 데이터의 </a:t>
            </a:r>
            <a:r>
              <a:rPr lang="en-US" altLang="ko-KR" dirty="0" smtClean="0"/>
              <a:t>IQR</a:t>
            </a:r>
            <a:r>
              <a:rPr lang="ko-KR" altLang="en-US" dirty="0" smtClean="0"/>
              <a:t>이 도시지역 </a:t>
            </a:r>
            <a:r>
              <a:rPr lang="en-US" altLang="ko-KR" dirty="0" smtClean="0"/>
              <a:t>IQR</a:t>
            </a:r>
            <a:r>
              <a:rPr lang="ko-KR" altLang="en-US" dirty="0" smtClean="0"/>
              <a:t>의 두 배 이상이다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478" y="1901628"/>
            <a:ext cx="4001219" cy="450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775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시간 경과에 따른 </a:t>
            </a:r>
            <a:r>
              <a:rPr lang="ko-KR" altLang="en-US" dirty="0" err="1" smtClean="0"/>
              <a:t>관측값의</a:t>
            </a:r>
            <a:r>
              <a:rPr lang="ko-KR" altLang="en-US" dirty="0" smtClean="0"/>
              <a:t> 안정성 확인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통계적 관리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시간에 따라 데이터에 명백한 경향이 없고 특이한 </a:t>
            </a:r>
            <a:r>
              <a:rPr lang="ko-KR" altLang="en-US" dirty="0" err="1" smtClean="0"/>
              <a:t>관측값이</a:t>
            </a:r>
            <a:r>
              <a:rPr lang="ko-KR" altLang="en-US" dirty="0" smtClean="0"/>
              <a:t> 없다고 추측하는 것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이 경우 </a:t>
            </a:r>
            <a:r>
              <a:rPr lang="ko-KR" altLang="en-US" dirty="0" err="1" smtClean="0"/>
              <a:t>관측값을</a:t>
            </a:r>
            <a:r>
              <a:rPr lang="ko-KR" altLang="en-US" dirty="0" smtClean="0"/>
              <a:t> 생성하는 과정이 통계적 관리가 되고 있다고 표현</a:t>
            </a:r>
            <a:endParaRPr lang="en-US" altLang="ko-KR" dirty="0" smtClean="0"/>
          </a:p>
          <a:p>
            <a:r>
              <a:rPr lang="ko-KR" altLang="en-US" dirty="0" err="1" smtClean="0"/>
              <a:t>시도표</a:t>
            </a:r>
            <a:r>
              <a:rPr lang="en-US" altLang="ko-KR" dirty="0" smtClean="0"/>
              <a:t>(time plot) </a:t>
            </a:r>
            <a:r>
              <a:rPr lang="ko-KR" altLang="en-US" dirty="0" smtClean="0"/>
              <a:t>또는 </a:t>
            </a:r>
            <a:r>
              <a:rPr lang="ko-KR" altLang="en-US" dirty="0" err="1" smtClean="0"/>
              <a:t>시계열</a:t>
            </a:r>
            <a:r>
              <a:rPr lang="ko-KR" altLang="en-US" dirty="0" smtClean="0"/>
              <a:t> 그램</a:t>
            </a:r>
            <a:r>
              <a:rPr lang="en-US" altLang="ko-KR" dirty="0" smtClean="0"/>
              <a:t>(time series plot)</a:t>
            </a:r>
          </a:p>
          <a:p>
            <a:pPr lvl="1"/>
            <a:r>
              <a:rPr lang="ko-KR" altLang="en-US" dirty="0" smtClean="0"/>
              <a:t>시간에 따라 </a:t>
            </a:r>
            <a:r>
              <a:rPr lang="ko-KR" altLang="en-US" dirty="0" err="1" smtClean="0"/>
              <a:t>관측값들이</a:t>
            </a:r>
            <a:r>
              <a:rPr lang="ko-KR" altLang="en-US" dirty="0" smtClean="0"/>
              <a:t> 안정되어 있는지 확인하는 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시간에 따라 </a:t>
            </a:r>
            <a:r>
              <a:rPr lang="ko-KR" altLang="en-US" dirty="0" err="1" smtClean="0"/>
              <a:t>관측값들의</a:t>
            </a:r>
            <a:r>
              <a:rPr lang="ko-KR" altLang="en-US" dirty="0" smtClean="0"/>
              <a:t> 변이는 허용하지만 변이의 형태는 동일하길 원함</a:t>
            </a:r>
            <a:endParaRPr lang="en-US" altLang="ko-KR" dirty="0"/>
          </a:p>
          <a:p>
            <a:pPr lvl="1"/>
            <a:r>
              <a:rPr lang="ko-KR" altLang="en-US" spc="-150" dirty="0" smtClean="0"/>
              <a:t>시간에 따라 변이가 증가하거나 감소하지 않으며 형태의 중심이 바뀌지 않아야 함</a:t>
            </a:r>
            <a:endParaRPr lang="en-US" altLang="ko-KR" spc="-150" dirty="0" smtClean="0"/>
          </a:p>
        </p:txBody>
      </p:sp>
    </p:spTree>
    <p:extLst>
      <p:ext uri="{BB962C8B-B14F-4D97-AF65-F5344CB8AC3E}">
        <p14:creationId xmlns:p14="http://schemas.microsoft.com/office/powerpoint/2010/main" val="1989313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초과 근무시간의 </a:t>
            </a:r>
            <a:r>
              <a:rPr lang="ko-KR" altLang="en-US" dirty="0" err="1" smtClean="0"/>
              <a:t>시도표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최근 </a:t>
            </a:r>
            <a:r>
              <a:rPr lang="en-US" altLang="ko-KR" dirty="0"/>
              <a:t>8</a:t>
            </a:r>
            <a:r>
              <a:rPr lang="ko-KR" altLang="en-US" dirty="0"/>
              <a:t>년간 특수 사건에 대한 초과근무 기록</a:t>
            </a:r>
            <a:endParaRPr lang="en-US" altLang="ko-KR" dirty="0"/>
          </a:p>
          <a:p>
            <a:r>
              <a:rPr lang="en-US" altLang="ko-KR" sz="1800" dirty="0"/>
              <a:t>2200, 875, 957, 1758, 868, 398, 1603, 523, 2034, 1136, 5326, 1658, 1945, 344, 807, 1223</a:t>
            </a:r>
            <a:endParaRPr lang="ko-KR" altLang="en-US" sz="1800" dirty="0"/>
          </a:p>
          <a:p>
            <a:r>
              <a:rPr lang="ko-KR" altLang="en-US" dirty="0" smtClean="0"/>
              <a:t>특별한 경향은 없지만 </a:t>
            </a:r>
            <a:r>
              <a:rPr lang="en-US" altLang="ko-KR" dirty="0" smtClean="0"/>
              <a:t>5326</a:t>
            </a:r>
            <a:r>
              <a:rPr lang="ko-KR" altLang="en-US" dirty="0" smtClean="0"/>
              <a:t>시간의 큰 값이 하나 있음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752" y="3166616"/>
            <a:ext cx="7381102" cy="32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엔</a:t>
            </a:r>
            <a:r>
              <a:rPr lang="en-US" altLang="ko-KR" dirty="0" smtClean="0"/>
              <a:t>/</a:t>
            </a:r>
            <a:r>
              <a:rPr lang="ko-KR" altLang="en-US" dirty="0" smtClean="0"/>
              <a:t>달러 환율의 </a:t>
            </a:r>
            <a:r>
              <a:rPr lang="ko-KR" altLang="en-US" dirty="0" err="1" smtClean="0"/>
              <a:t>시도표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04102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강한 하향 추세로 통계적 관리하에 있지 않다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543436"/>
              </p:ext>
            </p:extLst>
          </p:nvPr>
        </p:nvGraphicFramePr>
        <p:xfrm>
          <a:off x="1158782" y="1822450"/>
          <a:ext cx="8981995" cy="1219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95029"/>
                <a:gridCol w="666338"/>
                <a:gridCol w="667719"/>
                <a:gridCol w="667719"/>
                <a:gridCol w="657806"/>
                <a:gridCol w="690923"/>
                <a:gridCol w="690923"/>
                <a:gridCol w="690923"/>
                <a:gridCol w="690923"/>
                <a:gridCol w="690923"/>
                <a:gridCol w="690923"/>
                <a:gridCol w="690923"/>
                <a:gridCol w="690923"/>
              </a:tblGrid>
              <a:tr h="2569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연도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1985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1986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1987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1988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1989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1990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1991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1992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1993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1994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1995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1996</a:t>
                      </a:r>
                      <a:endParaRPr lang="ko-KR" altLang="en-US" sz="1400" dirty="0"/>
                    </a:p>
                  </a:txBody>
                  <a:tcPr/>
                </a:tc>
              </a:tr>
              <a:tr h="2569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환율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238.5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168.4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144.6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128.2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138.1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145.0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134.6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126.8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111.1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102.2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94.0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108.8</a:t>
                      </a:r>
                      <a:endParaRPr lang="ko-KR" altLang="en-US" sz="1400" dirty="0"/>
                    </a:p>
                  </a:txBody>
                  <a:tcPr/>
                </a:tc>
              </a:tr>
              <a:tr h="2569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연도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1997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1998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1999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2000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2001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2002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2003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2004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2005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2006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2007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2008</a:t>
                      </a:r>
                      <a:endParaRPr lang="ko-KR" altLang="en-US" sz="1400" dirty="0"/>
                    </a:p>
                  </a:txBody>
                  <a:tcPr/>
                </a:tc>
              </a:tr>
              <a:tr h="2569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환율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121.1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130.9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113.7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107.8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121.6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125.2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115.9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108.2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110.1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116.3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117.8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103.4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729" y="3173412"/>
            <a:ext cx="7425841" cy="242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2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9978"/>
          </a:xfrm>
        </p:spPr>
        <p:txBody>
          <a:bodyPr/>
          <a:lstStyle/>
          <a:p>
            <a:r>
              <a:rPr lang="ko-KR" altLang="en-US" dirty="0" smtClean="0"/>
              <a:t>관리도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5104"/>
                <a:ext cx="10515600" cy="489185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ko-KR" altLang="en-US" dirty="0" smtClean="0"/>
                  <a:t>생산되는 최종 제품의 품질을 유지하기 위해 품질의 편차를 작게 하는 것이 중요</a:t>
                </a:r>
                <a:endParaRPr lang="en-US" altLang="ko-KR" dirty="0" smtClean="0"/>
              </a:p>
              <a:p>
                <a:pPr lvl="1"/>
                <a:r>
                  <a:rPr lang="ko-KR" altLang="en-US" spc="-150" dirty="0" smtClean="0"/>
                  <a:t>이를 위해 제조업체는 허용 크기</a:t>
                </a:r>
                <a:r>
                  <a:rPr lang="en-US" altLang="ko-KR" spc="-150" dirty="0" smtClean="0"/>
                  <a:t>, </a:t>
                </a:r>
                <a:r>
                  <a:rPr lang="ko-KR" altLang="en-US" spc="-150" dirty="0" smtClean="0"/>
                  <a:t>온도</a:t>
                </a:r>
                <a:r>
                  <a:rPr lang="en-US" altLang="ko-KR" spc="-150" dirty="0" smtClean="0"/>
                  <a:t>, </a:t>
                </a:r>
                <a:r>
                  <a:rPr lang="ko-KR" altLang="en-US" spc="-150" dirty="0" smtClean="0"/>
                  <a:t>기타 여러 변수를 모니터링 하는 것이 필요</a:t>
                </a:r>
                <a:endParaRPr lang="en-US" altLang="ko-KR" spc="-150" dirty="0" smtClean="0"/>
              </a:p>
              <a:p>
                <a:r>
                  <a:rPr lang="ko-KR" altLang="en-US" dirty="0" smtClean="0"/>
                  <a:t>관리도</a:t>
                </a:r>
                <a:r>
                  <a:rPr lang="en-US" altLang="ko-KR" dirty="0" smtClean="0"/>
                  <a:t>(control chart)</a:t>
                </a:r>
              </a:p>
              <a:p>
                <a:pPr lvl="1"/>
                <a:r>
                  <a:rPr lang="ko-KR" altLang="en-US" dirty="0" err="1" smtClean="0"/>
                  <a:t>시도표에</a:t>
                </a:r>
                <a:r>
                  <a:rPr lang="ko-KR" altLang="en-US" dirty="0" smtClean="0"/>
                  <a:t> 중심선</a:t>
                </a:r>
                <a:r>
                  <a:rPr lang="en-US" altLang="ko-KR" dirty="0" smtClean="0"/>
                  <a:t>(centerline)</a:t>
                </a:r>
                <a:r>
                  <a:rPr lang="ko-KR" altLang="en-US" dirty="0" smtClean="0"/>
                  <a:t>과 관리한계</a:t>
                </a:r>
                <a:r>
                  <a:rPr lang="en-US" altLang="ko-KR" dirty="0" smtClean="0"/>
                  <a:t>(control limit)</a:t>
                </a:r>
                <a:r>
                  <a:rPr lang="ko-KR" altLang="en-US" dirty="0" smtClean="0"/>
                  <a:t>을 추가하여 </a:t>
                </a:r>
                <a:r>
                  <a:rPr lang="ko-KR" altLang="en-US" dirty="0" err="1" smtClean="0"/>
                  <a:t>이상치와</a:t>
                </a:r>
                <a:r>
                  <a:rPr lang="ko-KR" altLang="en-US" dirty="0" smtClean="0"/>
                  <a:t> 경향을 시각적으로 검사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관리도 그리는 순서</a:t>
                </a:r>
                <a:endParaRPr lang="en-US" altLang="ko-KR" dirty="0" smtClean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ko-KR" altLang="en-US" dirty="0" smtClean="0"/>
                  <a:t>시간 순서에 따른 </a:t>
                </a:r>
                <a:r>
                  <a:rPr lang="ko-KR" altLang="en-US" dirty="0" err="1" smtClean="0"/>
                  <a:t>관측값들을</a:t>
                </a:r>
                <a:r>
                  <a:rPr lang="ko-KR" altLang="en-US" dirty="0" smtClean="0"/>
                  <a:t> 나타냄</a:t>
                </a:r>
                <a:endParaRPr lang="en-US" altLang="ko-KR" dirty="0" smtClean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ko-KR" altLang="en-US" dirty="0" smtClean="0"/>
                  <a:t>표본평균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ko-KR" altLang="en-US" dirty="0" smtClean="0"/>
                  <a:t>의 값에 중심선을 실선으로 그린다</a:t>
                </a:r>
                <a:r>
                  <a:rPr lang="en-US" altLang="ko-KR" dirty="0" smtClean="0"/>
                  <a:t>.</a:t>
                </a:r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dirty="0" smtClean="0"/>
                  <a:t>의 관리한계에 대해 점선을 그린다</a:t>
                </a:r>
                <a:r>
                  <a:rPr lang="en-US" altLang="ko-KR" dirty="0" smtClean="0"/>
                  <a:t>.</a:t>
                </a:r>
              </a:p>
              <a:p>
                <a:r>
                  <a:rPr lang="ko-KR" altLang="en-US" dirty="0" smtClean="0"/>
                  <a:t>만일 </a:t>
                </a:r>
                <a:r>
                  <a:rPr lang="ko-KR" altLang="en-US" dirty="0" err="1" smtClean="0"/>
                  <a:t>관측값들이</a:t>
                </a:r>
                <a:r>
                  <a:rPr lang="ko-KR" altLang="en-US" dirty="0" smtClean="0"/>
                  <a:t> 시간에 따라 안정되도록 통계적 관리하에 있다면 매우 일부만이 관리한계를 벗어날 것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실제로는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±3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dirty="0" smtClean="0"/>
                  <a:t>를 많이 사용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5104"/>
                <a:ext cx="10515600" cy="4891859"/>
              </a:xfrm>
              <a:blipFill rotWithShape="0">
                <a:blip r:embed="rId2"/>
                <a:stretch>
                  <a:fillRect l="-928" t="-27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88741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초과시간에 대한 관리도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=1478,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=1183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관리상한 </a:t>
                </a:r>
                <a:r>
                  <a:rPr lang="en-US" altLang="ko-KR" dirty="0" smtClean="0"/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=3844</m:t>
                    </m:r>
                  </m:oMath>
                </a14:m>
                <a:r>
                  <a:rPr lang="en-US" altLang="ko-KR" dirty="0" smtClean="0"/>
                  <a:t> 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740527"/>
            <a:ext cx="8069668" cy="357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72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현명하게 통계 사용하기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000" dirty="0" smtClean="0"/>
              <a:t>첫 번째 단계로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데이터의 전반적인 형태를 가늠하기 위한 </a:t>
            </a:r>
            <a:r>
              <a:rPr lang="ko-KR" altLang="en-US" sz="2000" dirty="0" err="1" smtClean="0"/>
              <a:t>점도표나</a:t>
            </a:r>
            <a:r>
              <a:rPr lang="ko-KR" altLang="en-US" sz="2000" dirty="0" smtClean="0"/>
              <a:t> 히스토그램 작성</a:t>
            </a:r>
            <a:endParaRPr lang="en-US" altLang="ko-KR" sz="2000" dirty="0" smtClean="0"/>
          </a:p>
          <a:p>
            <a:r>
              <a:rPr lang="ko-KR" altLang="en-US" sz="2000" dirty="0" smtClean="0"/>
              <a:t>서로 다른 계급 구간을 갖는 히스토그램을 비교할 때는 상대도수를 구간의 너비로 나눈 값을 높이로 가지는 히스토그램 작성</a:t>
            </a:r>
            <a:endParaRPr lang="en-US" altLang="ko-KR" sz="2000" dirty="0" smtClean="0"/>
          </a:p>
          <a:p>
            <a:r>
              <a:rPr lang="ko-KR" altLang="en-US" sz="2000" dirty="0" smtClean="0"/>
              <a:t>데이터 집합을 설명하기 위한 요약 통계 계산</a:t>
            </a:r>
            <a:r>
              <a:rPr lang="en-US" altLang="ko-KR" sz="2000" dirty="0" smtClean="0"/>
              <a:t>.</a:t>
            </a:r>
          </a:p>
          <a:p>
            <a:pPr lvl="1"/>
            <a:r>
              <a:rPr lang="ko-KR" altLang="en-US" sz="1800" dirty="0" smtClean="0"/>
              <a:t>항상 표본평균과 표준편차 계산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최소값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제</a:t>
            </a:r>
            <a:r>
              <a:rPr lang="en-US" altLang="ko-KR" sz="1800" dirty="0" smtClean="0"/>
              <a:t>1</a:t>
            </a:r>
            <a:r>
              <a:rPr lang="ko-KR" altLang="en-US" sz="1800" dirty="0" smtClean="0"/>
              <a:t>사분위수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중앙값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제</a:t>
            </a:r>
            <a:r>
              <a:rPr lang="en-US" altLang="ko-KR" sz="1800" dirty="0" smtClean="0"/>
              <a:t>3</a:t>
            </a:r>
            <a:r>
              <a:rPr lang="ko-KR" altLang="en-US" sz="1800" dirty="0" smtClean="0"/>
              <a:t>사분위수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최대값은 표본의 크기가 적당히 클 때 추가적인 요약을 제공</a:t>
            </a:r>
            <a:endParaRPr lang="en-US" altLang="ko-KR" sz="1800" dirty="0" smtClean="0"/>
          </a:p>
          <a:p>
            <a:pPr lvl="2"/>
            <a:r>
              <a:rPr lang="ko-KR" altLang="en-US" sz="1600" dirty="0" smtClean="0"/>
              <a:t>한 쪽으로 긴 꼬리를 가진 </a:t>
            </a:r>
            <a:r>
              <a:rPr lang="ko-KR" altLang="en-US" sz="1600" dirty="0" err="1" smtClean="0"/>
              <a:t>점도표나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히스트그램의</a:t>
            </a:r>
            <a:r>
              <a:rPr lang="ko-KR" altLang="en-US" sz="1600" dirty="0" smtClean="0"/>
              <a:t> 경우를 설명하는데 도움</a:t>
            </a:r>
            <a:endParaRPr lang="en-US" altLang="ko-KR" sz="1600" dirty="0" smtClean="0"/>
          </a:p>
          <a:p>
            <a:r>
              <a:rPr lang="ko-KR" altLang="en-US" sz="2000" dirty="0" smtClean="0"/>
              <a:t>적은 표본이 이상치를 가질 때 중앙값 사용</a:t>
            </a:r>
            <a:endParaRPr lang="en-US" altLang="ko-KR" sz="2000" dirty="0" smtClean="0"/>
          </a:p>
          <a:p>
            <a:r>
              <a:rPr lang="ko-KR" altLang="en-US" sz="2000" dirty="0" smtClean="0"/>
              <a:t>요약 통계 값에 지나친 영향을 줄 수 있는 </a:t>
            </a:r>
            <a:r>
              <a:rPr lang="ko-KR" altLang="en-US" sz="2000" dirty="0" err="1" smtClean="0"/>
              <a:t>특이값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이상치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을 확인하지 않고서는 요약통계를 관례대로 계산하지 않음</a:t>
            </a:r>
            <a:endParaRPr lang="en-US" altLang="ko-KR" sz="2000" dirty="0" smtClean="0"/>
          </a:p>
        </p:txBody>
      </p:sp>
    </p:spTree>
    <p:extLst>
      <p:ext uri="{BB962C8B-B14F-4D97-AF65-F5344CB8AC3E}">
        <p14:creationId xmlns:p14="http://schemas.microsoft.com/office/powerpoint/2010/main" val="233476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1985</Words>
  <Application>Microsoft Office PowerPoint</Application>
  <PresentationFormat>와이드스크린</PresentationFormat>
  <Paragraphs>653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8" baseType="lpstr">
      <vt:lpstr>맑은 고딕</vt:lpstr>
      <vt:lpstr>Arial</vt:lpstr>
      <vt:lpstr>Cambria Math</vt:lpstr>
      <vt:lpstr>Office 테마</vt:lpstr>
      <vt:lpstr>데이터의 정리와 설명</vt:lpstr>
      <vt:lpstr>데이터의 주요 형태</vt:lpstr>
      <vt:lpstr>변수의 종류</vt:lpstr>
      <vt:lpstr>측정형 데이터의 집합 설명</vt:lpstr>
      <vt:lpstr>범주형 데이터</vt:lpstr>
      <vt:lpstr>예제 : 여론 조사</vt:lpstr>
      <vt:lpstr>파레토 다이어그램</vt:lpstr>
      <vt:lpstr>예제 : 손톱 물어뜯는 상황</vt:lpstr>
      <vt:lpstr>이산형 데이터</vt:lpstr>
      <vt:lpstr>예제: 도수분포 만들기</vt:lpstr>
      <vt:lpstr>히스토그램(Histogram)</vt:lpstr>
      <vt:lpstr>연속 변수 데이터</vt:lpstr>
      <vt:lpstr>점도표</vt:lpstr>
      <vt:lpstr>구간의 도수분포</vt:lpstr>
      <vt:lpstr>연속변수에 대한 도수분포 작성</vt:lpstr>
      <vt:lpstr>계급 구간의 선택</vt:lpstr>
      <vt:lpstr>예제: 수면시간에 대한 도수분포</vt:lpstr>
      <vt:lpstr>예제: 수면시간에 대한 도수분포(2)</vt:lpstr>
      <vt:lpstr>도수분포를 히스토그램으로</vt:lpstr>
      <vt:lpstr>줄기-잎 그림(stem-and-leaf display)</vt:lpstr>
      <vt:lpstr>줄기-잎 그림(2)</vt:lpstr>
      <vt:lpstr>중심 측도 - 평균</vt:lpstr>
      <vt:lpstr>표본 중앙값</vt:lpstr>
      <vt:lpstr>평균과 중앙값의 비교</vt:lpstr>
      <vt:lpstr>분위수</vt:lpstr>
      <vt:lpstr>표본백분위수 계산</vt:lpstr>
      <vt:lpstr>사분위수와 백분위수</vt:lpstr>
      <vt:lpstr>예제 : 전화 통화시간 요약</vt:lpstr>
      <vt:lpstr>변이 측도</vt:lpstr>
      <vt:lpstr>편차의 계산</vt:lpstr>
      <vt:lpstr>표본 분산</vt:lpstr>
      <vt:lpstr>표본 분산의 계산</vt:lpstr>
      <vt:lpstr>표본표준편차(Sample Standard deviation)</vt:lpstr>
      <vt:lpstr>표분분산에 대한 다른 공식</vt:lpstr>
      <vt:lpstr>데이터 비율과 표준편차</vt:lpstr>
      <vt:lpstr>다른 변이측도</vt:lpstr>
      <vt:lpstr>상자그림(boxplot)</vt:lpstr>
      <vt:lpstr>상자그림 예제</vt:lpstr>
      <vt:lpstr>시간 경과에 따른 관측값의 안정성 확인</vt:lpstr>
      <vt:lpstr>초과 근무시간의 시도표</vt:lpstr>
      <vt:lpstr>엔/달러 환율의 시도표</vt:lpstr>
      <vt:lpstr>관리도</vt:lpstr>
      <vt:lpstr>초과시간에 대한 관리도</vt:lpstr>
      <vt:lpstr>현명하게 통계 사용하기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데이터의 정리와 설명</dc:title>
  <dc:creator>sw</dc:creator>
  <cp:lastModifiedBy>kyungsub@gmail.com</cp:lastModifiedBy>
  <cp:revision>141</cp:revision>
  <dcterms:created xsi:type="dcterms:W3CDTF">2016-02-26T07:53:50Z</dcterms:created>
  <dcterms:modified xsi:type="dcterms:W3CDTF">2017-02-27T06:14:23Z</dcterms:modified>
</cp:coreProperties>
</file>