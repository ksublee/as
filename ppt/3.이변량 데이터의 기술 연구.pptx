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1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D4FE6-626B-49E2-B428-1CDD35A375E8}" type="datetimeFigureOut">
              <a:rPr lang="ko-KR" altLang="en-US" smtClean="0"/>
              <a:t>2017-02-27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E374-4933-4838-9442-60865D2E23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330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D4FE6-626B-49E2-B428-1CDD35A375E8}" type="datetimeFigureOut">
              <a:rPr lang="ko-KR" altLang="en-US" smtClean="0"/>
              <a:t>2017-02-27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E374-4933-4838-9442-60865D2E23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6869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D4FE6-626B-49E2-B428-1CDD35A375E8}" type="datetimeFigureOut">
              <a:rPr lang="ko-KR" altLang="en-US" smtClean="0"/>
              <a:t>2017-02-27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E374-4933-4838-9442-60865D2E23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5725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D4FE6-626B-49E2-B428-1CDD35A375E8}" type="datetimeFigureOut">
              <a:rPr lang="ko-KR" altLang="en-US" smtClean="0"/>
              <a:t>2017-02-27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E374-4933-4838-9442-60865D2E23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466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D4FE6-626B-49E2-B428-1CDD35A375E8}" type="datetimeFigureOut">
              <a:rPr lang="ko-KR" altLang="en-US" smtClean="0"/>
              <a:t>2017-02-27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E374-4933-4838-9442-60865D2E23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7634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D4FE6-626B-49E2-B428-1CDD35A375E8}" type="datetimeFigureOut">
              <a:rPr lang="ko-KR" altLang="en-US" smtClean="0"/>
              <a:t>2017-02-27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E374-4933-4838-9442-60865D2E23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9341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D4FE6-626B-49E2-B428-1CDD35A375E8}" type="datetimeFigureOut">
              <a:rPr lang="ko-KR" altLang="en-US" smtClean="0"/>
              <a:t>2017-02-27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E374-4933-4838-9442-60865D2E23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0401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D4FE6-626B-49E2-B428-1CDD35A375E8}" type="datetimeFigureOut">
              <a:rPr lang="ko-KR" altLang="en-US" smtClean="0"/>
              <a:t>2017-02-27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E374-4933-4838-9442-60865D2E23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6581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D4FE6-626B-49E2-B428-1CDD35A375E8}" type="datetimeFigureOut">
              <a:rPr lang="ko-KR" altLang="en-US" smtClean="0"/>
              <a:t>2017-02-27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E374-4933-4838-9442-60865D2E23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0180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D4FE6-626B-49E2-B428-1CDD35A375E8}" type="datetimeFigureOut">
              <a:rPr lang="ko-KR" altLang="en-US" smtClean="0"/>
              <a:t>2017-02-27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E374-4933-4838-9442-60865D2E23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654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D4FE6-626B-49E2-B428-1CDD35A375E8}" type="datetimeFigureOut">
              <a:rPr lang="ko-KR" altLang="en-US" smtClean="0"/>
              <a:t>2017-02-27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BE374-4933-4838-9442-60865D2E23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3431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0D4FE6-626B-49E2-B428-1CDD35A375E8}" type="datetimeFigureOut">
              <a:rPr lang="ko-KR" altLang="en-US" smtClean="0"/>
              <a:t>2017-02-27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BE374-4933-4838-9442-60865D2E23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6999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spc="-150" dirty="0" err="1" smtClean="0"/>
              <a:t>이변량</a:t>
            </a:r>
            <a:r>
              <a:rPr lang="ko-KR" altLang="en-US" spc="-150" dirty="0" smtClean="0"/>
              <a:t> 데이터의 기술 연구</a:t>
            </a:r>
            <a:endParaRPr lang="ko-KR" altLang="en-US" spc="-15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8846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4648"/>
          </a:xfrm>
        </p:spPr>
        <p:txBody>
          <a:bodyPr/>
          <a:lstStyle/>
          <a:p>
            <a:r>
              <a:rPr lang="ko-KR" altLang="en-US" dirty="0" smtClean="0"/>
              <a:t>서론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243914"/>
            <a:ext cx="10515600" cy="4933049"/>
          </a:xfrm>
        </p:spPr>
        <p:txBody>
          <a:bodyPr>
            <a:normAutofit/>
          </a:bodyPr>
          <a:lstStyle/>
          <a:p>
            <a:r>
              <a:rPr lang="ko-KR" altLang="en-US" sz="2400" dirty="0" err="1" smtClean="0"/>
              <a:t>이변량</a:t>
            </a:r>
            <a:r>
              <a:rPr lang="en-US" altLang="ko-KR" sz="2400" dirty="0" smtClean="0"/>
              <a:t>(bivariate) </a:t>
            </a:r>
            <a:r>
              <a:rPr lang="ko-KR" altLang="en-US" sz="2400" dirty="0" smtClean="0"/>
              <a:t>혹은 </a:t>
            </a:r>
            <a:r>
              <a:rPr lang="ko-KR" altLang="en-US" sz="2400" dirty="0" err="1" smtClean="0"/>
              <a:t>다변량</a:t>
            </a:r>
            <a:r>
              <a:rPr lang="en-US" altLang="ko-KR" sz="2400" dirty="0" smtClean="0"/>
              <a:t>(multivariate) </a:t>
            </a:r>
            <a:r>
              <a:rPr lang="ko-KR" altLang="en-US" sz="2400" dirty="0" smtClean="0"/>
              <a:t>데이터</a:t>
            </a:r>
            <a:endParaRPr lang="en-US" altLang="ko-KR" sz="2400" dirty="0" smtClean="0"/>
          </a:p>
          <a:p>
            <a:pPr lvl="1"/>
            <a:r>
              <a:rPr lang="ko-KR" altLang="en-US" sz="2000" dirty="0" smtClean="0"/>
              <a:t>개인의 키와 몸무게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또는 한 팀의 득점 수와 실점 수처럼 개별 </a:t>
            </a:r>
            <a:r>
              <a:rPr lang="ko-KR" altLang="en-US" sz="2000" dirty="0" err="1" smtClean="0"/>
              <a:t>표집단위에</a:t>
            </a:r>
            <a:r>
              <a:rPr lang="ko-KR" altLang="en-US" sz="2000" dirty="0" smtClean="0"/>
              <a:t> 대해 두 개 이상의 변수에 대한 </a:t>
            </a:r>
            <a:r>
              <a:rPr lang="ko-KR" altLang="en-US" sz="2000" dirty="0" err="1" smtClean="0"/>
              <a:t>관측값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변수들 사이에 어떤 관계가 존재하는지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관계가 존재한다면 어느 정도 강한지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주된 관심의 대상이 되는 변수가 다른 변수의 값으로부터 어떻게 예측될 수 있는지</a:t>
            </a:r>
            <a:endParaRPr lang="en-US" altLang="ko-KR" sz="2000" dirty="0" smtClean="0"/>
          </a:p>
          <a:p>
            <a:endParaRPr lang="en-US" altLang="ko-KR" sz="2400" dirty="0" smtClean="0"/>
          </a:p>
          <a:p>
            <a:r>
              <a:rPr lang="ko-KR" altLang="en-US" sz="2400" dirty="0" smtClean="0"/>
              <a:t>예</a:t>
            </a:r>
            <a:endParaRPr lang="en-US" altLang="ko-KR" sz="2400" dirty="0" smtClean="0"/>
          </a:p>
          <a:p>
            <a:pPr lvl="1"/>
            <a:r>
              <a:rPr lang="ko-KR" altLang="en-US" sz="2000" dirty="0" smtClean="0"/>
              <a:t>대학교 졸업생의 성별과 직업의 유형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성인 남성의 흡연 습관과 폐활량</a:t>
            </a:r>
            <a:endParaRPr lang="en-US" altLang="ko-KR" sz="2000" dirty="0" smtClean="0"/>
          </a:p>
          <a:p>
            <a:pPr lvl="1"/>
            <a:r>
              <a:rPr lang="en-US" altLang="ko-KR" sz="2000" dirty="0" smtClean="0"/>
              <a:t>10</a:t>
            </a:r>
            <a:r>
              <a:rPr lang="ko-KR" altLang="en-US" sz="2000" dirty="0" smtClean="0"/>
              <a:t>세 된 아이들의 하루 평균 탄수화물과 단백질 섭취량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항공기의 연식과 수리에 걸리는 시간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780132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이변량</a:t>
            </a:r>
            <a:r>
              <a:rPr lang="ko-KR" altLang="en-US" dirty="0" smtClean="0"/>
              <a:t> 범주형 데이터의 요약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분할표</a:t>
            </a:r>
            <a:r>
              <a:rPr lang="en-US" altLang="ko-KR" dirty="0" smtClean="0"/>
              <a:t>(contingency table)</a:t>
            </a:r>
          </a:p>
          <a:p>
            <a:pPr lvl="1"/>
            <a:r>
              <a:rPr lang="ko-KR" altLang="en-US" dirty="0" smtClean="0"/>
              <a:t>각 특성이 질적 범주로 표시될 때</a:t>
            </a:r>
            <a:r>
              <a:rPr lang="en-US" altLang="ko-KR" dirty="0" smtClean="0"/>
              <a:t>, </a:t>
            </a:r>
            <a:r>
              <a:rPr lang="ko-KR" altLang="en-US" dirty="0" smtClean="0"/>
              <a:t>교차 분류된</a:t>
            </a:r>
            <a:r>
              <a:rPr lang="en-US" altLang="ko-KR" dirty="0" smtClean="0"/>
              <a:t>(cross-classified) </a:t>
            </a:r>
            <a:r>
              <a:rPr lang="ko-KR" altLang="en-US" dirty="0" smtClean="0"/>
              <a:t>데이터의 형태로 표현 가능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한 특성의 범주는 왼쪽에</a:t>
            </a:r>
            <a:r>
              <a:rPr lang="en-US" altLang="ko-KR" dirty="0" smtClean="0"/>
              <a:t>, </a:t>
            </a:r>
            <a:r>
              <a:rPr lang="ko-KR" altLang="en-US" dirty="0" smtClean="0"/>
              <a:t>다른 특성의 범주는 위 쪽에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각 칸에 해당 빈도를 기입</a:t>
            </a:r>
            <a:endParaRPr lang="en-US" altLang="ko-KR" dirty="0" smtClean="0"/>
          </a:p>
          <a:p>
            <a:pPr lvl="2"/>
            <a:r>
              <a:rPr lang="ko-KR" altLang="en-US" dirty="0" err="1" smtClean="0"/>
              <a:t>주변합</a:t>
            </a:r>
            <a:r>
              <a:rPr lang="en-US" altLang="ko-KR" dirty="0" smtClean="0"/>
              <a:t>(marginal total) : </a:t>
            </a:r>
            <a:r>
              <a:rPr lang="ko-KR" altLang="en-US" dirty="0" smtClean="0"/>
              <a:t>모든 행에 대한 총 빈도는 오른쪽에</a:t>
            </a:r>
            <a:r>
              <a:rPr lang="en-US" altLang="ko-KR" dirty="0" smtClean="0"/>
              <a:t>, </a:t>
            </a:r>
            <a:r>
              <a:rPr lang="ko-KR" altLang="en-US" dirty="0" smtClean="0"/>
              <a:t>모든 열에 대한 총 빈도는 </a:t>
            </a:r>
            <a:r>
              <a:rPr lang="ko-KR" altLang="en-US" dirty="0" err="1" smtClean="0"/>
              <a:t>아랫쪽에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7011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작업 시간의 교차 분류된 데이터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sz="2000" dirty="0" smtClean="0"/>
              <a:t>빈도</a:t>
            </a:r>
            <a:endParaRPr lang="en-US" altLang="ko-KR" sz="2000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sz="2000" dirty="0" smtClean="0"/>
              <a:t>상대도수</a:t>
            </a:r>
            <a:endParaRPr lang="en-US" altLang="ko-KR" sz="2000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sz="2000" dirty="0" smtClean="0"/>
              <a:t>학년에 의한 상대도수</a:t>
            </a:r>
            <a:endParaRPr lang="en-US" altLang="ko-KR" sz="2000" dirty="0" smtClean="0"/>
          </a:p>
          <a:p>
            <a:endParaRPr lang="en-US" altLang="ko-KR" sz="2000" dirty="0"/>
          </a:p>
          <a:p>
            <a:endParaRPr lang="en-US" altLang="ko-KR" sz="2000" dirty="0" smtClean="0"/>
          </a:p>
          <a:p>
            <a:endParaRPr lang="en-US" altLang="ko-KR" sz="2000" dirty="0"/>
          </a:p>
          <a:p>
            <a:r>
              <a:rPr lang="ko-KR" altLang="en-US" sz="2000" dirty="0" smtClean="0"/>
              <a:t>상급생은 하급생보다 </a:t>
            </a:r>
            <a:r>
              <a:rPr lang="en-US" altLang="ko-KR" sz="2000" dirty="0" smtClean="0"/>
              <a:t>10</a:t>
            </a:r>
            <a:r>
              <a:rPr lang="ko-KR" altLang="en-US" sz="2000" dirty="0" smtClean="0"/>
              <a:t>시간 초과 일을 한 사람이 많다</a:t>
            </a:r>
            <a:r>
              <a:rPr lang="en-US" altLang="ko-KR" sz="2000" dirty="0" smtClean="0"/>
              <a:t>.</a:t>
            </a:r>
          </a:p>
          <a:p>
            <a:r>
              <a:rPr lang="ko-KR" altLang="en-US" sz="2000" dirty="0" smtClean="0"/>
              <a:t>이 차이는 우연인가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실제 차이가 있다고 할 수 있는가</a:t>
            </a:r>
            <a:r>
              <a:rPr lang="en-US" altLang="ko-KR" sz="2000" dirty="0" smtClean="0"/>
              <a:t>?</a:t>
            </a:r>
            <a:r>
              <a:rPr lang="ko-KR" altLang="en-US" sz="2000" dirty="0" smtClean="0"/>
              <a:t> </a:t>
            </a:r>
            <a:endParaRPr lang="ko-KR" altLang="en-US" sz="2000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756266"/>
              </p:ext>
            </p:extLst>
          </p:nvPr>
        </p:nvGraphicFramePr>
        <p:xfrm>
          <a:off x="2541799" y="1794834"/>
          <a:ext cx="588201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435"/>
                <a:gridCol w="1340369"/>
                <a:gridCol w="1176402"/>
                <a:gridCol w="1176402"/>
                <a:gridCol w="1176402"/>
              </a:tblGrid>
              <a:tr h="227675">
                <a:tc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 smtClean="0"/>
                        <a:t>일을 하지 않음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 smtClean="0"/>
                        <a:t>10</a:t>
                      </a:r>
                      <a:r>
                        <a:rPr lang="ko-KR" altLang="en-US" sz="1050" dirty="0" smtClean="0"/>
                        <a:t>시간 이하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 smtClean="0"/>
                        <a:t>10</a:t>
                      </a:r>
                      <a:r>
                        <a:rPr lang="ko-KR" altLang="en-US" sz="1050" dirty="0" smtClean="0"/>
                        <a:t>시간 초과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smtClean="0"/>
                        <a:t>합계</a:t>
                      </a:r>
                      <a:endParaRPr lang="ko-KR" altLang="en-US" sz="1050" dirty="0"/>
                    </a:p>
                  </a:txBody>
                  <a:tcPr/>
                </a:tc>
              </a:tr>
              <a:tr h="22767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 smtClean="0"/>
                        <a:t>하급생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smtClean="0"/>
                        <a:t>132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smtClean="0"/>
                        <a:t>28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smtClean="0"/>
                        <a:t>20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smtClean="0"/>
                        <a:t>180</a:t>
                      </a:r>
                      <a:endParaRPr lang="ko-KR" altLang="en-US" sz="1050" dirty="0"/>
                    </a:p>
                  </a:txBody>
                  <a:tcPr/>
                </a:tc>
              </a:tr>
              <a:tr h="22767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 smtClean="0"/>
                        <a:t>상급생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smtClean="0"/>
                        <a:t>124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smtClean="0"/>
                        <a:t>44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smtClean="0"/>
                        <a:t>52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smtClean="0"/>
                        <a:t>220</a:t>
                      </a:r>
                      <a:endParaRPr lang="ko-KR" altLang="en-US" sz="1050" dirty="0"/>
                    </a:p>
                  </a:txBody>
                  <a:tcPr/>
                </a:tc>
              </a:tr>
              <a:tr h="22767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 smtClean="0"/>
                        <a:t>합계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smtClean="0"/>
                        <a:t>256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smtClean="0"/>
                        <a:t>72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smtClean="0"/>
                        <a:t>72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smtClean="0"/>
                        <a:t>400</a:t>
                      </a:r>
                      <a:endParaRPr lang="ko-KR" altLang="en-US" sz="105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89201"/>
              </p:ext>
            </p:extLst>
          </p:nvPr>
        </p:nvGraphicFramePr>
        <p:xfrm>
          <a:off x="2541799" y="3031723"/>
          <a:ext cx="588201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7218"/>
                <a:gridCol w="1355586"/>
                <a:gridCol w="1176402"/>
                <a:gridCol w="1176402"/>
                <a:gridCol w="1176402"/>
              </a:tblGrid>
              <a:tr h="226213">
                <a:tc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 smtClean="0"/>
                        <a:t>일을 하지 않음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 smtClean="0"/>
                        <a:t>10</a:t>
                      </a:r>
                      <a:r>
                        <a:rPr lang="ko-KR" altLang="en-US" sz="1050" dirty="0" smtClean="0"/>
                        <a:t>시간 이하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 smtClean="0"/>
                        <a:t>10</a:t>
                      </a:r>
                      <a:r>
                        <a:rPr lang="ko-KR" altLang="en-US" sz="1050" dirty="0" smtClean="0"/>
                        <a:t>시간 초과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smtClean="0"/>
                        <a:t>합계</a:t>
                      </a:r>
                      <a:endParaRPr lang="ko-KR" altLang="en-US" sz="1050" dirty="0"/>
                    </a:p>
                  </a:txBody>
                  <a:tcPr/>
                </a:tc>
              </a:tr>
              <a:tr h="22621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 smtClean="0"/>
                        <a:t>하급생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smtClean="0"/>
                        <a:t>0.33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smtClean="0"/>
                        <a:t>0.07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smtClean="0"/>
                        <a:t>0.05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smtClean="0"/>
                        <a:t>0.45</a:t>
                      </a:r>
                      <a:endParaRPr lang="ko-KR" altLang="en-US" sz="1050" dirty="0"/>
                    </a:p>
                  </a:txBody>
                  <a:tcPr/>
                </a:tc>
              </a:tr>
              <a:tr h="22621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 smtClean="0"/>
                        <a:t>상급생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smtClean="0"/>
                        <a:t>0.31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smtClean="0"/>
                        <a:t>0.11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smtClean="0"/>
                        <a:t>0.13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smtClean="0"/>
                        <a:t>0.55</a:t>
                      </a:r>
                      <a:endParaRPr lang="ko-KR" altLang="en-US" sz="1050" dirty="0"/>
                    </a:p>
                  </a:txBody>
                  <a:tcPr/>
                </a:tc>
              </a:tr>
              <a:tr h="22621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 smtClean="0"/>
                        <a:t>합계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smtClean="0"/>
                        <a:t>0.64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smtClean="0"/>
                        <a:t>0.18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smtClean="0"/>
                        <a:t>0.18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 smtClean="0"/>
                        <a:t>1.00</a:t>
                      </a:r>
                      <a:endParaRPr lang="ko-KR" altLang="en-US" sz="105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091351"/>
              </p:ext>
            </p:extLst>
          </p:nvPr>
        </p:nvGraphicFramePr>
        <p:xfrm>
          <a:off x="2541799" y="4401868"/>
          <a:ext cx="5882010" cy="841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862"/>
                <a:gridCol w="1367942"/>
                <a:gridCol w="1176402"/>
                <a:gridCol w="1176402"/>
                <a:gridCol w="1176402"/>
              </a:tblGrid>
              <a:tr h="280590"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/>
                        <a:t>일을 하지 않음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10</a:t>
                      </a:r>
                      <a:r>
                        <a:rPr lang="ko-KR" altLang="en-US" sz="1100" dirty="0" smtClean="0"/>
                        <a:t>시간 이하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10</a:t>
                      </a:r>
                      <a:r>
                        <a:rPr lang="ko-KR" altLang="en-US" sz="1100" dirty="0" smtClean="0"/>
                        <a:t>시간 초과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/>
                        <a:t>합계</a:t>
                      </a:r>
                      <a:endParaRPr lang="ko-KR" altLang="en-US" sz="1100" dirty="0"/>
                    </a:p>
                  </a:txBody>
                  <a:tcPr/>
                </a:tc>
              </a:tr>
              <a:tr h="28059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/>
                        <a:t>하급생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0.733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0.156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0.111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1.000</a:t>
                      </a:r>
                      <a:endParaRPr lang="ko-KR" altLang="en-US" sz="1100" dirty="0"/>
                    </a:p>
                  </a:txBody>
                  <a:tcPr/>
                </a:tc>
              </a:tr>
              <a:tr h="28059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smtClean="0"/>
                        <a:t>상급생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0.564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0.200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0.236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/>
                        <a:t>1.000</a:t>
                      </a:r>
                      <a:endParaRPr lang="ko-KR" altLang="en-US" sz="11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4902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1740"/>
          </a:xfrm>
        </p:spPr>
        <p:txBody>
          <a:bodyPr/>
          <a:lstStyle/>
          <a:p>
            <a:r>
              <a:rPr lang="ko-KR" altLang="en-US" dirty="0" err="1" smtClean="0"/>
              <a:t>심슨의</a:t>
            </a:r>
            <a:r>
              <a:rPr lang="ko-KR" altLang="en-US" dirty="0" smtClean="0"/>
              <a:t> 역설</a:t>
            </a:r>
            <a:r>
              <a:rPr lang="en-US" altLang="ko-KR" dirty="0" smtClean="0"/>
              <a:t>(Simpson's paradox)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416908"/>
            <a:ext cx="10515600" cy="4760055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z="2000" dirty="0" smtClean="0"/>
              <a:t>학교 입학 </a:t>
            </a:r>
            <a:r>
              <a:rPr lang="ko-KR" altLang="en-US" sz="2000" dirty="0" err="1" smtClean="0"/>
              <a:t>허가율</a:t>
            </a:r>
            <a:endParaRPr lang="en-US" altLang="ko-KR" sz="2000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sz="2000" spc="-150" dirty="0" smtClean="0"/>
              <a:t>허가 남성 비율 </a:t>
            </a:r>
            <a:r>
              <a:rPr lang="en-US" altLang="ko-KR" sz="2000" spc="-150" dirty="0" smtClean="0"/>
              <a:t>233/577=0.418</a:t>
            </a:r>
            <a:r>
              <a:rPr lang="ko-KR" altLang="en-US" sz="2000" spc="-150" dirty="0" smtClean="0"/>
              <a:t>은 허가 여성비율 </a:t>
            </a:r>
            <a:r>
              <a:rPr lang="en-US" altLang="ko-KR" sz="2000" spc="-150" dirty="0" smtClean="0"/>
              <a:t>88/282=0.312</a:t>
            </a:r>
            <a:r>
              <a:rPr lang="ko-KR" altLang="en-US" sz="2000" spc="-150" dirty="0" smtClean="0"/>
              <a:t>보다 커 보임</a:t>
            </a:r>
            <a:endParaRPr lang="en-US" altLang="ko-KR" sz="2000" spc="-150" dirty="0" smtClean="0"/>
          </a:p>
          <a:p>
            <a:r>
              <a:rPr lang="ko-KR" altLang="en-US" sz="2000" spc="-150" dirty="0" smtClean="0"/>
              <a:t>학과에 따른 입학 </a:t>
            </a:r>
            <a:r>
              <a:rPr lang="ko-KR" altLang="en-US" sz="2000" spc="-150" dirty="0" err="1" smtClean="0"/>
              <a:t>허가율</a:t>
            </a:r>
            <a:r>
              <a:rPr lang="ko-KR" altLang="en-US" sz="2000" spc="-150" dirty="0" smtClean="0"/>
              <a:t> </a:t>
            </a:r>
            <a:r>
              <a:rPr lang="en-US" altLang="ko-KR" sz="2000" spc="-150" dirty="0" smtClean="0"/>
              <a:t>– </a:t>
            </a:r>
            <a:r>
              <a:rPr lang="ko-KR" altLang="en-US" sz="2000" spc="-150" dirty="0" smtClean="0"/>
              <a:t>기계공학</a:t>
            </a:r>
            <a:r>
              <a:rPr lang="en-US" altLang="ko-KR" sz="2000" spc="-150" dirty="0" smtClean="0"/>
              <a:t>(</a:t>
            </a:r>
            <a:r>
              <a:rPr lang="ko-KR" altLang="en-US" sz="2000" spc="-150" dirty="0" smtClean="0"/>
              <a:t>왼쪽</a:t>
            </a:r>
            <a:r>
              <a:rPr lang="en-US" altLang="ko-KR" sz="2000" spc="-150" dirty="0" smtClean="0"/>
              <a:t>), </a:t>
            </a:r>
            <a:r>
              <a:rPr lang="ko-KR" altLang="en-US" sz="2000" spc="-150" dirty="0" smtClean="0"/>
              <a:t>역사</a:t>
            </a:r>
            <a:r>
              <a:rPr lang="en-US" altLang="ko-KR" sz="2000" spc="-150" dirty="0" smtClean="0"/>
              <a:t>(</a:t>
            </a:r>
            <a:r>
              <a:rPr lang="ko-KR" altLang="en-US" sz="2000" spc="-150" dirty="0" smtClean="0"/>
              <a:t>오른쪽</a:t>
            </a:r>
            <a:r>
              <a:rPr lang="en-US" altLang="ko-KR" sz="2000" spc="-150" dirty="0" smtClean="0"/>
              <a:t>)</a:t>
            </a:r>
          </a:p>
          <a:p>
            <a:endParaRPr lang="en-US" altLang="ko-KR" sz="2000" spc="-150" dirty="0"/>
          </a:p>
          <a:p>
            <a:endParaRPr lang="en-US" altLang="ko-KR" sz="2000" spc="-150" dirty="0" smtClean="0"/>
          </a:p>
          <a:p>
            <a:endParaRPr lang="en-US" altLang="ko-KR" sz="2000" spc="-150" dirty="0"/>
          </a:p>
          <a:p>
            <a:endParaRPr lang="en-US" altLang="ko-KR" sz="2000" spc="-150" dirty="0" smtClean="0"/>
          </a:p>
          <a:p>
            <a:endParaRPr lang="en-US" altLang="ko-KR" sz="2000" spc="-150" dirty="0" smtClean="0"/>
          </a:p>
          <a:p>
            <a:r>
              <a:rPr lang="ko-KR" altLang="en-US" sz="2000" spc="-150" dirty="0" smtClean="0"/>
              <a:t>기계과 </a:t>
            </a:r>
            <a:r>
              <a:rPr lang="ko-KR" altLang="en-US" sz="2000" spc="-150" dirty="0" smtClean="0"/>
              <a:t>남성 </a:t>
            </a:r>
            <a:r>
              <a:rPr lang="ko-KR" altLang="en-US" sz="2000" spc="-150" dirty="0" err="1" smtClean="0"/>
              <a:t>허가율</a:t>
            </a:r>
            <a:r>
              <a:rPr lang="ko-KR" altLang="en-US" sz="2000" spc="-150" dirty="0" smtClean="0"/>
              <a:t> </a:t>
            </a:r>
            <a:r>
              <a:rPr lang="en-US" altLang="ko-KR" sz="2000" spc="-150" dirty="0" smtClean="0"/>
              <a:t>151/186=0.812, </a:t>
            </a:r>
            <a:r>
              <a:rPr lang="ko-KR" altLang="en-US" sz="2000" spc="-150" dirty="0" smtClean="0"/>
              <a:t>여성 </a:t>
            </a:r>
            <a:r>
              <a:rPr lang="ko-KR" altLang="en-US" sz="2000" spc="-150" dirty="0" err="1" smtClean="0"/>
              <a:t>허가율</a:t>
            </a:r>
            <a:r>
              <a:rPr lang="ko-KR" altLang="en-US" sz="2000" spc="-150" dirty="0" smtClean="0"/>
              <a:t> </a:t>
            </a:r>
            <a:r>
              <a:rPr lang="en-US" altLang="ko-KR" sz="2000" spc="-150" dirty="0" smtClean="0"/>
              <a:t>16/18=0.889</a:t>
            </a:r>
          </a:p>
          <a:p>
            <a:r>
              <a:rPr lang="ko-KR" altLang="en-US" sz="2000" spc="-150" dirty="0" err="1" smtClean="0"/>
              <a:t>역사과</a:t>
            </a:r>
            <a:r>
              <a:rPr lang="ko-KR" altLang="en-US" sz="2000" spc="-150" dirty="0" smtClean="0"/>
              <a:t> 남성 </a:t>
            </a:r>
            <a:r>
              <a:rPr lang="ko-KR" altLang="en-US" sz="2000" spc="-150" dirty="0" err="1" smtClean="0"/>
              <a:t>허가율</a:t>
            </a:r>
            <a:r>
              <a:rPr lang="ko-KR" altLang="en-US" sz="2000" spc="-150" dirty="0" smtClean="0"/>
              <a:t> </a:t>
            </a:r>
            <a:r>
              <a:rPr lang="en-US" altLang="ko-KR" sz="2000" spc="-150" dirty="0" smtClean="0"/>
              <a:t>82/371=0.221, </a:t>
            </a:r>
            <a:r>
              <a:rPr lang="ko-KR" altLang="en-US" sz="2000" spc="-150" dirty="0" smtClean="0"/>
              <a:t>여성 </a:t>
            </a:r>
            <a:r>
              <a:rPr lang="ko-KR" altLang="en-US" sz="2000" spc="-150" dirty="0" err="1" smtClean="0"/>
              <a:t>허가율</a:t>
            </a:r>
            <a:r>
              <a:rPr lang="ko-KR" altLang="en-US" sz="2000" spc="-150" dirty="0" smtClean="0"/>
              <a:t> </a:t>
            </a:r>
            <a:r>
              <a:rPr lang="en-US" altLang="ko-KR" sz="2000" spc="-150" dirty="0" smtClean="0"/>
              <a:t>72/264=-.273</a:t>
            </a:r>
            <a:endParaRPr lang="en-US" altLang="ko-KR" sz="1800" spc="-150" dirty="0" smtClean="0"/>
          </a:p>
          <a:p>
            <a:endParaRPr lang="ko-KR" altLang="en-US" sz="2400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217044"/>
              </p:ext>
            </p:extLst>
          </p:nvPr>
        </p:nvGraphicFramePr>
        <p:xfrm>
          <a:off x="3504171" y="1426505"/>
          <a:ext cx="5555048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8762"/>
                <a:gridCol w="1388762"/>
                <a:gridCol w="1388762"/>
                <a:gridCol w="1388762"/>
              </a:tblGrid>
              <a:tr h="281403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허가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불허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총 지원자</a:t>
                      </a:r>
                      <a:endParaRPr lang="ko-KR" altLang="en-US" sz="1400" dirty="0"/>
                    </a:p>
                  </a:txBody>
                  <a:tcPr/>
                </a:tc>
              </a:tr>
              <a:tr h="28140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남자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233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324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557</a:t>
                      </a:r>
                      <a:endParaRPr lang="ko-KR" altLang="en-US" sz="1400" dirty="0"/>
                    </a:p>
                  </a:txBody>
                  <a:tcPr/>
                </a:tc>
              </a:tr>
              <a:tr h="28140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여자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88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194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282</a:t>
                      </a:r>
                      <a:endParaRPr lang="ko-KR" altLang="en-US" sz="1400" dirty="0"/>
                    </a:p>
                  </a:txBody>
                  <a:tcPr/>
                </a:tc>
              </a:tr>
              <a:tr h="28140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합계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321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518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839</a:t>
                      </a:r>
                      <a:endParaRPr lang="ko-KR" altLang="en-US" sz="1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541833"/>
              </p:ext>
            </p:extLst>
          </p:nvPr>
        </p:nvGraphicFramePr>
        <p:xfrm>
          <a:off x="1084993" y="3783175"/>
          <a:ext cx="4838356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9589"/>
                <a:gridCol w="1209589"/>
                <a:gridCol w="1209589"/>
                <a:gridCol w="1209589"/>
              </a:tblGrid>
              <a:tr h="265418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허가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불허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총 지원자</a:t>
                      </a:r>
                      <a:endParaRPr lang="ko-KR" altLang="en-US" sz="1400" dirty="0"/>
                    </a:p>
                  </a:txBody>
                  <a:tcPr/>
                </a:tc>
              </a:tr>
              <a:tr h="2654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남자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151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35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186</a:t>
                      </a:r>
                      <a:endParaRPr lang="ko-KR" altLang="en-US" sz="1400" dirty="0"/>
                    </a:p>
                  </a:txBody>
                  <a:tcPr/>
                </a:tc>
              </a:tr>
              <a:tr h="2654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여자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16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18</a:t>
                      </a:r>
                      <a:endParaRPr lang="ko-KR" altLang="en-US" sz="1400" dirty="0"/>
                    </a:p>
                  </a:txBody>
                  <a:tcPr/>
                </a:tc>
              </a:tr>
              <a:tr h="2654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합계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167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37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204</a:t>
                      </a:r>
                      <a:endParaRPr lang="ko-KR" altLang="en-US" sz="1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1740327"/>
              </p:ext>
            </p:extLst>
          </p:nvPr>
        </p:nvGraphicFramePr>
        <p:xfrm>
          <a:off x="6170142" y="3783175"/>
          <a:ext cx="5371072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2768"/>
                <a:gridCol w="1342768"/>
                <a:gridCol w="1342768"/>
                <a:gridCol w="1342768"/>
              </a:tblGrid>
              <a:tr h="27649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허가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불허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총 지원자</a:t>
                      </a:r>
                      <a:endParaRPr lang="ko-KR" altLang="en-US" sz="1400" dirty="0"/>
                    </a:p>
                  </a:txBody>
                  <a:tcPr/>
                </a:tc>
              </a:tr>
              <a:tr h="27649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남자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82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289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371</a:t>
                      </a:r>
                      <a:endParaRPr lang="ko-KR" altLang="en-US" sz="1400" dirty="0"/>
                    </a:p>
                  </a:txBody>
                  <a:tcPr/>
                </a:tc>
              </a:tr>
              <a:tr h="27649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여자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72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192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264</a:t>
                      </a:r>
                      <a:endParaRPr lang="ko-KR" altLang="en-US" sz="1400" dirty="0"/>
                    </a:p>
                  </a:txBody>
                  <a:tcPr/>
                </a:tc>
              </a:tr>
              <a:tr h="27649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합계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154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481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635</a:t>
                      </a:r>
                      <a:endParaRPr lang="ko-KR" altLang="en-US" sz="1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5940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심슨의</a:t>
            </a:r>
            <a:r>
              <a:rPr lang="ko-KR" altLang="en-US" dirty="0" smtClean="0"/>
              <a:t> 역설</a:t>
            </a:r>
            <a:r>
              <a:rPr lang="en-US" altLang="ko-KR" dirty="0" smtClean="0"/>
              <a:t>(2)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데이터가 몇몇 그룹에서 결합될 때 비교의 반전을 </a:t>
            </a:r>
            <a:r>
              <a:rPr lang="ko-KR" altLang="en-US" dirty="0" err="1" smtClean="0"/>
              <a:t>심슨의</a:t>
            </a:r>
            <a:r>
              <a:rPr lang="ko-KR" altLang="en-US" dirty="0" smtClean="0"/>
              <a:t> 역설이라 </a:t>
            </a:r>
            <a:r>
              <a:rPr lang="ko-KR" altLang="en-US" dirty="0" smtClean="0"/>
              <a:t>함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여러 출처의 데이터가 하나의 표에 집계되었을 때</a:t>
            </a:r>
            <a:r>
              <a:rPr lang="en-US" altLang="ko-KR" dirty="0" smtClean="0"/>
              <a:t>, </a:t>
            </a:r>
            <a:r>
              <a:rPr lang="ko-KR" altLang="en-US" dirty="0" smtClean="0"/>
              <a:t>기록되지 않은 변수가 연구 결과의 반전을 일으킬 위험이 항상 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실제 응용에서 얼마나 많은 </a:t>
            </a:r>
            <a:r>
              <a:rPr lang="ko-KR" altLang="en-US" dirty="0" err="1" smtClean="0"/>
              <a:t>잠복성</a:t>
            </a:r>
            <a:r>
              <a:rPr lang="ko-KR" altLang="en-US" dirty="0" smtClean="0"/>
              <a:t> 변수를 고려해야 하는지 특별한 기준은 없음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7151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9978"/>
          </a:xfrm>
        </p:spPr>
        <p:txBody>
          <a:bodyPr/>
          <a:lstStyle/>
          <a:p>
            <a:r>
              <a:rPr lang="ko-KR" altLang="en-US" dirty="0" smtClean="0"/>
              <a:t>비교를 위한 실험 설계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359243"/>
            <a:ext cx="10515600" cy="4817720"/>
          </a:xfrm>
        </p:spPr>
        <p:txBody>
          <a:bodyPr>
            <a:normAutofit lnSpcReduction="10000"/>
          </a:bodyPr>
          <a:lstStyle/>
          <a:p>
            <a:r>
              <a:rPr lang="ko-KR" altLang="en-US" dirty="0" smtClean="0"/>
              <a:t>패치의 금연 효과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플라시보</a:t>
            </a:r>
            <a:r>
              <a:rPr lang="ko-KR" altLang="en-US" dirty="0" smtClean="0"/>
              <a:t> 효과를 제거하기 위해 절반의 </a:t>
            </a:r>
            <a:r>
              <a:rPr lang="ko-KR" altLang="en-US" dirty="0" err="1" smtClean="0"/>
              <a:t>실험자는</a:t>
            </a:r>
            <a:r>
              <a:rPr lang="ko-KR" altLang="en-US" dirty="0" smtClean="0"/>
              <a:t> 약효 없는 패치 제공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나머지 절반은 약효가 있다고 생각되는 패치 제공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무작위 할당</a:t>
            </a:r>
            <a:r>
              <a:rPr lang="en-US" altLang="ko-KR" dirty="0" smtClean="0"/>
              <a:t>(random assignment)</a:t>
            </a:r>
            <a:r>
              <a:rPr lang="ko-KR" altLang="en-US" dirty="0" smtClean="0"/>
              <a:t>를 통해 두 그룹 지정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이중눈가림실험</a:t>
            </a:r>
            <a:r>
              <a:rPr lang="en-US" altLang="ko-KR" dirty="0" smtClean="0"/>
              <a:t>(double blind trial)</a:t>
            </a:r>
          </a:p>
          <a:p>
            <a:pPr lvl="2"/>
            <a:r>
              <a:rPr lang="ko-KR" altLang="en-US" dirty="0" smtClean="0"/>
              <a:t>의료진과 환자 누가 치료용 패치를 받았는지 모르는 상태에서 실험</a:t>
            </a:r>
            <a:endParaRPr lang="en-US" altLang="ko-KR" dirty="0" smtClean="0"/>
          </a:p>
          <a:p>
            <a:pPr lvl="2"/>
            <a:endParaRPr lang="en-US" altLang="ko-KR" dirty="0"/>
          </a:p>
          <a:p>
            <a:pPr lvl="2"/>
            <a:endParaRPr lang="en-US" altLang="ko-KR" dirty="0" smtClean="0"/>
          </a:p>
          <a:p>
            <a:pPr lvl="2"/>
            <a:endParaRPr lang="en-US" altLang="ko-KR" dirty="0"/>
          </a:p>
          <a:p>
            <a:pPr lvl="2"/>
            <a:endParaRPr lang="en-US" altLang="ko-KR" dirty="0" smtClean="0"/>
          </a:p>
          <a:p>
            <a:pPr lvl="2"/>
            <a:endParaRPr lang="en-US" altLang="ko-KR" dirty="0" smtClean="0"/>
          </a:p>
          <a:p>
            <a:r>
              <a:rPr lang="ko-KR" altLang="en-US" sz="2000" dirty="0" smtClean="0"/>
              <a:t>약용 패치 금연 비율 </a:t>
            </a:r>
            <a:r>
              <a:rPr lang="en-US" altLang="ko-KR" sz="2000" dirty="0" smtClean="0"/>
              <a:t>: 21/57=0.368</a:t>
            </a:r>
          </a:p>
          <a:p>
            <a:r>
              <a:rPr lang="ko-KR" altLang="en-US" sz="2000" dirty="0" smtClean="0"/>
              <a:t>비약용 패치 금연 비율 </a:t>
            </a:r>
            <a:r>
              <a:rPr lang="en-US" altLang="ko-KR" sz="2000" dirty="0" smtClean="0"/>
              <a:t>: 11/55 = 0.200</a:t>
            </a:r>
          </a:p>
          <a:p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903485"/>
              </p:ext>
            </p:extLst>
          </p:nvPr>
        </p:nvGraphicFramePr>
        <p:xfrm>
          <a:off x="2460369" y="3597640"/>
          <a:ext cx="6518876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9719"/>
                <a:gridCol w="1629719"/>
                <a:gridCol w="1629719"/>
                <a:gridCol w="1629719"/>
              </a:tblGrid>
              <a:tr h="25257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금연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흡연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합계</a:t>
                      </a:r>
                      <a:endParaRPr lang="ko-KR" altLang="en-US" sz="1400" dirty="0"/>
                    </a:p>
                  </a:txBody>
                  <a:tcPr/>
                </a:tc>
              </a:tr>
              <a:tr h="2525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약용 패치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36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57</a:t>
                      </a:r>
                      <a:endParaRPr lang="ko-KR" altLang="en-US" sz="1400" dirty="0"/>
                    </a:p>
                  </a:txBody>
                  <a:tcPr/>
                </a:tc>
              </a:tr>
              <a:tr h="2525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비약용 패치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11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44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55</a:t>
                      </a:r>
                      <a:endParaRPr lang="ko-KR" altLang="en-US" sz="1400" dirty="0"/>
                    </a:p>
                  </a:txBody>
                  <a:tcPr/>
                </a:tc>
              </a:tr>
              <a:tr h="252570"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32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80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112</a:t>
                      </a:r>
                      <a:endParaRPr lang="ko-KR" altLang="en-US" sz="1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1621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이변량</a:t>
            </a:r>
            <a:r>
              <a:rPr lang="ko-KR" altLang="en-US" dirty="0" smtClean="0"/>
              <a:t> 측정 데이터의 </a:t>
            </a:r>
            <a:r>
              <a:rPr lang="ko-KR" altLang="en-US" dirty="0" err="1" smtClean="0"/>
              <a:t>산점도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두 변수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dirty="0" smtClean="0"/>
                  <a:t>가 있을 때 </a:t>
                </a:r>
                <a:r>
                  <a:rPr lang="en-US" altLang="ko-KR" dirty="0" smtClean="0"/>
                  <a:t>n</a:t>
                </a:r>
                <a:r>
                  <a:rPr lang="ko-KR" altLang="en-US" dirty="0" smtClean="0"/>
                  <a:t>개의 표본에 대해 측정한 쌍들을 다음과 같이 나타낸다</a:t>
                </a:r>
                <a:r>
                  <a:rPr lang="en-US" altLang="ko-KR" dirty="0" smtClean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⋯,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ko-KR" b="0" dirty="0" smtClean="0">
                  <a:ea typeface="Cambria Math" panose="02040503050406030204" pitchFamily="18" charset="0"/>
                </a:endParaRPr>
              </a:p>
              <a:p>
                <a:r>
                  <a:rPr lang="ko-KR" altLang="en-US" dirty="0" err="1" smtClean="0">
                    <a:latin typeface="+mn-ea"/>
                  </a:rPr>
                  <a:t>이변량</a:t>
                </a:r>
                <a:r>
                  <a:rPr lang="ko-KR" altLang="en-US" dirty="0" smtClean="0">
                    <a:latin typeface="+mn-ea"/>
                  </a:rPr>
                  <a:t> 데이터를 수집하는 목적은 다음과 같다</a:t>
                </a:r>
                <a:endParaRPr lang="en-US" altLang="ko-KR" dirty="0" smtClean="0">
                  <a:latin typeface="+mn-ea"/>
                </a:endParaRPr>
              </a:p>
              <a:p>
                <a:pPr lvl="1"/>
                <a:r>
                  <a:rPr lang="ko-KR" altLang="en-US" b="0" dirty="0" smtClean="0">
                    <a:latin typeface="+mn-ea"/>
                  </a:rPr>
                  <a:t>두 변수는 서로 관련이 있는가</a:t>
                </a:r>
                <a:r>
                  <a:rPr lang="en-US" altLang="ko-KR" b="0" dirty="0" smtClean="0">
                    <a:latin typeface="+mn-ea"/>
                  </a:rPr>
                  <a:t>?</a:t>
                </a:r>
              </a:p>
              <a:p>
                <a:pPr lvl="1"/>
                <a:r>
                  <a:rPr lang="ko-KR" altLang="en-US" dirty="0" smtClean="0">
                    <a:latin typeface="+mn-ea"/>
                  </a:rPr>
                  <a:t>어떤 형태의 관계를 데이터로부터 얻을 수 있는가</a:t>
                </a:r>
                <a:r>
                  <a:rPr lang="en-US" altLang="ko-KR" dirty="0" smtClean="0">
                    <a:latin typeface="+mn-ea"/>
                  </a:rPr>
                  <a:t>?</a:t>
                </a:r>
              </a:p>
              <a:p>
                <a:pPr lvl="1"/>
                <a:r>
                  <a:rPr lang="ko-KR" altLang="en-US" b="0" dirty="0" smtClean="0">
                    <a:latin typeface="+mn-ea"/>
                  </a:rPr>
                  <a:t>그들 관계의 정도를 수치화할 수 있는가</a:t>
                </a:r>
                <a:r>
                  <a:rPr lang="en-US" altLang="ko-KR" b="0" dirty="0" smtClean="0">
                    <a:latin typeface="+mn-ea"/>
                  </a:rPr>
                  <a:t>?</a:t>
                </a:r>
              </a:p>
              <a:p>
                <a:pPr lvl="1"/>
                <a:r>
                  <a:rPr lang="ko-KR" altLang="en-US" dirty="0" smtClean="0">
                    <a:latin typeface="+mn-ea"/>
                  </a:rPr>
                  <a:t>다른 변수로부터 한 변수를 예측할 수 있는가</a:t>
                </a:r>
                <a:r>
                  <a:rPr lang="en-US" altLang="ko-KR" dirty="0" smtClean="0">
                    <a:latin typeface="+mn-ea"/>
                  </a:rPr>
                  <a:t>?</a:t>
                </a:r>
                <a:endParaRPr lang="en-US" altLang="ko-KR" b="0" dirty="0" smtClean="0">
                  <a:latin typeface="+mn-ea"/>
                </a:endParaRPr>
              </a:p>
              <a:p>
                <a:pPr marL="0" indent="0">
                  <a:buNone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8245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산점도</a:t>
            </a:r>
            <a:r>
              <a:rPr lang="en-US" altLang="ko-KR" dirty="0" smtClean="0"/>
              <a:t>(scatter diagram, scatter plot)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변수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dirty="0" smtClean="0"/>
                  <a:t>는 수평축에 표시하고</a:t>
                </a:r>
                <a:r>
                  <a:rPr lang="en-US" altLang="ko-KR" dirty="0" smtClean="0"/>
                  <a:t>, </a:t>
                </a:r>
                <a:r>
                  <a:rPr lang="ko-KR" altLang="en-US" dirty="0" smtClean="0"/>
                  <a:t>변수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dirty="0" smtClean="0"/>
                  <a:t>는 </a:t>
                </a:r>
                <a:r>
                  <a:rPr lang="ko-KR" altLang="en-US" dirty="0" err="1" smtClean="0"/>
                  <a:t>수직축에</a:t>
                </a:r>
                <a:r>
                  <a:rPr lang="ko-KR" altLang="en-US" dirty="0" smtClean="0"/>
                  <a:t> 표시</a:t>
                </a:r>
                <a:endParaRPr lang="en-US" altLang="ko-KR" dirty="0" smtClean="0"/>
              </a:p>
              <a:p>
                <a:r>
                  <a:rPr lang="ko-KR" altLang="en-US" dirty="0" err="1" smtClean="0"/>
                  <a:t>관측쌍</a:t>
                </a:r>
                <a:r>
                  <a:rPr lang="ko-KR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ko-KR" altLang="en-US" dirty="0" smtClean="0"/>
                  <a:t> 그래프에 점으로 표시</a:t>
                </a:r>
                <a:endParaRPr lang="en-US" altLang="ko-KR" dirty="0" smtClean="0"/>
              </a:p>
              <a:p>
                <a:r>
                  <a:rPr lang="ko-KR" altLang="en-US" dirty="0" smtClean="0"/>
                  <a:t>예 </a:t>
                </a:r>
                <a:r>
                  <a:rPr lang="en-US" altLang="ko-KR" dirty="0" smtClean="0"/>
                  <a:t>: GPA</a:t>
                </a:r>
                <a:r>
                  <a:rPr lang="ko-KR" altLang="en-US" dirty="0" smtClean="0"/>
                  <a:t>와 </a:t>
                </a:r>
                <a:r>
                  <a:rPr lang="en-US" altLang="ko-KR" dirty="0" smtClean="0"/>
                  <a:t>GMAT</a:t>
                </a:r>
                <a:r>
                  <a:rPr lang="ko-KR" altLang="en-US" dirty="0" smtClean="0"/>
                  <a:t>점수</a:t>
                </a:r>
                <a:endParaRPr lang="en-US" altLang="ko-KR" dirty="0" smtClean="0"/>
              </a:p>
              <a:p>
                <a:pPr lvl="1"/>
                <a:r>
                  <a:rPr lang="ko-KR" altLang="en-US" dirty="0" smtClean="0"/>
                  <a:t>점들은 왼쪽 </a:t>
                </a:r>
                <a:r>
                  <a:rPr lang="ko-KR" altLang="en-US" dirty="0" err="1" smtClean="0"/>
                  <a:t>아래편에서</a:t>
                </a:r>
                <a:r>
                  <a:rPr lang="ko-KR" altLang="en-US" dirty="0" smtClean="0"/>
                  <a:t> 오른쪽 위편으로 향하는 경향이 있으며</a:t>
                </a:r>
                <a:r>
                  <a:rPr lang="en-US" altLang="ko-KR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dirty="0" smtClean="0"/>
                  <a:t>와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dirty="0" smtClean="0"/>
                  <a:t>의 사이에 양의 관계가 있음을 나타낸다</a:t>
                </a:r>
                <a:r>
                  <a:rPr lang="en-US" altLang="ko-KR" dirty="0" smtClean="0"/>
                  <a:t>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8368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다중 </a:t>
            </a:r>
            <a:r>
              <a:rPr lang="ko-KR" altLang="en-US" dirty="0" err="1" smtClean="0"/>
              <a:t>산점도</a:t>
            </a:r>
            <a:r>
              <a:rPr lang="en-US" altLang="ko-KR" dirty="0" smtClean="0"/>
              <a:t>(multiple scatter plot)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 smtClean="0"/>
              <a:t>오염물질이 성 스테로이드 농도에 미치는 영향</a:t>
            </a:r>
            <a:endParaRPr lang="en-US" altLang="ko-KR" sz="2000" dirty="0" smtClean="0"/>
          </a:p>
          <a:p>
            <a:r>
              <a:rPr lang="en-US" altLang="ko-KR" sz="2000" dirty="0" smtClean="0"/>
              <a:t>(1) </a:t>
            </a:r>
            <a:r>
              <a:rPr lang="ko-KR" altLang="en-US" sz="2000" dirty="0" smtClean="0"/>
              <a:t>오염된 호수인 </a:t>
            </a:r>
            <a:r>
              <a:rPr lang="ko-KR" altLang="en-US" sz="2000" dirty="0" err="1" smtClean="0"/>
              <a:t>아폽카</a:t>
            </a:r>
            <a:r>
              <a:rPr lang="ko-KR" altLang="en-US" sz="2000" dirty="0" smtClean="0"/>
              <a:t> 호수와 </a:t>
            </a:r>
            <a:r>
              <a:rPr lang="en-US" altLang="ko-KR" sz="2000" dirty="0" smtClean="0"/>
              <a:t>(2) </a:t>
            </a:r>
            <a:r>
              <a:rPr lang="ko-KR" altLang="en-US" sz="2000" dirty="0" err="1" smtClean="0"/>
              <a:t>대조군으로서의</a:t>
            </a:r>
            <a:r>
              <a:rPr lang="ko-KR" altLang="en-US" sz="2000" dirty="0" smtClean="0"/>
              <a:t> 역할을 하는 </a:t>
            </a:r>
            <a:r>
              <a:rPr lang="ko-KR" altLang="en-US" sz="2000" dirty="0" err="1" smtClean="0"/>
              <a:t>우드러프</a:t>
            </a:r>
            <a:r>
              <a:rPr lang="ko-KR" altLang="en-US" sz="2000" dirty="0" smtClean="0"/>
              <a:t> 호수에서 어린 수컷 악어의 생식적 발육 조사</a:t>
            </a:r>
            <a:endParaRPr lang="en-US" altLang="ko-KR" sz="2000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835240"/>
              </p:ext>
            </p:extLst>
          </p:nvPr>
        </p:nvGraphicFramePr>
        <p:xfrm>
          <a:off x="1191741" y="2985071"/>
          <a:ext cx="6617727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4940"/>
                <a:gridCol w="1096022"/>
                <a:gridCol w="1157036"/>
                <a:gridCol w="982053"/>
                <a:gridCol w="1076329"/>
                <a:gridCol w="911347"/>
              </a:tblGrid>
              <a:tr h="295571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 smtClean="0"/>
                        <a:t>아폽카</a:t>
                      </a:r>
                      <a:r>
                        <a:rPr lang="ko-KR" altLang="en-US" sz="1400" dirty="0" smtClean="0"/>
                        <a:t> 호수</a:t>
                      </a:r>
                      <a:endParaRPr lang="ko-KR" alt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29557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 smtClean="0"/>
                        <a:t>에스트라디올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38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53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37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30</a:t>
                      </a:r>
                      <a:endParaRPr lang="ko-KR" altLang="en-US" sz="1400" dirty="0"/>
                    </a:p>
                  </a:txBody>
                  <a:tcPr/>
                </a:tc>
              </a:tr>
              <a:tr h="29557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 smtClean="0"/>
                        <a:t>테스토스테론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8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7</a:t>
                      </a:r>
                      <a:endParaRPr lang="ko-KR" altLang="en-US" sz="1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501314"/>
              </p:ext>
            </p:extLst>
          </p:nvPr>
        </p:nvGraphicFramePr>
        <p:xfrm>
          <a:off x="1191741" y="4113655"/>
          <a:ext cx="7622745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502"/>
                <a:gridCol w="641238"/>
                <a:gridCol w="764850"/>
                <a:gridCol w="587156"/>
                <a:gridCol w="741673"/>
                <a:gridCol w="703044"/>
                <a:gridCol w="695317"/>
                <a:gridCol w="757125"/>
                <a:gridCol w="741672"/>
                <a:gridCol w="690168"/>
              </a:tblGrid>
              <a:tr h="257128">
                <a:tc gridSpan="10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 smtClean="0"/>
                        <a:t>우드러프</a:t>
                      </a:r>
                      <a:r>
                        <a:rPr lang="ko-KR" altLang="en-US" sz="1400" dirty="0" smtClean="0"/>
                        <a:t> 호수</a:t>
                      </a:r>
                      <a:endParaRPr lang="ko-KR" alt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2571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 smtClean="0"/>
                        <a:t>에스트라디올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29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64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19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36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16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15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72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85</a:t>
                      </a:r>
                      <a:endParaRPr lang="ko-KR" altLang="en-US" sz="1400" dirty="0"/>
                    </a:p>
                  </a:txBody>
                  <a:tcPr/>
                </a:tc>
              </a:tr>
              <a:tr h="25712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 smtClean="0"/>
                        <a:t>테스토스테론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47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60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75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12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54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33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53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100</a:t>
                      </a:r>
                      <a:endParaRPr lang="ko-KR" altLang="en-US" sz="1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115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 </a:t>
            </a:r>
            <a:r>
              <a:rPr lang="ko-KR" altLang="en-US" dirty="0" err="1" smtClean="0"/>
              <a:t>산점도</a:t>
            </a:r>
            <a:r>
              <a:rPr lang="en-US" altLang="ko-KR" dirty="0" smtClean="0"/>
              <a:t>(2)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sz="2000" spc="-150" dirty="0" err="1" smtClean="0"/>
              <a:t>아폽카</a:t>
            </a:r>
            <a:r>
              <a:rPr lang="ko-KR" altLang="en-US" sz="2000" spc="-150" dirty="0" smtClean="0"/>
              <a:t> 호수의 수컷 악어에 대한 두 농도의 </a:t>
            </a:r>
            <a:r>
              <a:rPr lang="ko-KR" altLang="en-US" sz="2000" spc="-150" dirty="0" err="1" smtClean="0"/>
              <a:t>산점도</a:t>
            </a:r>
            <a:endParaRPr lang="en-US" altLang="ko-KR" sz="2000" spc="-150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</p:txBody>
      </p:sp>
      <p:sp>
        <p:nvSpPr>
          <p:cNvPr id="8" name="내용 개체 틀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sz="2000" spc="-150" dirty="0" err="1" smtClean="0"/>
              <a:t>아폽카와</a:t>
            </a:r>
            <a:r>
              <a:rPr lang="ko-KR" altLang="en-US" sz="2000" spc="-150" dirty="0" smtClean="0"/>
              <a:t> </a:t>
            </a:r>
            <a:r>
              <a:rPr lang="ko-KR" altLang="en-US" sz="2000" spc="-150" dirty="0" err="1" smtClean="0"/>
              <a:t>우드러프</a:t>
            </a:r>
            <a:r>
              <a:rPr lang="ko-KR" altLang="en-US" sz="2000" spc="-150" dirty="0" smtClean="0"/>
              <a:t> </a:t>
            </a:r>
            <a:r>
              <a:rPr lang="ko-KR" altLang="en-US" sz="2000" spc="-150" dirty="0"/>
              <a:t>호수의 수컷 악어에 대한 두 농도의 </a:t>
            </a:r>
            <a:r>
              <a:rPr lang="ko-KR" altLang="en-US" sz="2000" spc="-150" dirty="0" err="1"/>
              <a:t>산점도</a:t>
            </a:r>
            <a:endParaRPr lang="en-US" altLang="ko-KR" sz="2000" spc="-150" dirty="0"/>
          </a:p>
          <a:p>
            <a:endParaRPr lang="ko-KR" altLang="en-US" dirty="0"/>
          </a:p>
          <a:p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787" y="2458261"/>
            <a:ext cx="3782248" cy="300113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6172" y="2543196"/>
            <a:ext cx="3888260" cy="29161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47352" y="5907363"/>
            <a:ext cx="8806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 smtClean="0"/>
              <a:t>오염된 호수의 수컷 악어가 </a:t>
            </a:r>
            <a:r>
              <a:rPr lang="ko-KR" altLang="en-US" dirty="0" err="1" smtClean="0"/>
              <a:t>대조군의</a:t>
            </a:r>
            <a:r>
              <a:rPr lang="ko-KR" altLang="en-US" dirty="0" smtClean="0"/>
              <a:t> 호수보다 </a:t>
            </a:r>
            <a:r>
              <a:rPr lang="ko-KR" altLang="en-US" dirty="0" err="1" smtClean="0"/>
              <a:t>테스토스테론</a:t>
            </a:r>
            <a:r>
              <a:rPr lang="ko-KR" altLang="en-US" dirty="0" smtClean="0"/>
              <a:t> 수치가 낮다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9411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상관계수</a:t>
            </a:r>
            <a:r>
              <a:rPr lang="en-US" altLang="ko-KR" dirty="0" smtClean="0"/>
              <a:t>-</a:t>
            </a:r>
            <a:r>
              <a:rPr lang="ko-KR" altLang="en-US" dirty="0" smtClean="0"/>
              <a:t>선형관계의 측도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5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ko-KR" altLang="en-US" dirty="0" smtClean="0"/>
                  <a:t>상관계수</a:t>
                </a:r>
                <a:r>
                  <a:rPr lang="en-US" altLang="ko-KR" dirty="0" smtClean="0"/>
                  <a:t>(correlation coefficient)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altLang="ko-KR" dirty="0" smtClean="0"/>
              </a:p>
              <a:p>
                <a:pPr lvl="1"/>
                <a:r>
                  <a:rPr lang="ko-KR" altLang="en-US" dirty="0" err="1" smtClean="0"/>
                  <a:t>산점도가</a:t>
                </a:r>
                <a:r>
                  <a:rPr lang="ko-KR" altLang="en-US" dirty="0" smtClean="0"/>
                  <a:t> 선형 관계에 어느 정도 가까운지 계산하는 수치적 척도</a:t>
                </a:r>
                <a:endParaRPr lang="en-US" altLang="ko-KR" dirty="0" smtClean="0"/>
              </a:p>
              <a:p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dirty="0" smtClean="0"/>
                  <a:t> </a:t>
                </a:r>
                <a:r>
                  <a:rPr lang="ko-KR" altLang="en-US" dirty="0" smtClean="0"/>
                  <a:t>값은 항상 </a:t>
                </a:r>
                <a:r>
                  <a:rPr lang="en-US" altLang="ko-KR" dirty="0" smtClean="0"/>
                  <a:t>-1</a:t>
                </a:r>
                <a:r>
                  <a:rPr lang="ko-KR" altLang="en-US" dirty="0" smtClean="0"/>
                  <a:t>과 </a:t>
                </a:r>
                <a:r>
                  <a:rPr lang="en-US" altLang="ko-KR" dirty="0" smtClean="0"/>
                  <a:t>+1</a:t>
                </a:r>
                <a:r>
                  <a:rPr lang="ko-KR" altLang="en-US" dirty="0" smtClean="0"/>
                  <a:t>사이</a:t>
                </a:r>
                <a:endParaRPr lang="en-US" altLang="ko-KR" dirty="0" smtClean="0"/>
              </a:p>
              <a:p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ko-KR" altLang="en-US" dirty="0" smtClean="0"/>
                  <a:t>의 크기는 선형 관계의 강도</a:t>
                </a:r>
                <a:r>
                  <a:rPr lang="en-US" altLang="ko-KR" dirty="0" smtClean="0"/>
                  <a:t>, </a:t>
                </a:r>
                <a:r>
                  <a:rPr lang="ko-KR" altLang="en-US" dirty="0" smtClean="0"/>
                  <a:t>부호는 방향을 나타냄</a:t>
                </a:r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ko-KR" dirty="0" smtClean="0"/>
                  <a:t> :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dirty="0" smtClean="0"/>
                  <a:t> </a:t>
                </a:r>
                <a:r>
                  <a:rPr lang="ko-KR" altLang="en-US" dirty="0" smtClean="0"/>
                  <a:t>모양이 왼쪽 아래에서 오른쪽 위로 띠 모양</a:t>
                </a:r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ko-KR" dirty="0"/>
                  <a:t> :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모양이 </a:t>
                </a:r>
                <a:r>
                  <a:rPr lang="ko-KR" altLang="en-US" dirty="0" smtClean="0"/>
                  <a:t>왼쪽 위에서 </a:t>
                </a:r>
                <a:r>
                  <a:rPr lang="ko-KR" altLang="en-US" dirty="0"/>
                  <a:t>오른쪽 </a:t>
                </a:r>
                <a:r>
                  <a:rPr lang="ko-KR" altLang="en-US" dirty="0" smtClean="0"/>
                  <a:t>아래로 </a:t>
                </a:r>
                <a:r>
                  <a:rPr lang="ko-KR" altLang="en-US" dirty="0"/>
                  <a:t>띠 </a:t>
                </a:r>
                <a:r>
                  <a:rPr lang="ko-KR" altLang="en-US" dirty="0" smtClean="0"/>
                  <a:t>모양</a:t>
                </a:r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=+1</m:t>
                    </m:r>
                  </m:oMath>
                </a14:m>
                <a:r>
                  <a:rPr lang="en-US" altLang="ko-KR" dirty="0" smtClean="0"/>
                  <a:t> : </a:t>
                </a:r>
                <a:r>
                  <a:rPr lang="ko-KR" altLang="en-US" dirty="0" smtClean="0"/>
                  <a:t>모</a:t>
                </a:r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</a:rPr>
                      <m:t>든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dirty="0" smtClean="0"/>
                  <a:t> </a:t>
                </a:r>
                <a:r>
                  <a:rPr lang="ko-KR" altLang="en-US" dirty="0" smtClean="0"/>
                  <a:t>값이 양의 기울기를 갖는 직선</a:t>
                </a:r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US" altLang="ko-KR" dirty="0"/>
                  <a:t> : </a:t>
                </a:r>
                <a:r>
                  <a:rPr lang="ko-KR" altLang="en-US" dirty="0"/>
                  <a:t>모</a:t>
                </a:r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</a:rPr>
                      <m:t>든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값이 </a:t>
                </a:r>
                <a:r>
                  <a:rPr lang="ko-KR" altLang="en-US" dirty="0" smtClean="0"/>
                  <a:t>음의 </a:t>
                </a:r>
                <a:r>
                  <a:rPr lang="ko-KR" altLang="en-US" dirty="0"/>
                  <a:t>기울기를 갖는 </a:t>
                </a:r>
                <a:r>
                  <a:rPr lang="ko-KR" altLang="en-US" dirty="0" smtClean="0"/>
                  <a:t>직선</a:t>
                </a:r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dirty="0" smtClean="0"/>
                  <a:t> </a:t>
                </a:r>
                <a:r>
                  <a:rPr lang="ko-KR" altLang="en-US" dirty="0" smtClean="0"/>
                  <a:t>절대값이 크면 강한 상관관계</a:t>
                </a:r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ko-KR" altLang="en-US" dirty="0" smtClean="0"/>
                  <a:t>이 </a:t>
                </a:r>
                <a:r>
                  <a:rPr lang="en-US" altLang="ko-KR" dirty="0" smtClean="0"/>
                  <a:t>0</a:t>
                </a:r>
                <a:r>
                  <a:rPr lang="ko-KR" altLang="en-US" dirty="0" smtClean="0"/>
                  <a:t>에 가까우면 선형관계가 매우 약함</a:t>
                </a:r>
                <a:endParaRPr lang="en-US" altLang="ko-KR" dirty="0" smtClean="0"/>
              </a:p>
              <a:p>
                <a:pPr lvl="2"/>
                <a:r>
                  <a:rPr lang="ko-KR" altLang="en-US" dirty="0" smtClean="0"/>
                  <a:t>곡선 모양의 뚜렷한 관계를 지니더라도 선형 상관계수는 </a:t>
                </a:r>
                <a:r>
                  <a:rPr lang="en-US" altLang="ko-KR" dirty="0" smtClean="0"/>
                  <a:t>0</a:t>
                </a:r>
                <a:r>
                  <a:rPr lang="ko-KR" altLang="en-US" dirty="0" smtClean="0"/>
                  <a:t>이 될 수 있음 </a:t>
                </a:r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6" name="내용 개체 틀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33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9847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ko-KR" altLang="en-US" dirty="0" smtClean="0"/>
                  <a:t>과 </a:t>
                </a:r>
                <a:r>
                  <a:rPr lang="ko-KR" altLang="en-US" dirty="0" err="1" smtClean="0"/>
                  <a:t>산점도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89688" y="1438446"/>
            <a:ext cx="7666203" cy="5157035"/>
          </a:xfrm>
        </p:spPr>
      </p:pic>
    </p:spTree>
    <p:extLst>
      <p:ext uri="{BB962C8B-B14F-4D97-AF65-F5344CB8AC3E}">
        <p14:creationId xmlns:p14="http://schemas.microsoft.com/office/powerpoint/2010/main" val="2322964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ko-KR" altLang="en-US" dirty="0" smtClean="0"/>
                  <a:t>의 계산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sz="2400" spc="-150" dirty="0" smtClean="0"/>
                  <a:t>표본상관계수는 </a:t>
                </a:r>
                <a:r>
                  <a:rPr lang="ko-KR" altLang="en-US" sz="2400" spc="-150" dirty="0" err="1" smtClean="0"/>
                  <a:t>수치값을</a:t>
                </a:r>
                <a:r>
                  <a:rPr lang="ko-KR" altLang="en-US" sz="2400" spc="-150" dirty="0" smtClean="0"/>
                  <a:t> 갖는 두 특성 사이의 연관성을 정량화</a:t>
                </a:r>
                <a:endParaRPr lang="en-US" altLang="ko-KR" sz="2400" spc="-150" dirty="0" smtClean="0"/>
              </a:p>
              <a:p>
                <a:r>
                  <a:rPr lang="ko-KR" altLang="en-US" sz="2400" spc="-150" dirty="0" smtClean="0"/>
                  <a:t>상관계수는 표준화된 </a:t>
                </a:r>
                <a:r>
                  <a:rPr lang="ko-KR" altLang="en-US" sz="2400" spc="-150" dirty="0" err="1" smtClean="0"/>
                  <a:t>관측값</a:t>
                </a:r>
                <a:r>
                  <a:rPr lang="ko-KR" altLang="en-US" sz="2400" spc="-150" dirty="0" smtClean="0"/>
                  <a:t> 또는 표본 </a:t>
                </a:r>
                <a:r>
                  <a:rPr lang="en-US" altLang="ko-KR" sz="2400" spc="-150" dirty="0" smtClean="0"/>
                  <a:t>z</a:t>
                </a:r>
                <a:r>
                  <a:rPr lang="ko-KR" altLang="en-US" sz="2400" spc="-150" dirty="0" smtClean="0"/>
                  <a:t>값의 관점에서 잘 설명됨 </a:t>
                </a:r>
                <a:r>
                  <a:rPr lang="en-US" altLang="ko-KR" sz="2400" spc="-150" dirty="0" smtClean="0"/>
                  <a:t/>
                </a:r>
                <a:br>
                  <a:rPr lang="en-US" altLang="ko-KR" sz="2400" spc="-150" dirty="0" smtClean="0"/>
                </a:br>
                <a:endParaRPr lang="en-US" altLang="ko-KR" sz="2400" spc="-15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2400" i="1" spc="-15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2400" i="1" spc="-150">
                              <a:latin typeface="Cambria Math" panose="02040503050406030204" pitchFamily="18" charset="0"/>
                            </a:rPr>
                            <m:t>관</m:t>
                          </m:r>
                          <m:r>
                            <a:rPr lang="ko-KR" altLang="en-US" sz="2400" i="1" spc="-150" smtClean="0">
                              <a:latin typeface="Cambria Math" panose="02040503050406030204" pitchFamily="18" charset="0"/>
                            </a:rPr>
                            <m:t>측</m:t>
                          </m:r>
                          <m:r>
                            <a:rPr lang="ko-KR" altLang="en-US" sz="2400" i="1" spc="-150">
                              <a:latin typeface="Cambria Math" panose="02040503050406030204" pitchFamily="18" charset="0"/>
                            </a:rPr>
                            <m:t>값</m:t>
                          </m:r>
                          <m:r>
                            <a:rPr lang="en-US" altLang="ko-KR" sz="2400" b="0" i="1" spc="-15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ko-KR" altLang="en-US" sz="2400" i="1" spc="-150">
                              <a:latin typeface="Cambria Math" panose="02040503050406030204" pitchFamily="18" charset="0"/>
                            </a:rPr>
                            <m:t>표</m:t>
                          </m:r>
                          <m:r>
                            <a:rPr lang="ko-KR" altLang="en-US" sz="2400" i="1" spc="-150" smtClean="0">
                              <a:latin typeface="Cambria Math" panose="02040503050406030204" pitchFamily="18" charset="0"/>
                            </a:rPr>
                            <m:t>본</m:t>
                          </m:r>
                          <m:r>
                            <a:rPr lang="ko-KR" altLang="en-US" sz="2400" i="1" spc="-150">
                              <a:latin typeface="Cambria Math" panose="02040503050406030204" pitchFamily="18" charset="0"/>
                            </a:rPr>
                            <m:t>평</m:t>
                          </m:r>
                          <m:r>
                            <a:rPr lang="ko-KR" altLang="en-US" sz="2400" i="1" spc="-150" smtClean="0">
                              <a:latin typeface="Cambria Math" panose="02040503050406030204" pitchFamily="18" charset="0"/>
                            </a:rPr>
                            <m:t>균</m:t>
                          </m:r>
                        </m:num>
                        <m:den>
                          <m:r>
                            <a:rPr lang="ko-KR" altLang="en-US" sz="2400" i="1" spc="-150">
                              <a:latin typeface="Cambria Math" panose="02040503050406030204" pitchFamily="18" charset="0"/>
                            </a:rPr>
                            <m:t>표</m:t>
                          </m:r>
                          <m:r>
                            <a:rPr lang="ko-KR" altLang="en-US" sz="2400" i="1" spc="-150" smtClean="0">
                              <a:latin typeface="Cambria Math" panose="02040503050406030204" pitchFamily="18" charset="0"/>
                            </a:rPr>
                            <m:t>본</m:t>
                          </m:r>
                          <m:r>
                            <a:rPr lang="ko-KR" altLang="en-US" sz="2400" i="1" spc="-150">
                              <a:latin typeface="Cambria Math" panose="02040503050406030204" pitchFamily="18" charset="0"/>
                            </a:rPr>
                            <m:t>표</m:t>
                          </m:r>
                          <m:r>
                            <a:rPr lang="ko-KR" altLang="en-US" sz="2400" i="1" spc="-150" smtClean="0">
                              <a:latin typeface="Cambria Math" panose="02040503050406030204" pitchFamily="18" charset="0"/>
                            </a:rPr>
                            <m:t>준</m:t>
                          </m:r>
                          <m:r>
                            <a:rPr lang="ko-KR" altLang="en-US" sz="2400" i="1" spc="-150">
                              <a:latin typeface="Cambria Math" panose="02040503050406030204" pitchFamily="18" charset="0"/>
                            </a:rPr>
                            <m:t>편</m:t>
                          </m:r>
                          <m:r>
                            <a:rPr lang="ko-KR" altLang="en-US" sz="2400" i="1" spc="-150" smtClean="0">
                              <a:latin typeface="Cambria Math" panose="02040503050406030204" pitchFamily="18" charset="0"/>
                            </a:rPr>
                            <m:t>차</m:t>
                          </m:r>
                        </m:den>
                      </m:f>
                      <m:r>
                        <a:rPr lang="en-US" altLang="ko-KR" sz="2400" b="0" i="1" spc="-15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400" b="0" i="1" spc="-15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2400" b="0" i="1" spc="-15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pc="-15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2400" b="0" i="1" spc="-15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400" b="0" i="1" spc="-15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altLang="ko-KR" sz="2400" b="0" i="1" spc="-15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400" b="0" i="1" spc="-15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num>
                        <m:den>
                          <m:sSub>
                            <m:sSubPr>
                              <m:ctrlPr>
                                <a:rPr lang="en-US" altLang="ko-KR" sz="2400" b="0" i="1" spc="-15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pc="-15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2400" b="0" i="1" spc="-15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ko-KR" sz="2400" spc="-150" dirty="0" smtClean="0"/>
              </a:p>
              <a:p>
                <a:r>
                  <a:rPr lang="ko-KR" altLang="en-US" sz="2400" spc="-150" dirty="0" smtClean="0"/>
                  <a:t>표본상관계수</a:t>
                </a:r>
                <a:r>
                  <a:rPr lang="en-US" altLang="ko-KR" sz="2400" spc="-150" dirty="0" smtClean="0"/>
                  <a:t>(sample correlation coefficient)</a:t>
                </a:r>
                <a:r>
                  <a:rPr lang="ko-KR" altLang="en-US" sz="2400" spc="-150" dirty="0" smtClean="0"/>
                  <a:t>는 표준화된 </a:t>
                </a:r>
                <a14:m>
                  <m:oMath xmlns:m="http://schemas.openxmlformats.org/officeDocument/2006/math">
                    <m:r>
                      <a:rPr lang="en-US" altLang="ko-KR" sz="2400" i="1" spc="-150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sz="2400" spc="-150" dirty="0" err="1" smtClean="0"/>
                  <a:t>관측값과</a:t>
                </a:r>
                <a:r>
                  <a:rPr lang="ko-KR" altLang="en-US" sz="2400" spc="-150" dirty="0" smtClean="0"/>
                  <a:t> 표준화된 </a:t>
                </a:r>
                <a14:m>
                  <m:oMath xmlns:m="http://schemas.openxmlformats.org/officeDocument/2006/math">
                    <m:r>
                      <a:rPr lang="en-US" altLang="ko-KR" sz="2400" i="1" spc="-150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sz="2400" spc="-150" dirty="0" err="1" smtClean="0"/>
                  <a:t>관측값의</a:t>
                </a:r>
                <a:r>
                  <a:rPr lang="ko-KR" altLang="en-US" sz="2400" spc="-150" dirty="0" smtClean="0"/>
                  <a:t> 곱을 더하여 </a:t>
                </a:r>
                <a14:m>
                  <m:oMath xmlns:m="http://schemas.openxmlformats.org/officeDocument/2006/math">
                    <m:r>
                      <a:rPr lang="en-US" altLang="ko-KR" sz="2400" i="1" spc="-150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sz="2400" i="1" spc="-150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ko-KR" altLang="en-US" sz="2400" spc="-150" dirty="0" smtClean="0"/>
                  <a:t>로 나눈 것</a:t>
                </a:r>
                <a:r>
                  <a:rPr lang="en-US" altLang="ko-KR" sz="2400" spc="-150" dirty="0" smtClean="0"/>
                  <a:t/>
                </a:r>
                <a:br>
                  <a:rPr lang="en-US" altLang="ko-KR" sz="2400" spc="-150" dirty="0" smtClean="0"/>
                </a:br>
                <a:endParaRPr lang="en-US" altLang="ko-KR" sz="2400" spc="-15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pc="-15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ko-KR" sz="2000" b="0" i="1" spc="-15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pc="-15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pc="-15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pc="-15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2000" b="0" i="1" spc="-15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2000" b="0" i="1" spc="-15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2000" b="0" i="1" spc="-15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2000" b="0" i="1" spc="-15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2000" b="0" i="1" spc="-15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altLang="ko-KR" sz="2000" b="0" i="1" spc="-15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2000" b="0" i="1" spc="-15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sz="2000" b="0" i="1" spc="-15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b="0" i="1" spc="-15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ko-KR" sz="2000" b="0" i="1" spc="-15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ko-KR" sz="2000" b="0" i="1" spc="-15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ko-KR" sz="2000" b="0" i="1" spc="-15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2000" b="0" i="1" spc="-15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ko-KR" sz="2000" b="0" i="1" spc="-15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b="0" i="1" spc="-150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ko-KR" sz="2000" b="0" i="1" spc="-15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lang="en-US" altLang="ko-KR" sz="2000" b="0" i="1" spc="-15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2000" b="0" i="1" spc="-15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sz="2000" b="0" i="1" spc="-15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b="0" i="1" spc="-15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ko-KR" sz="2000" b="0" i="1" spc="-15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ko-KR" sz="2000" b="0" i="1" spc="-15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ko-KR" sz="2000" b="0" i="1" spc="-15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2000" b="0" i="1" spc="-15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ko-KR" sz="2000" b="0" i="1" spc="-15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b="0" i="1" spc="-150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ko-KR" sz="2000" b="0" i="1" spc="-15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  <m:r>
                        <a:rPr lang="en-US" altLang="ko-KR" sz="2000" b="0" i="1" spc="-15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spc="-150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812" t="-1961" r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953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표본상관계수의 계산식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다음의 식을 이용하여 표본상관계수를 계산할 수 있다</a:t>
                </a:r>
                <a:r>
                  <a:rPr lang="en-US" altLang="ko-KR" dirty="0" smtClean="0"/>
                  <a:t>.</a:t>
                </a:r>
              </a:p>
              <a:p>
                <a:endParaRPr lang="en-US" altLang="ko-K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𝑥𝑥</m:t>
                                  </m:r>
                                </m:sub>
                              </m:sSub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𝑦𝑦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en-US" altLang="ko-KR" dirty="0" smtClean="0"/>
              </a:p>
              <a:p>
                <a:pPr marL="0" indent="0">
                  <a:buNone/>
                </a:pPr>
                <a:r>
                  <a:rPr lang="ko-KR" altLang="en-US" dirty="0" smtClean="0"/>
                  <a:t>여기서</a:t>
                </a:r>
                <a:endParaRPr lang="en-US" altLang="ko-KR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ko-KR" sz="20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𝑥𝑥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𝑦𝑦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ko-KR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𝑥𝑥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와</m:t>
                    </m:r>
                  </m:oMath>
                </a14:m>
                <a:r>
                  <a:rPr lang="en-US" altLang="ko-KR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𝑦𝑦</m:t>
                        </m:r>
                      </m:sub>
                    </m:sSub>
                  </m:oMath>
                </a14:m>
                <a:r>
                  <a:rPr lang="ko-KR" altLang="en-US" dirty="0" smtClean="0"/>
                  <a:t>는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dirty="0" err="1" smtClean="0"/>
                  <a:t>관측값과</a:t>
                </a:r>
                <a:r>
                  <a:rPr lang="ko-KR" altLang="en-US" dirty="0" smtClean="0"/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관</m:t>
                    </m:r>
                  </m:oMath>
                </a14:m>
                <a:r>
                  <a:rPr lang="ko-KR" altLang="en-US" dirty="0" err="1" smtClean="0"/>
                  <a:t>측값들의</a:t>
                </a:r>
                <a:r>
                  <a:rPr lang="ko-KR" altLang="en-US" dirty="0" smtClean="0"/>
                  <a:t> 편차제곱의 합 </a:t>
                </a:r>
                <a:endParaRPr lang="en-US" altLang="ko-KR" dirty="0" smtClean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381" b="-16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3641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표본상관계수의 계산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altLang="ko-KR" dirty="0" smtClean="0"/>
                  <a:t>(2,5) (1,3) (5,6) (0,2)</a:t>
                </a:r>
                <a:r>
                  <a:rPr lang="ko-KR" altLang="en-US" dirty="0" smtClean="0"/>
                  <a:t>에 대한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ko-KR" altLang="en-US" dirty="0" smtClean="0"/>
                  <a:t>계산</a:t>
                </a:r>
                <a:endParaRPr lang="en-US" altLang="ko-KR" dirty="0" smtClean="0"/>
              </a:p>
              <a:p>
                <a:endParaRPr lang="en-US" altLang="ko-KR" dirty="0"/>
              </a:p>
              <a:p>
                <a:endParaRPr lang="en-US" altLang="ko-KR" dirty="0" smtClean="0"/>
              </a:p>
              <a:p>
                <a:endParaRPr lang="en-US" altLang="ko-KR" dirty="0"/>
              </a:p>
              <a:p>
                <a:endParaRPr lang="en-US" altLang="ko-KR" dirty="0" smtClean="0"/>
              </a:p>
              <a:p>
                <a:endParaRPr lang="en-US" altLang="ko-KR" dirty="0"/>
              </a:p>
              <a:p>
                <a:endParaRPr lang="en-US" altLang="ko-KR" b="0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𝑥𝑥</m:t>
                                </m:r>
                              </m:sub>
                            </m:sSub>
                          </m:e>
                        </m:rad>
                        <m:rad>
                          <m:radPr>
                            <m:deg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𝑦𝑦</m:t>
                                </m:r>
                              </m:sub>
                            </m:sSub>
                          </m:e>
                        </m:rad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e>
                        </m:rad>
                        <m:rad>
                          <m:radPr>
                            <m:deg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=0.930</m:t>
                    </m:r>
                  </m:oMath>
                </a14:m>
                <a:endParaRPr lang="en-US" altLang="ko-KR" dirty="0" smtClean="0"/>
              </a:p>
              <a:p>
                <a:r>
                  <a:rPr lang="en-US" altLang="ko-KR" sz="1900" dirty="0" smtClean="0"/>
                  <a:t>0.930</a:t>
                </a:r>
                <a:r>
                  <a:rPr lang="ko-KR" altLang="en-US" sz="1900" dirty="0" smtClean="0"/>
                  <a:t>은 큰 값이고 </a:t>
                </a:r>
                <a:r>
                  <a:rPr lang="en-US" altLang="ko-KR" sz="1900" dirty="0" smtClean="0"/>
                  <a:t>x</a:t>
                </a:r>
                <a:r>
                  <a:rPr lang="ko-KR" altLang="en-US" sz="1900" dirty="0" smtClean="0"/>
                  <a:t>와 </a:t>
                </a:r>
                <a:r>
                  <a:rPr lang="en-US" altLang="ko-KR" sz="1900" dirty="0" smtClean="0"/>
                  <a:t>y</a:t>
                </a:r>
                <a:r>
                  <a:rPr lang="ko-KR" altLang="en-US" sz="1900" dirty="0" smtClean="0"/>
                  <a:t>가 모두 작아지거나 모두 커지는 경향이 있는 강한 연관성을 의미</a:t>
                </a:r>
                <a:endParaRPr lang="en-US" altLang="ko-KR" sz="1900" dirty="0" smtClean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30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6904334"/>
                  </p:ext>
                </p:extLst>
              </p:nvPr>
            </p:nvGraphicFramePr>
            <p:xfrm>
              <a:off x="1257642" y="2358995"/>
              <a:ext cx="9253840" cy="237172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56730"/>
                    <a:gridCol w="911316"/>
                    <a:gridCol w="965959"/>
                    <a:gridCol w="1115173"/>
                    <a:gridCol w="1201559"/>
                    <a:gridCol w="1201559"/>
                    <a:gridCol w="973813"/>
                    <a:gridCol w="1727731"/>
                  </a:tblGrid>
                  <a:tr h="266716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altLang="ko-KR" sz="16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ko-KR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6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b="1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1600" b="1" i="0" smtClean="0">
                                    <a:latin typeface="Cambria Math" panose="02040503050406030204" pitchFamily="18" charset="0"/>
                                  </a:rPr>
                                  <m:t>𝐲</m:t>
                                </m:r>
                                <m:r>
                                  <a:rPr lang="en-US" altLang="ko-KR" sz="1600" b="1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ko-KR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600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sz="16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600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  <m:r>
                                          <a:rPr lang="en-US" altLang="ko-KR" sz="1600" b="1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ko-KR" sz="1600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ko-KR" sz="16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𝒙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6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sz="16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600" b="1" i="1" smtClean="0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  <m:r>
                                          <a:rPr lang="en-US" altLang="ko-KR" sz="1600" b="1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ko-KR" sz="1600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ko-KR" sz="16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𝒚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6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16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altLang="ko-KR" sz="16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ko-KR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6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acc>
                                <m:r>
                                  <a:rPr lang="en-US" altLang="ko-KR" sz="1600" b="1" i="1" smtClean="0">
                                    <a:latin typeface="Cambria Math" panose="02040503050406030204" pitchFamily="18" charset="0"/>
                                  </a:rPr>
                                  <m:t>)(</m:t>
                                </m:r>
                                <m:r>
                                  <a:rPr lang="en-US" altLang="ko-KR" sz="16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US" altLang="ko-KR" sz="16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ko-KR" alt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600" b="1" i="1" dirty="0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  <m:r>
                                  <a:rPr lang="en-US" altLang="ko-KR" sz="16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</a:tr>
                  <a:tr h="266716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5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266716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3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-1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-1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266716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5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6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3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9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4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6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266716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-2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-2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4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4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4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26671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600" dirty="0" smtClean="0"/>
                            <a:t>합계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8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16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14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10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smtClean="0"/>
                            <a:t>11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266716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ko-KR" alt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ko-KR" alt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=4</m:t>
                                </m:r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𝑥𝑥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𝑦𝑦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𝑥𝑦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6904334"/>
                  </p:ext>
                </p:extLst>
              </p:nvPr>
            </p:nvGraphicFramePr>
            <p:xfrm>
              <a:off x="1257642" y="2358995"/>
              <a:ext cx="9253840" cy="237172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56730"/>
                    <a:gridCol w="911316"/>
                    <a:gridCol w="965959"/>
                    <a:gridCol w="1115173"/>
                    <a:gridCol w="1201559"/>
                    <a:gridCol w="1201559"/>
                    <a:gridCol w="973813"/>
                    <a:gridCol w="1727731"/>
                  </a:tblGrid>
                  <a:tr h="340805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28188" t="-1786" r="-794631" b="-6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13836" t="-1786" r="-644654" b="-6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72678" t="-1786" r="-460109" b="-6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46193" t="-1786" r="-327411" b="-6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443939" t="-1786" r="-225758" b="-6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677358" t="-1786" r="-181132" b="-6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435211" t="-1786" r="-1408" b="-601786"/>
                          </a:stretch>
                        </a:blipFill>
                      </a:tcPr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5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3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-1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-1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5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6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3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9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4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6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-2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-2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4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4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4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600" dirty="0" smtClean="0"/>
                            <a:t>합계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8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16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14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10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smtClean="0"/>
                            <a:t>11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54521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28188" t="-575862" r="-794631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13836" t="-575862" r="-644654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443939" t="-575862" r="-225758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677358" t="-575862" r="-181132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435211" t="-575862" r="-1408" b="-3448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864036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다른 공식으로 계산해 보기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𝑥𝑥</m:t>
                        </m:r>
                      </m:sub>
                    </m:sSub>
                  </m:oMath>
                </a14:m>
                <a:r>
                  <a:rPr lang="en-US" altLang="ko-KR" dirty="0" smtClean="0"/>
                  <a:t>,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𝑦𝑦</m:t>
                        </m:r>
                      </m:sub>
                    </m:sSub>
                  </m:oMath>
                </a14:m>
                <a:r>
                  <a:rPr lang="en-US" altLang="ko-KR" dirty="0" smtClean="0"/>
                  <a:t> </a:t>
                </a:r>
                <a:r>
                  <a:rPr lang="ko-KR" altLang="en-US" dirty="0" smtClean="0"/>
                  <a:t>그리고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 dirty="0" smtClean="0"/>
                  <a:t> 다른 공식</a:t>
                </a:r>
                <a:endParaRPr lang="en-US" altLang="ko-KR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𝑥𝑥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𝑦𝑦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nary>
                          </m:e>
                        </m:d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nary>
                          </m:e>
                        </m:d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altLang="ko-KR" dirty="0" smtClean="0"/>
              </a:p>
              <a:p>
                <a:endParaRPr lang="en-US" altLang="ko-KR" dirty="0"/>
              </a:p>
              <a:p>
                <a:endParaRPr lang="en-US" altLang="ko-KR" dirty="0" smtClean="0"/>
              </a:p>
              <a:p>
                <a:endParaRPr lang="en-US" altLang="ko-KR" dirty="0"/>
              </a:p>
              <a:p>
                <a:endParaRPr lang="en-US" altLang="ko-KR" dirty="0" smtClean="0"/>
              </a:p>
              <a:p>
                <a:endParaRPr lang="en-US" altLang="ko-KR" dirty="0"/>
              </a:p>
              <a:p>
                <a:endParaRPr lang="en-US" altLang="ko-KR" b="0" i="1" dirty="0" smtClean="0">
                  <a:latin typeface="Cambria Math" panose="02040503050406030204" pitchFamily="18" charset="0"/>
                </a:endParaRPr>
              </a:p>
              <a:p>
                <a:endParaRPr lang="en-US" altLang="ko-KR" b="0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43−</m:t>
                        </m:r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×16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30−</m:t>
                            </m:r>
                            <m:f>
                              <m:f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rad>
                        <m:rad>
                          <m:radPr>
                            <m:deg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74−</m:t>
                            </m:r>
                            <m:f>
                              <m:f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=0.930</m:t>
                    </m:r>
                  </m:oMath>
                </a14:m>
                <a:endParaRPr lang="ko-KR" altLang="en-US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522" t="-25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8682037"/>
                  </p:ext>
                </p:extLst>
              </p:nvPr>
            </p:nvGraphicFramePr>
            <p:xfrm>
              <a:off x="3366528" y="2754411"/>
              <a:ext cx="7779270" cy="219932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6545"/>
                    <a:gridCol w="1296545"/>
                    <a:gridCol w="1296545"/>
                    <a:gridCol w="1296545"/>
                    <a:gridCol w="1296545"/>
                    <a:gridCol w="1296545"/>
                  </a:tblGrid>
                  <a:tr h="242003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p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i="1" dirty="0" smtClean="0">
                                    <a:latin typeface="Cambria Math" panose="02040503050406030204" pitchFamily="18" charset="0"/>
                                  </a:rPr>
                                  <m:t>𝑥𝑦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</a:tr>
                  <a:tr h="242003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2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4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25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10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242003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1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3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1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9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3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242003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6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25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36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30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242003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0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2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0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4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0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242003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400" dirty="0" smtClean="0"/>
                            <a:t>합계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8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16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30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74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43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242003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nary>
                            </m:oMath>
                          </a14:m>
                          <a:r>
                            <a:rPr lang="ko-KR" altLang="en-US" dirty="0" smtClean="0"/>
                            <a:t> 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nary>
                            </m:oMath>
                          </a14:m>
                          <a:r>
                            <a:rPr lang="ko-KR" altLang="en-US" dirty="0" smtClean="0"/>
                            <a:t> 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oMath>
                          </a14:m>
                          <a:r>
                            <a:rPr lang="ko-KR" altLang="en-US" dirty="0" smtClean="0"/>
                            <a:t> 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oMath>
                          </a14:m>
                          <a:r>
                            <a:rPr lang="ko-KR" altLang="en-US" dirty="0" smtClean="0"/>
                            <a:t> 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𝑥𝑦</m:t>
                                  </m:r>
                                </m:e>
                              </m:nary>
                            </m:oMath>
                          </a14:m>
                          <a:r>
                            <a:rPr lang="ko-KR" altLang="en-US" dirty="0" smtClean="0"/>
                            <a:t> 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8682037"/>
                  </p:ext>
                </p:extLst>
              </p:nvPr>
            </p:nvGraphicFramePr>
            <p:xfrm>
              <a:off x="3366528" y="2754411"/>
              <a:ext cx="7779270" cy="219932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6545"/>
                    <a:gridCol w="1296545"/>
                    <a:gridCol w="1296545"/>
                    <a:gridCol w="1296545"/>
                    <a:gridCol w="1296545"/>
                    <a:gridCol w="1296545"/>
                  </a:tblGrid>
                  <a:tr h="309563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0469" t="-1961" r="-401408" b="-83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00469" t="-1961" r="-301408" b="-83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01887" t="-1961" r="-202830" b="-83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400000" t="-1961" r="-101878" b="-83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500000" t="-1961" r="-1878" b="-835294"/>
                          </a:stretch>
                        </a:blipFill>
                      </a:tcPr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2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4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25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10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1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3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1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9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3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6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25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36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30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0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2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0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4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0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400" dirty="0" smtClean="0"/>
                            <a:t>합계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8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16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30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74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43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0469" t="-505000" r="-401408" b="-19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00469" t="-505000" r="-301408" b="-19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01887" t="-505000" r="-202830" b="-19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400000" t="-505000" r="-101878" b="-19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500000" t="-505000" r="-1878" b="-191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738968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ko-KR" altLang="en-US" dirty="0" smtClean="0"/>
                  <a:t>의 특징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ko-KR" altLang="en-US" sz="2000" i="1" dirty="0">
                        <a:latin typeface="Cambria Math" panose="02040503050406030204" pitchFamily="18" charset="0"/>
                      </a:rPr>
                      <m:t>은</m:t>
                    </m:r>
                  </m:oMath>
                </a14:m>
                <a:r>
                  <a:rPr lang="ko-KR" altLang="en-US" sz="2000" dirty="0" smtClean="0"/>
                  <a:t> 흩어진 모양이 직선에 가까운 정도를 측정</a:t>
                </a:r>
                <a:endParaRPr lang="en-US" altLang="ko-KR" sz="2000" dirty="0" smtClean="0"/>
              </a:p>
              <a:p>
                <a:r>
                  <a:rPr lang="ko-KR" altLang="en-US" sz="2000" dirty="0" smtClean="0"/>
                  <a:t>왼쪽 그림은 강한 관계를 보여주지만 선형이 아님</a:t>
                </a:r>
                <a:endParaRPr lang="en-US" altLang="ko-KR" sz="2000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1800" i="1" dirty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ko-KR" altLang="en-US" sz="1800" dirty="0" smtClean="0"/>
                  <a:t>은 작게 나올 것이며 이는 강한 곡선 관계를 나타내지 못함</a:t>
                </a:r>
                <a:endParaRPr lang="en-US" altLang="ko-KR" sz="1800" dirty="0" smtClean="0"/>
              </a:p>
              <a:p>
                <a:r>
                  <a:rPr lang="ko-KR" altLang="en-US" sz="2000" dirty="0" smtClean="0"/>
                  <a:t>오른쪽 그림은 </a:t>
                </a:r>
                <a:r>
                  <a:rPr lang="ko-KR" altLang="en-US" sz="2000" dirty="0" err="1" smtClean="0"/>
                  <a:t>산점도가</a:t>
                </a:r>
                <a:r>
                  <a:rPr lang="ko-KR" altLang="en-US" sz="2000" dirty="0" smtClean="0"/>
                  <a:t> 두 군집으로 나뉨</a:t>
                </a:r>
                <a:endParaRPr lang="en-US" altLang="ko-KR" sz="2000" dirty="0" smtClean="0"/>
              </a:p>
              <a:p>
                <a:pPr lvl="1"/>
                <a:r>
                  <a:rPr lang="ko-KR" altLang="en-US" sz="1800" dirty="0" smtClean="0"/>
                  <a:t>두 군집으로 나뉜 근본적 원인을 밝히는 것이 중요</a:t>
                </a:r>
                <a:endParaRPr lang="ko-KR" altLang="en-US" sz="1800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522" t="-14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352" y="3611949"/>
            <a:ext cx="3599935" cy="269995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9308" y="3611950"/>
            <a:ext cx="3566984" cy="267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5133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상관과 인과관계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표본상관관계가 높다고 해서 반드시 두 변수 사이에 인과관계가 있는 것은 아님</a:t>
            </a:r>
            <a:endParaRPr lang="en-US" altLang="ko-KR" dirty="0" smtClean="0"/>
          </a:p>
          <a:p>
            <a:r>
              <a:rPr lang="ko-KR" altLang="en-US" dirty="0" smtClean="0"/>
              <a:t>예를 들어 제</a:t>
            </a:r>
            <a:r>
              <a:rPr lang="en-US" altLang="ko-KR" dirty="0" smtClean="0"/>
              <a:t>3</a:t>
            </a:r>
            <a:r>
              <a:rPr lang="ko-KR" altLang="en-US" dirty="0" smtClean="0"/>
              <a:t>의 변수에 의해 다른 두 변수의 상관관계가 관측될 수 있음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제</a:t>
            </a:r>
            <a:r>
              <a:rPr lang="en-US" altLang="ko-KR" dirty="0" smtClean="0"/>
              <a:t>3</a:t>
            </a:r>
            <a:r>
              <a:rPr lang="ko-KR" altLang="en-US" dirty="0" smtClean="0"/>
              <a:t>의 변수를 잠복변수</a:t>
            </a:r>
            <a:r>
              <a:rPr lang="en-US" altLang="ko-KR" dirty="0" smtClean="0"/>
              <a:t>(lurking variable)</a:t>
            </a:r>
            <a:r>
              <a:rPr lang="ko-KR" altLang="en-US" dirty="0" smtClean="0"/>
              <a:t>이라 함</a:t>
            </a:r>
            <a:endParaRPr lang="en-US" altLang="ko-KR" dirty="0" smtClean="0"/>
          </a:p>
          <a:p>
            <a:pPr lvl="1"/>
            <a:r>
              <a:rPr lang="ko-KR" altLang="en-US" spc="-150" dirty="0" smtClean="0"/>
              <a:t>잠복변수가 만들어낸 거짓 상관을 허위상관</a:t>
            </a:r>
            <a:r>
              <a:rPr lang="en-US" altLang="ko-KR" spc="-150" dirty="0" smtClean="0"/>
              <a:t>(spurious correlation)</a:t>
            </a:r>
            <a:r>
              <a:rPr lang="ko-KR" altLang="en-US" spc="-150" dirty="0" smtClean="0"/>
              <a:t>이라 함</a:t>
            </a:r>
            <a:endParaRPr lang="en-US" altLang="ko-KR" spc="-150" dirty="0" smtClean="0"/>
          </a:p>
          <a:p>
            <a:r>
              <a:rPr lang="ko-KR" altLang="en-US" spc="-150" dirty="0" smtClean="0"/>
              <a:t>관측된 상관이 실제로 의미가 있는 것인지 허위인지를 가려내는 것은 통계적 이론보다는 상식의 문제</a:t>
            </a:r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23729009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85880"/>
          </a:xfrm>
        </p:spPr>
        <p:txBody>
          <a:bodyPr/>
          <a:lstStyle/>
          <a:p>
            <a:r>
              <a:rPr lang="ko-KR" altLang="en-US" dirty="0" smtClean="0"/>
              <a:t>예제 </a:t>
            </a:r>
            <a:r>
              <a:rPr lang="en-US" altLang="ko-KR" dirty="0" smtClean="0"/>
              <a:t>: </a:t>
            </a:r>
            <a:r>
              <a:rPr lang="ko-KR" altLang="en-US" dirty="0" smtClean="0"/>
              <a:t>허위상관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235676"/>
            <a:ext cx="10515600" cy="4941287"/>
          </a:xfrm>
        </p:spPr>
        <p:txBody>
          <a:bodyPr/>
          <a:lstStyle/>
          <a:p>
            <a:r>
              <a:rPr lang="ko-KR" altLang="en-US" dirty="0" smtClean="0"/>
              <a:t>감옥의 수감자 수와 휴대전화 가입자 수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강한 양의 상관 관계를 보이는 것처럼 보임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상식적으로 휴대전화 가입자수와 수감자 수가 인과관계가 없는 것이 당연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연도를 표시한 </a:t>
            </a:r>
            <a:r>
              <a:rPr lang="ko-KR" altLang="en-US" dirty="0" err="1" smtClean="0"/>
              <a:t>산점도를</a:t>
            </a:r>
            <a:r>
              <a:rPr lang="ko-KR" altLang="en-US" dirty="0" smtClean="0"/>
              <a:t> 보면 시간이 지나면서 휴대폰 가입자 수와 수감자수가 같이 증가한 것을 볼 수 있음</a:t>
            </a:r>
            <a:endParaRPr lang="ko-KR" altLang="en-US" dirty="0"/>
          </a:p>
        </p:txBody>
      </p:sp>
      <p:pic>
        <p:nvPicPr>
          <p:cNvPr id="6" name="Picture 7" descr="c03f005_300dp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1506" y="3403008"/>
            <a:ext cx="3900616" cy="2773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fig_03_0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805" y="3403008"/>
            <a:ext cx="3835893" cy="2750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7617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1968"/>
          </a:xfrm>
        </p:spPr>
        <p:txBody>
          <a:bodyPr>
            <a:normAutofit fontScale="90000"/>
          </a:bodyPr>
          <a:lstStyle/>
          <a:p>
            <a:r>
              <a:rPr lang="ko-KR" altLang="en-US" dirty="0" smtClean="0"/>
              <a:t>잠복변수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202724"/>
            <a:ext cx="10515600" cy="4974239"/>
          </a:xfrm>
        </p:spPr>
        <p:txBody>
          <a:bodyPr>
            <a:normAutofit fontScale="92500"/>
          </a:bodyPr>
          <a:lstStyle/>
          <a:p>
            <a:r>
              <a:rPr lang="ko-KR" altLang="en-US" sz="2400" dirty="0" smtClean="0"/>
              <a:t>등록된 차량 백만 대 당 사망자 수</a:t>
            </a:r>
            <a:endParaRPr lang="en-US" altLang="ko-KR" sz="2400" dirty="0" smtClean="0"/>
          </a:p>
          <a:p>
            <a:endParaRPr lang="en-US" altLang="ko-KR" sz="2400" dirty="0"/>
          </a:p>
          <a:p>
            <a:endParaRPr lang="en-US" altLang="ko-KR" sz="2400" dirty="0" smtClean="0"/>
          </a:p>
          <a:p>
            <a:endParaRPr lang="en-US" altLang="ko-KR" sz="2400" dirty="0"/>
          </a:p>
          <a:p>
            <a:endParaRPr lang="en-US" altLang="ko-KR" sz="2400" dirty="0" smtClean="0"/>
          </a:p>
          <a:p>
            <a:endParaRPr lang="en-US" altLang="ko-KR" sz="2400" dirty="0"/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r>
              <a:rPr lang="ko-KR" altLang="en-US" sz="2400" spc="-150" dirty="0" smtClean="0"/>
              <a:t>비록 큰 차가 작은 차 보다 안전할 수 있지만</a:t>
            </a:r>
            <a:r>
              <a:rPr lang="en-US" altLang="ko-KR" sz="2400" spc="-150" dirty="0" smtClean="0"/>
              <a:t>, </a:t>
            </a:r>
            <a:r>
              <a:rPr lang="ko-KR" altLang="en-US" sz="2400" spc="-150" dirty="0" smtClean="0"/>
              <a:t>여기에는 운전자라는 잠복 변수 존재</a:t>
            </a:r>
            <a:endParaRPr lang="en-US" altLang="ko-KR" sz="2400" spc="-150" dirty="0" smtClean="0"/>
          </a:p>
          <a:p>
            <a:r>
              <a:rPr lang="en-US" altLang="ko-KR" sz="2400" dirty="0" smtClean="0"/>
              <a:t>10</a:t>
            </a:r>
            <a:r>
              <a:rPr lang="ko-KR" altLang="en-US" sz="2400" dirty="0" smtClean="0"/>
              <a:t>대 청소년이 고급 대형차를 운전할 확률은 낮을 것</a:t>
            </a:r>
            <a:endParaRPr lang="en-US" altLang="ko-KR" sz="2400" dirty="0" smtClean="0"/>
          </a:p>
          <a:p>
            <a:r>
              <a:rPr lang="ko-KR" altLang="en-US" sz="2400" spc="-150" dirty="0" smtClean="0"/>
              <a:t>운전자 나이와 자동차 종류 사이</a:t>
            </a:r>
            <a:r>
              <a:rPr lang="en-US" altLang="ko-KR" sz="2400" spc="-150" dirty="0" smtClean="0"/>
              <a:t>, </a:t>
            </a:r>
            <a:r>
              <a:rPr lang="ko-KR" altLang="en-US" sz="2400" spc="-150" dirty="0" smtClean="0"/>
              <a:t>운전자 나이와 운전 태도 사이에는 강한 상관관계</a:t>
            </a:r>
            <a:endParaRPr lang="en-US" altLang="ko-KR" sz="2400" spc="-150" dirty="0" smtClean="0"/>
          </a:p>
          <a:p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683415"/>
              </p:ext>
            </p:extLst>
          </p:nvPr>
        </p:nvGraphicFramePr>
        <p:xfrm>
          <a:off x="1941384" y="1667017"/>
          <a:ext cx="568685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3427"/>
                <a:gridCol w="2843427"/>
              </a:tblGrid>
              <a:tr h="2477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가장 낮은 사망률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가장 높은 사망률</a:t>
                      </a:r>
                      <a:endParaRPr lang="ko-KR" altLang="en-US" sz="1400" dirty="0"/>
                    </a:p>
                  </a:txBody>
                  <a:tcPr/>
                </a:tc>
              </a:tr>
              <a:tr h="24772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dirty="0" err="1" smtClean="0"/>
                        <a:t>쉐보레</a:t>
                      </a:r>
                      <a:r>
                        <a:rPr lang="ko-KR" altLang="en-US" sz="1400" dirty="0" smtClean="0"/>
                        <a:t> </a:t>
                      </a:r>
                      <a:r>
                        <a:rPr lang="ko-KR" altLang="en-US" sz="1400" dirty="0" err="1" smtClean="0"/>
                        <a:t>아스트로</a:t>
                      </a:r>
                      <a:r>
                        <a:rPr lang="ko-KR" altLang="en-US" sz="1400" dirty="0" smtClean="0"/>
                        <a:t> </a:t>
                      </a:r>
                      <a:r>
                        <a:rPr lang="en-US" altLang="ko-KR" sz="1400" dirty="0" smtClean="0"/>
                        <a:t>(7)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dirty="0" err="1" smtClean="0"/>
                        <a:t>쉐보레</a:t>
                      </a:r>
                      <a:r>
                        <a:rPr lang="ko-KR" altLang="en-US" sz="1400" dirty="0" smtClean="0"/>
                        <a:t> </a:t>
                      </a:r>
                      <a:r>
                        <a:rPr lang="ko-KR" altLang="en-US" sz="1400" dirty="0" err="1" smtClean="0"/>
                        <a:t>블레이저</a:t>
                      </a:r>
                      <a:r>
                        <a:rPr lang="ko-KR" altLang="en-US" sz="1400" dirty="0" smtClean="0"/>
                        <a:t> </a:t>
                      </a:r>
                      <a:r>
                        <a:rPr lang="en-US" altLang="ko-KR" sz="1400" dirty="0" smtClean="0"/>
                        <a:t>(232)</a:t>
                      </a:r>
                      <a:endParaRPr lang="ko-KR" altLang="en-US" sz="1400" dirty="0"/>
                    </a:p>
                  </a:txBody>
                  <a:tcPr/>
                </a:tc>
              </a:tr>
              <a:tr h="24772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dirty="0" err="1" smtClean="0"/>
                        <a:t>인피니티</a:t>
                      </a:r>
                      <a:r>
                        <a:rPr lang="ko-KR" altLang="en-US" sz="1400" dirty="0" smtClean="0"/>
                        <a:t> </a:t>
                      </a:r>
                      <a:r>
                        <a:rPr lang="en-US" altLang="ko-KR" sz="1400" dirty="0" smtClean="0"/>
                        <a:t>G35 (11)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 smtClean="0"/>
                        <a:t>Acura RSX (202)</a:t>
                      </a:r>
                      <a:endParaRPr lang="ko-KR" altLang="en-US" sz="1400" dirty="0"/>
                    </a:p>
                  </a:txBody>
                  <a:tcPr/>
                </a:tc>
              </a:tr>
              <a:tr h="247720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 smtClean="0"/>
                        <a:t>BMW</a:t>
                      </a:r>
                      <a:r>
                        <a:rPr lang="en-US" altLang="ko-KR" sz="1400" baseline="0" dirty="0" smtClean="0"/>
                        <a:t> 7 </a:t>
                      </a:r>
                      <a:r>
                        <a:rPr lang="ko-KR" altLang="en-US" sz="1400" baseline="0" dirty="0" smtClean="0"/>
                        <a:t>시리즈 </a:t>
                      </a:r>
                      <a:r>
                        <a:rPr lang="en-US" altLang="ko-KR" sz="1400" baseline="0" dirty="0" smtClean="0"/>
                        <a:t>(11)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dirty="0" err="1" smtClean="0"/>
                        <a:t>닛산</a:t>
                      </a:r>
                      <a:r>
                        <a:rPr lang="ko-KR" altLang="en-US" sz="1400" dirty="0" smtClean="0"/>
                        <a:t> </a:t>
                      </a:r>
                      <a:r>
                        <a:rPr lang="en-US" altLang="ko-KR" sz="1400" dirty="0" smtClean="0"/>
                        <a:t>350Z</a:t>
                      </a:r>
                      <a:r>
                        <a:rPr lang="en-US" altLang="ko-KR" sz="1400" baseline="0" dirty="0" smtClean="0"/>
                        <a:t> (193)</a:t>
                      </a:r>
                      <a:endParaRPr lang="ko-KR" altLang="en-US" sz="1400" dirty="0"/>
                    </a:p>
                  </a:txBody>
                  <a:tcPr/>
                </a:tc>
              </a:tr>
              <a:tr h="24772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dirty="0" err="1" smtClean="0"/>
                        <a:t>도요타</a:t>
                      </a:r>
                      <a:r>
                        <a:rPr lang="ko-KR" altLang="en-US" sz="1400" dirty="0" smtClean="0"/>
                        <a:t> </a:t>
                      </a:r>
                      <a:r>
                        <a:rPr lang="en-US" altLang="ko-KR" sz="1400" dirty="0" smtClean="0"/>
                        <a:t>4Runner (13)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dirty="0" smtClean="0"/>
                        <a:t>기아 </a:t>
                      </a:r>
                      <a:r>
                        <a:rPr lang="ko-KR" altLang="en-US" sz="1400" dirty="0" err="1" smtClean="0"/>
                        <a:t>스펙트라</a:t>
                      </a:r>
                      <a:r>
                        <a:rPr lang="ko-KR" altLang="en-US" sz="1400" dirty="0" smtClean="0"/>
                        <a:t> </a:t>
                      </a:r>
                      <a:r>
                        <a:rPr lang="en-US" altLang="ko-KR" sz="1400" dirty="0" smtClean="0"/>
                        <a:t>(191)</a:t>
                      </a:r>
                      <a:endParaRPr lang="ko-KR" altLang="en-US" sz="1400" dirty="0"/>
                    </a:p>
                  </a:txBody>
                  <a:tcPr/>
                </a:tc>
              </a:tr>
              <a:tr h="24772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dirty="0" smtClean="0"/>
                        <a:t>아우디 </a:t>
                      </a:r>
                      <a:r>
                        <a:rPr lang="en-US" altLang="ko-KR" sz="1400" dirty="0" smtClean="0"/>
                        <a:t>A4/S4 Quattro(14)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dirty="0" err="1" smtClean="0"/>
                        <a:t>폰티악</a:t>
                      </a:r>
                      <a:r>
                        <a:rPr lang="ko-KR" altLang="en-US" sz="1400" dirty="0" smtClean="0"/>
                        <a:t> </a:t>
                      </a:r>
                      <a:r>
                        <a:rPr lang="ko-KR" altLang="en-US" sz="1400" dirty="0" err="1" smtClean="0"/>
                        <a:t>선파이어</a:t>
                      </a:r>
                      <a:r>
                        <a:rPr lang="ko-KR" altLang="en-US" sz="1400" dirty="0" smtClean="0"/>
                        <a:t> </a:t>
                      </a:r>
                      <a:r>
                        <a:rPr lang="en-US" altLang="ko-KR" sz="1400" dirty="0" smtClean="0"/>
                        <a:t>(179)</a:t>
                      </a:r>
                      <a:endParaRPr lang="ko-KR" altLang="en-US" sz="1400" dirty="0"/>
                    </a:p>
                  </a:txBody>
                  <a:tcPr/>
                </a:tc>
              </a:tr>
              <a:tr h="24772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dirty="0" err="1" smtClean="0"/>
                        <a:t>벤츠</a:t>
                      </a:r>
                      <a:r>
                        <a:rPr lang="ko-KR" altLang="en-US" sz="1400" dirty="0" smtClean="0"/>
                        <a:t> </a:t>
                      </a:r>
                      <a:r>
                        <a:rPr lang="en-US" altLang="ko-KR" sz="1400" dirty="0" smtClean="0"/>
                        <a:t>E-</a:t>
                      </a:r>
                      <a:r>
                        <a:rPr lang="ko-KR" altLang="en-US" sz="1400" dirty="0" smtClean="0"/>
                        <a:t>클래스 </a:t>
                      </a:r>
                      <a:r>
                        <a:rPr lang="en-US" altLang="ko-KR" sz="1400" dirty="0" smtClean="0"/>
                        <a:t>(14)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dirty="0" smtClean="0"/>
                        <a:t>기아 </a:t>
                      </a:r>
                      <a:r>
                        <a:rPr lang="ko-KR" altLang="en-US" sz="1400" dirty="0" err="1" smtClean="0"/>
                        <a:t>리오</a:t>
                      </a:r>
                      <a:r>
                        <a:rPr lang="ko-KR" altLang="en-US" sz="1400" baseline="0" dirty="0" smtClean="0"/>
                        <a:t> </a:t>
                      </a:r>
                      <a:r>
                        <a:rPr lang="en-US" altLang="ko-KR" sz="1400" baseline="0" dirty="0" smtClean="0"/>
                        <a:t>(175)</a:t>
                      </a:r>
                      <a:endParaRPr lang="ko-KR" altLang="en-US" sz="1400" dirty="0"/>
                    </a:p>
                  </a:txBody>
                  <a:tcPr/>
                </a:tc>
              </a:tr>
              <a:tr h="24772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dirty="0" err="1" smtClean="0"/>
                        <a:t>도요타</a:t>
                      </a:r>
                      <a:r>
                        <a:rPr lang="ko-KR" altLang="en-US" sz="1400" dirty="0" smtClean="0"/>
                        <a:t> </a:t>
                      </a:r>
                      <a:r>
                        <a:rPr lang="ko-KR" altLang="en-US" sz="1400" dirty="0" err="1" smtClean="0"/>
                        <a:t>하이랜더</a:t>
                      </a:r>
                      <a:r>
                        <a:rPr lang="en-US" altLang="ko-KR" sz="1400" dirty="0" smtClean="0"/>
                        <a:t>(14)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400" dirty="0"/>
                    </a:p>
                  </a:txBody>
                  <a:tcPr/>
                </a:tc>
              </a:tr>
              <a:tr h="24772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400" dirty="0" err="1" smtClean="0"/>
                        <a:t>벤츠</a:t>
                      </a:r>
                      <a:r>
                        <a:rPr lang="ko-KR" altLang="en-US" sz="1400" dirty="0" smtClean="0"/>
                        <a:t> </a:t>
                      </a:r>
                      <a:r>
                        <a:rPr lang="en-US" altLang="ko-KR" sz="1400" dirty="0" smtClean="0"/>
                        <a:t>M-</a:t>
                      </a:r>
                      <a:r>
                        <a:rPr lang="ko-KR" altLang="en-US" sz="1400" dirty="0" smtClean="0"/>
                        <a:t>클래스</a:t>
                      </a:r>
                      <a:r>
                        <a:rPr lang="en-US" altLang="ko-KR" sz="1400" baseline="0" dirty="0" smtClean="0"/>
                        <a:t> (14)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92219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선형회귀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sz="2000" dirty="0" smtClean="0"/>
                  <a:t>다른 변수로부터 한 변수를 예측</a:t>
                </a:r>
                <a:endParaRPr lang="en-US" altLang="ko-KR" sz="2000" dirty="0"/>
              </a:p>
              <a:p>
                <a:pPr lvl="1"/>
                <a:r>
                  <a:rPr lang="ko-KR" altLang="en-US" sz="1800" dirty="0" smtClean="0"/>
                  <a:t>직업 훈련 프로그램 관리자는 훈련기간과 훈련 후 기능 시험과의 관계</a:t>
                </a:r>
                <a:endParaRPr lang="en-US" altLang="ko-KR" sz="1800" dirty="0" smtClean="0"/>
              </a:p>
              <a:p>
                <a:pPr lvl="1"/>
                <a:r>
                  <a:rPr lang="ko-KR" altLang="en-US" sz="1800" dirty="0" smtClean="0"/>
                  <a:t>수목 관리원은 나무 </a:t>
                </a:r>
                <a:r>
                  <a:rPr lang="ko-KR" altLang="en-US" sz="1800" dirty="0" err="1" smtClean="0"/>
                  <a:t>밑둥</a:t>
                </a:r>
                <a:r>
                  <a:rPr lang="ko-KR" altLang="en-US" sz="1800" dirty="0" smtClean="0"/>
                  <a:t> 직경으로부터 생산 목재의 양</a:t>
                </a:r>
                <a:endParaRPr lang="en-US" altLang="ko-KR" sz="1800" dirty="0" smtClean="0"/>
              </a:p>
              <a:p>
                <a:pPr lvl="1"/>
                <a:r>
                  <a:rPr lang="ko-KR" altLang="en-US" sz="1800" dirty="0" smtClean="0"/>
                  <a:t>의료기술자는 호흡측정기의 판독으로부터 혈중 알코올 농도</a:t>
                </a:r>
                <a:endParaRPr lang="en-US" altLang="ko-KR" sz="1800" dirty="0" smtClean="0"/>
              </a:p>
              <a:p>
                <a:pPr lvl="1"/>
                <a:endParaRPr lang="en-US" altLang="ko-KR" sz="1800" dirty="0" smtClean="0"/>
              </a:p>
              <a:p>
                <a:r>
                  <a:rPr lang="ko-KR" altLang="en-US" sz="2000" dirty="0" smtClean="0"/>
                  <a:t>예측</a:t>
                </a:r>
                <a:r>
                  <a:rPr lang="en-US" altLang="ko-KR" sz="2000" dirty="0" smtClean="0"/>
                  <a:t>(predictor) </a:t>
                </a:r>
                <a:r>
                  <a:rPr lang="ko-KR" altLang="en-US" sz="2000" dirty="0" smtClean="0"/>
                  <a:t>또는 입력</a:t>
                </a:r>
                <a:r>
                  <a:rPr lang="en-US" altLang="ko-KR" sz="2000" dirty="0" smtClean="0"/>
                  <a:t>(input)</a:t>
                </a:r>
                <a:r>
                  <a:rPr lang="ko-KR" altLang="en-US" sz="2000" dirty="0" smtClean="0"/>
                  <a:t>변수는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ko-KR" altLang="en-US" sz="2000" i="1" dirty="0">
                        <a:latin typeface="Cambria Math" panose="02040503050406030204" pitchFamily="18" charset="0"/>
                      </a:rPr>
                      <m:t>로</m:t>
                    </m:r>
                  </m:oMath>
                </a14:m>
                <a:r>
                  <a:rPr lang="ko-KR" altLang="en-US" sz="2000" dirty="0" smtClean="0"/>
                  <a:t> 나타내고 반응</a:t>
                </a:r>
                <a:r>
                  <a:rPr lang="en-US" altLang="ko-KR" sz="2000" dirty="0" smtClean="0"/>
                  <a:t>(response) </a:t>
                </a:r>
                <a:r>
                  <a:rPr lang="ko-KR" altLang="en-US" sz="2000" dirty="0" smtClean="0"/>
                  <a:t>또는 출력</a:t>
                </a:r>
                <a:r>
                  <a:rPr lang="en-US" altLang="ko-KR" sz="2000" dirty="0" smtClean="0"/>
                  <a:t>(output)</a:t>
                </a:r>
                <a:r>
                  <a:rPr lang="ko-KR" altLang="en-US" sz="2000" dirty="0" smtClean="0"/>
                  <a:t>변수는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sz="2000" dirty="0" smtClean="0"/>
                  <a:t>로 나타냄</a:t>
                </a:r>
                <a:endParaRPr lang="en-US" altLang="ko-KR" sz="2000" dirty="0" smtClean="0"/>
              </a:p>
              <a:p>
                <a:pPr lvl="1"/>
                <a:r>
                  <a:rPr lang="ko-KR" altLang="en-US" sz="1800" dirty="0" smtClean="0"/>
                  <a:t>실험 데이터로부터 </a:t>
                </a:r>
                <a14:m>
                  <m:oMath xmlns:m="http://schemas.openxmlformats.org/officeDocument/2006/math"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sz="1800" dirty="0" smtClean="0"/>
                  <a:t>와 </a:t>
                </a:r>
                <a14:m>
                  <m:oMath xmlns:m="http://schemas.openxmlformats.org/officeDocument/2006/math"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sz="1800" dirty="0" smtClean="0"/>
                  <a:t>의 관계의 특성을 찾아</a:t>
                </a:r>
                <a:endParaRPr lang="en-US" altLang="ko-KR" sz="1800" dirty="0" smtClean="0"/>
              </a:p>
              <a:p>
                <a:pPr lvl="1"/>
                <a:r>
                  <a:rPr lang="ko-KR" altLang="en-US" sz="1800" dirty="0" smtClean="0"/>
                  <a:t>이 관계를 이용</a:t>
                </a:r>
                <a:r>
                  <a:rPr lang="en-US" altLang="ko-KR" sz="1800" dirty="0" smtClean="0"/>
                  <a:t>,</a:t>
                </a:r>
                <a:r>
                  <a:rPr lang="ko-KR" altLang="en-US" sz="1800" dirty="0" smtClean="0"/>
                  <a:t> 입력변수 </a:t>
                </a:r>
                <a14:m>
                  <m:oMath xmlns:m="http://schemas.openxmlformats.org/officeDocument/2006/math"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sz="1800" dirty="0" smtClean="0"/>
                  <a:t>로부터 반응변수 </a:t>
                </a:r>
                <a14:m>
                  <m:oMath xmlns:m="http://schemas.openxmlformats.org/officeDocument/2006/math"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sz="1800" dirty="0" smtClean="0"/>
                  <a:t>를 예측하는 것이 목적</a:t>
                </a:r>
                <a:endParaRPr lang="en-US" altLang="ko-KR" sz="1800" dirty="0" smtClean="0"/>
              </a:p>
              <a:p>
                <a:pPr lvl="1"/>
                <a:endParaRPr lang="en-US" altLang="ko-KR" sz="1800" dirty="0" smtClean="0"/>
              </a:p>
              <a:p>
                <a:r>
                  <a:rPr lang="ko-KR" altLang="en-US" sz="2000" dirty="0" smtClean="0"/>
                  <a:t>첫 단계는 </a:t>
                </a:r>
                <a:r>
                  <a:rPr lang="ko-KR" altLang="en-US" sz="2000" dirty="0" err="1" smtClean="0"/>
                  <a:t>산점도를</a:t>
                </a:r>
                <a:r>
                  <a:rPr lang="ko-KR" altLang="en-US" sz="2000" dirty="0" smtClean="0"/>
                  <a:t> 통하여 관계 조사</a:t>
                </a:r>
                <a:endParaRPr lang="en-US" altLang="ko-KR" sz="2000" dirty="0" smtClean="0"/>
              </a:p>
              <a:p>
                <a:r>
                  <a:rPr lang="ko-KR" altLang="en-US" sz="2000" dirty="0" smtClean="0"/>
                  <a:t>만일 선형관계가 나타나면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ko-KR" altLang="en-US" sz="2000" dirty="0" smtClean="0"/>
                  <a:t>을 계산하여 강도를 확인</a:t>
                </a:r>
                <a:endParaRPr lang="ko-KR" altLang="en-US" sz="2000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522" t="-14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04628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직선의 방정식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7421070" cy="4351338"/>
              </a:xfrm>
            </p:spPr>
            <p:txBody>
              <a:bodyPr>
                <a:normAutofit/>
              </a:bodyPr>
              <a:lstStyle/>
              <a:p>
                <a:r>
                  <a:rPr lang="ko-KR" altLang="en-US" sz="2000" dirty="0" smtClean="0"/>
                  <a:t>최소제곱법이라는 방법을 이용하여 데이터를 가장 잘 </a:t>
                </a:r>
                <a:r>
                  <a:rPr lang="ko-KR" altLang="en-US" sz="2000" dirty="0" err="1" smtClean="0"/>
                  <a:t>적합하는</a:t>
                </a:r>
                <a:r>
                  <a:rPr lang="ko-KR" altLang="en-US" sz="2000" dirty="0" smtClean="0"/>
                  <a:t> 직선을 찾는다</a:t>
                </a:r>
                <a:r>
                  <a:rPr lang="en-US" altLang="ko-KR" sz="2000" dirty="0" smtClean="0"/>
                  <a:t>.</a:t>
                </a:r>
              </a:p>
              <a:p>
                <a:endParaRPr lang="en-US" altLang="ko-KR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̂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altLang="ko-KR" sz="2000" dirty="0" smtClean="0"/>
              </a:p>
              <a:p>
                <a:pPr marL="0" indent="0">
                  <a:buNone/>
                </a:pPr>
                <a:r>
                  <a:rPr lang="ko-KR" altLang="en-US" sz="2000" dirty="0" smtClean="0"/>
                  <a:t>여기서</a:t>
                </a:r>
                <a:endParaRPr lang="en-US" altLang="ko-KR" sz="20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0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기</m:t>
                      </m:r>
                      <m:r>
                        <a:rPr lang="ko-KR" altLang="en-US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울</m:t>
                      </m:r>
                      <m:r>
                        <a:rPr lang="ko-KR" altLang="en-US" sz="20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기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̂"/>
                          <m:ctrlPr>
                            <a:rPr lang="ko-KR" altLang="en-US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𝑥𝑥</m:t>
                              </m:r>
                            </m:sub>
                          </m:sSub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r>
                  <a:rPr lang="en-US" altLang="ko-KR" sz="2000" b="0" dirty="0" smtClean="0"/>
                  <a:t/>
                </a:r>
                <a:br>
                  <a:rPr lang="en-US" altLang="ko-KR" sz="2000" b="0" dirty="0" smtClean="0"/>
                </a:br>
                <a:endParaRPr lang="en-US" altLang="ko-KR" sz="2000" b="0" dirty="0" smtClean="0"/>
              </a:p>
              <a:p>
                <a:pPr marL="0" indent="0">
                  <a:buNone/>
                </a:pPr>
                <a:endParaRPr lang="en-US" altLang="ko-KR" sz="200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00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절</m:t>
                      </m:r>
                      <m:r>
                        <a:rPr lang="ko-KR" altLang="en-US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편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acc>
                        <m:accPr>
                          <m:chr m:val="̂"/>
                          <m:ctrlPr>
                            <a:rPr lang="ko-KR" altLang="en-US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acc>
                        <m:accPr>
                          <m:chr m:val="̅"/>
                          <m:ctrlPr>
                            <a:rPr lang="ko-KR" altLang="en-US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ko-KR" altLang="en-US" sz="2000" dirty="0"/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7421070" cy="4351338"/>
              </a:xfrm>
              <a:blipFill rotWithShape="0">
                <a:blip r:embed="rId2"/>
                <a:stretch>
                  <a:fillRect l="-904" t="-14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5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59270" y="2490487"/>
            <a:ext cx="3932729" cy="2402789"/>
          </a:xfrm>
          <a:noFill/>
        </p:spPr>
      </p:pic>
    </p:spTree>
    <p:extLst>
      <p:ext uri="{BB962C8B-B14F-4D97-AF65-F5344CB8AC3E}">
        <p14:creationId xmlns:p14="http://schemas.microsoft.com/office/powerpoint/2010/main" val="8676358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최소제곱에 의해 </a:t>
            </a:r>
            <a:r>
              <a:rPr lang="ko-KR" altLang="en-US" dirty="0" err="1" smtClean="0"/>
              <a:t>적합된</a:t>
            </a:r>
            <a:r>
              <a:rPr lang="ko-KR" altLang="en-US" dirty="0" smtClean="0"/>
              <a:t> 직선의 계산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589108" cy="435133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ko-KR" altLang="en-US" sz="2000" dirty="0" smtClean="0"/>
                  <a:t>용매의 농도</a:t>
                </a:r>
                <a:r>
                  <a:rPr lang="en-US" altLang="ko-KR" sz="2000" dirty="0" smtClean="0"/>
                  <a:t>(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sz="2000" dirty="0" smtClean="0"/>
                  <a:t>)</a:t>
                </a:r>
                <a:r>
                  <a:rPr lang="ko-KR" altLang="en-US" sz="2000" dirty="0" smtClean="0"/>
                  <a:t>와 페인트칠이 건조되는 시간</a:t>
                </a:r>
                <a:r>
                  <a:rPr lang="en-US" altLang="ko-KR" sz="2000" dirty="0" smtClean="0"/>
                  <a:t>(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sz="2000" dirty="0" smtClean="0"/>
                  <a:t>)</a:t>
                </a:r>
                <a:r>
                  <a:rPr lang="ko-KR" altLang="en-US" sz="2000" dirty="0" smtClean="0"/>
                  <a:t>과의 관계</a:t>
                </a:r>
                <a:endParaRPr lang="en-US" altLang="ko-KR" sz="2000" dirty="0" smtClean="0"/>
              </a:p>
              <a:p>
                <a:endParaRPr lang="en-US" altLang="ko-KR" sz="2000" dirty="0"/>
              </a:p>
              <a:p>
                <a:endParaRPr lang="en-US" altLang="ko-KR" sz="2000" dirty="0" smtClean="0"/>
              </a:p>
              <a:p>
                <a:endParaRPr lang="en-US" altLang="ko-KR" sz="2000" dirty="0"/>
              </a:p>
              <a:p>
                <a:endParaRPr lang="en-US" altLang="ko-KR" sz="2000" dirty="0" smtClean="0"/>
              </a:p>
              <a:p>
                <a:endParaRPr lang="en-US" altLang="ko-KR" sz="2000" dirty="0"/>
              </a:p>
              <a:p>
                <a:endParaRPr lang="en-US" altLang="ko-KR" sz="2000" dirty="0" smtClean="0"/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=2,  </m:t>
                    </m:r>
                    <m:acc>
                      <m:accPr>
                        <m:chr m:val="̅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altLang="ko-KR" sz="2000" b="0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𝑥𝑥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=30−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=10,   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𝑦𝑦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=165−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25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=40,  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=66−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×25</m:t>
                        </m:r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=16</m:t>
                    </m:r>
                  </m:oMath>
                </a14:m>
                <a:endParaRPr lang="en-US" altLang="ko-KR" sz="2000" dirty="0" smtClean="0"/>
              </a:p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40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×10</m:t>
                            </m:r>
                          </m:e>
                        </m:rad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=0.8,    </m:t>
                    </m:r>
                    <m:acc>
                      <m:accPr>
                        <m:chr m:val="̂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=1.6,    </m:t>
                    </m:r>
                    <m:acc>
                      <m:accPr>
                        <m:chr m:val="̂"/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=5−1.6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×2=1.8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2000" dirty="0" smtClean="0"/>
                  <a:t>  </a:t>
                </a:r>
              </a:p>
              <a:p>
                <a:r>
                  <a:rPr lang="ko-KR" altLang="en-US" sz="2000" dirty="0" smtClean="0"/>
                  <a:t>적합한 직선의 방정식 </a:t>
                </a:r>
                <a:r>
                  <a:rPr lang="en-US" altLang="ko-KR" sz="2000" dirty="0" smtClean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=1.8+1.6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sz="2000" dirty="0" smtClean="0"/>
                  <a:t> </a:t>
                </a:r>
              </a:p>
              <a:p>
                <a:endParaRPr lang="en-US" altLang="ko-KR" dirty="0"/>
              </a:p>
              <a:p>
                <a:endParaRPr lang="en-US" altLang="ko-KR" dirty="0" smtClean="0"/>
              </a:p>
              <a:p>
                <a:endParaRPr lang="en-US" altLang="ko-KR" dirty="0"/>
              </a:p>
              <a:p>
                <a:endParaRPr lang="en-US" altLang="ko-KR" dirty="0" smtClean="0"/>
              </a:p>
              <a:p>
                <a:endParaRPr lang="en-US" altLang="ko-KR" dirty="0"/>
              </a:p>
              <a:p>
                <a:endParaRPr lang="en-US" altLang="ko-KR" dirty="0" smtClean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589108" cy="4351338"/>
              </a:xfrm>
              <a:blipFill rotWithShape="0">
                <a:blip r:embed="rId2"/>
                <a:stretch>
                  <a:fillRect l="-643" t="-21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4079856"/>
                  </p:ext>
                </p:extLst>
              </p:nvPr>
            </p:nvGraphicFramePr>
            <p:xfrm>
              <a:off x="1463591" y="2177765"/>
              <a:ext cx="6024605" cy="213836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04921"/>
                    <a:gridCol w="1466885"/>
                    <a:gridCol w="980302"/>
                    <a:gridCol w="1252152"/>
                    <a:gridCol w="1120345"/>
                  </a:tblGrid>
                  <a:tr h="225527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 smtClean="0"/>
                            <a:t>농도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140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1400" i="1" dirty="0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altLang="ko-KR" sz="140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 smtClean="0"/>
                            <a:t>건조시간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US" altLang="ko-KR" sz="1400" dirty="0" smtClean="0"/>
                            <a:t>(</a:t>
                          </a:r>
                          <a:r>
                            <a:rPr lang="ko-KR" altLang="en-US" sz="1400" dirty="0" smtClean="0"/>
                            <a:t>분</a:t>
                          </a:r>
                          <a:r>
                            <a:rPr lang="en-US" altLang="ko-KR" sz="1400" dirty="0" smtClean="0"/>
                            <a:t>)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400" b="1" i="1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400" b="1" i="1" baseline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altLang="ko-KR" sz="1400" b="1" i="1" baseline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p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</a:rPr>
                                  <m:t>𝒙𝒚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</a:tr>
                  <a:tr h="225527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0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1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0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1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0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225527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1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1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25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5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225527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2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3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4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9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6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225527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3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9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9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81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27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225527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4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7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16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49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28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225527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 smtClean="0"/>
                            <a:t>합계 </a:t>
                          </a:r>
                          <a:r>
                            <a:rPr lang="en-US" altLang="ko-KR" sz="1400" dirty="0" smtClean="0"/>
                            <a:t>10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25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30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165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66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4079856"/>
                  </p:ext>
                </p:extLst>
              </p:nvPr>
            </p:nvGraphicFramePr>
            <p:xfrm>
              <a:off x="1463591" y="2177765"/>
              <a:ext cx="6024605" cy="213836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04921"/>
                    <a:gridCol w="1466885"/>
                    <a:gridCol w="980302"/>
                    <a:gridCol w="1252152"/>
                    <a:gridCol w="1120345"/>
                  </a:tblGrid>
                  <a:tr h="309563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505" t="-3922" r="-401515" b="-6098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82573" t="-3922" r="-229876" b="-6098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73292" t="-3922" r="-244099" b="-6098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93171" t="-3922" r="-91707" b="-6098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438043" t="-3922" r="-2174" b="-609804"/>
                          </a:stretch>
                        </a:blipFill>
                      </a:tcPr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0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1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0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1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0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1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1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25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5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2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3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4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9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6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3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9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9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81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27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4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7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16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49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28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 smtClean="0"/>
                            <a:t>합계 </a:t>
                          </a:r>
                          <a:r>
                            <a:rPr lang="en-US" altLang="ko-KR" sz="1400" dirty="0" smtClean="0"/>
                            <a:t>10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25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30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165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 smtClean="0"/>
                            <a:t>66</a:t>
                          </a:r>
                          <a:endParaRPr lang="ko-KR" altLang="en-US" sz="14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9108" y="1825625"/>
            <a:ext cx="3981659" cy="2986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12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표본상관계수와 선형회귀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표본상관계수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ko-KR" altLang="en-US" dirty="0" smtClean="0"/>
                  <a:t>은 두 변수 사이 관계의 척도 </a:t>
                </a:r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ko-KR" altLang="en-US" dirty="0" smtClean="0"/>
                  <a:t>이 </a:t>
                </a:r>
                <a:r>
                  <a:rPr lang="en-US" altLang="ko-KR" dirty="0" smtClean="0"/>
                  <a:t>1</a:t>
                </a:r>
                <a:r>
                  <a:rPr lang="ko-KR" altLang="en-US" dirty="0" smtClean="0"/>
                  <a:t>이나 </a:t>
                </a:r>
                <a:r>
                  <a:rPr lang="en-US" altLang="ko-KR" dirty="0" smtClean="0"/>
                  <a:t>-1</a:t>
                </a:r>
                <a:r>
                  <a:rPr lang="ko-KR" altLang="en-US" dirty="0" smtClean="0"/>
                  <a:t>에 가까울 때</a:t>
                </a:r>
                <a:r>
                  <a:rPr lang="en-US" altLang="ko-KR" dirty="0" smtClean="0"/>
                  <a:t>, </a:t>
                </a:r>
                <a:r>
                  <a:rPr lang="ko-KR" altLang="en-US" dirty="0" err="1" smtClean="0"/>
                  <a:t>산점도에</a:t>
                </a:r>
                <a:r>
                  <a:rPr lang="ko-KR" altLang="en-US" dirty="0" smtClean="0"/>
                  <a:t> 있는 점들은 직선 주위에 밀집해 있고 관련성이 높다</a:t>
                </a:r>
                <a:r>
                  <a:rPr lang="en-US" altLang="ko-KR" dirty="0" smtClean="0"/>
                  <a:t>.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ko-KR" altLang="en-US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 dirty="0" smtClean="0"/>
                  <a:t> 값이 </a:t>
                </a:r>
                <a:r>
                  <a:rPr lang="en-US" altLang="ko-KR" dirty="0" smtClean="0"/>
                  <a:t>1</a:t>
                </a:r>
                <a:r>
                  <a:rPr lang="ko-KR" altLang="en-US" dirty="0" smtClean="0"/>
                  <a:t>에 가까울 때</a:t>
                </a:r>
                <a:r>
                  <a:rPr lang="en-US" altLang="ko-KR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dirty="0" smtClean="0"/>
                  <a:t>의 값으로부터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dirty="0" smtClean="0"/>
                  <a:t>의 값을 예측할 수 있다</a:t>
                </a:r>
                <a:r>
                  <a:rPr lang="en-US" altLang="ko-KR" dirty="0" smtClean="0"/>
                  <a:t>.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𝑟</m:t>
                    </m:r>
                    <m:rad>
                      <m:radPr>
                        <m:deg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𝑦𝑦</m:t>
                            </m:r>
                          </m:sub>
                        </m:sSub>
                      </m:e>
                    </m:ra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𝑥𝑥</m:t>
                            </m:r>
                          </m:sub>
                        </m:sSub>
                      </m:e>
                    </m:rad>
                    <m:r>
                      <a:rPr lang="ko-KR" altLang="en-US" i="1"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ko-KR" altLang="en-US" dirty="0" smtClean="0"/>
                  <a:t>므로 최소제곱직선의 기울기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ko-KR" altLang="en-US" dirty="0" smtClean="0"/>
                  <a:t>과 표본상관계수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ko-KR" altLang="en-US" dirty="0" smtClean="0"/>
                  <a:t>은 관련이 있다</a:t>
                </a:r>
                <a:r>
                  <a:rPr lang="en-US" altLang="ko-KR" dirty="0" smtClean="0"/>
                  <a:t>.</a:t>
                </a:r>
              </a:p>
              <a:p>
                <a:pPr lvl="1"/>
                <a:r>
                  <a:rPr lang="ko-KR" altLang="en-US" dirty="0" smtClean="0"/>
                  <a:t>표본상관계수가 양이면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ko-KR" altLang="en-US" dirty="0" smtClean="0"/>
                  <a:t>도 양수</a:t>
                </a:r>
                <a:endParaRPr lang="en-US" altLang="ko-KR" dirty="0" smtClean="0"/>
              </a:p>
              <a:p>
                <a:pPr lvl="1"/>
                <a:r>
                  <a:rPr lang="ko-KR" altLang="en-US" dirty="0"/>
                  <a:t>표본상관계수가 </a:t>
                </a:r>
                <a:r>
                  <a:rPr lang="ko-KR" altLang="en-US" dirty="0" smtClean="0"/>
                  <a:t>음이면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ko-KR" altLang="en-US" dirty="0"/>
                  <a:t>도 </a:t>
                </a:r>
                <a:r>
                  <a:rPr lang="ko-KR" altLang="en-US" dirty="0" smtClean="0"/>
                  <a:t>음수</a:t>
                </a:r>
                <a:endParaRPr lang="en-US" altLang="ko-KR" dirty="0" smtClean="0"/>
              </a:p>
              <a:p>
                <a:pPr lvl="1"/>
                <a:r>
                  <a:rPr lang="ko-KR" altLang="en-US" dirty="0"/>
                  <a:t>표본상관계수가 </a:t>
                </a:r>
                <a:r>
                  <a:rPr lang="en-US" altLang="ko-KR" dirty="0" smtClean="0"/>
                  <a:t>0</a:t>
                </a:r>
                <a:r>
                  <a:rPr lang="ko-KR" altLang="en-US" dirty="0" smtClean="0"/>
                  <a:t>이면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ko-KR" altLang="en-US" dirty="0"/>
                  <a:t>도 </a:t>
                </a:r>
                <a:r>
                  <a:rPr lang="en-US" altLang="ko-KR" dirty="0"/>
                  <a:t>0</a:t>
                </a:r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 smtClean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52574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4118"/>
          </a:xfrm>
        </p:spPr>
        <p:txBody>
          <a:bodyPr/>
          <a:lstStyle/>
          <a:p>
            <a:r>
              <a:rPr lang="ko-KR" altLang="en-US" dirty="0" smtClean="0"/>
              <a:t>현명하게 통계 사용하기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499287"/>
            <a:ext cx="10515600" cy="4817719"/>
          </a:xfrm>
        </p:spPr>
        <p:txBody>
          <a:bodyPr>
            <a:normAutofit/>
          </a:bodyPr>
          <a:lstStyle/>
          <a:p>
            <a:r>
              <a:rPr lang="ko-KR" altLang="en-US" sz="2400" dirty="0" smtClean="0"/>
              <a:t>두 변수 사이의 연관성을 조사하기 위해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얻어진 값들의 쌍을 수집</a:t>
            </a:r>
            <a:endParaRPr lang="en-US" altLang="ko-KR" sz="2400" dirty="0" smtClean="0"/>
          </a:p>
          <a:p>
            <a:r>
              <a:rPr lang="ko-KR" altLang="en-US" sz="2400" dirty="0" smtClean="0"/>
              <a:t>두 변수가 범주형일 때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이원분류표에 빈도수를 집계</a:t>
            </a:r>
            <a:endParaRPr lang="en-US" altLang="ko-KR" sz="2400" dirty="0" smtClean="0"/>
          </a:p>
          <a:p>
            <a:pPr lvl="1"/>
            <a:r>
              <a:rPr lang="ko-KR" altLang="en-US" sz="2000" dirty="0" smtClean="0"/>
              <a:t>전체 개수에 근거한 상대도수 계산</a:t>
            </a:r>
            <a:endParaRPr lang="en-US" altLang="ko-KR" sz="2000" dirty="0" smtClean="0"/>
          </a:p>
          <a:p>
            <a:r>
              <a:rPr lang="ko-KR" altLang="en-US" sz="2400" dirty="0" smtClean="0"/>
              <a:t>값이 수치인 변수 쌍 사이의 관계를 알아보기 위해</a:t>
            </a:r>
            <a:r>
              <a:rPr lang="en-US" altLang="ko-KR" sz="2400" dirty="0" smtClean="0"/>
              <a:t>, </a:t>
            </a:r>
            <a:r>
              <a:rPr lang="ko-KR" altLang="en-US" sz="2400" dirty="0" err="1" smtClean="0"/>
              <a:t>산점도를</a:t>
            </a:r>
            <a:r>
              <a:rPr lang="ko-KR" altLang="en-US" sz="2400" dirty="0" smtClean="0"/>
              <a:t> 작성하고 관계의 형태를 찾아보라</a:t>
            </a:r>
            <a:r>
              <a:rPr lang="en-US" altLang="ko-KR" sz="2400" dirty="0" smtClean="0"/>
              <a:t>.</a:t>
            </a:r>
          </a:p>
          <a:p>
            <a:r>
              <a:rPr lang="ko-KR" altLang="en-US" sz="2400" dirty="0" smtClean="0"/>
              <a:t>인과 관계와 강한 상관 관계를 혼돈하지 말 것</a:t>
            </a:r>
            <a:r>
              <a:rPr lang="en-US" altLang="ko-KR" sz="2400" dirty="0" smtClean="0"/>
              <a:t>. </a:t>
            </a:r>
            <a:r>
              <a:rPr lang="ko-KR" altLang="en-US" sz="2400" dirty="0" smtClean="0"/>
              <a:t>이 관계는 잠복변수 때문일 수 있음</a:t>
            </a:r>
            <a:endParaRPr lang="en-US" altLang="ko-KR" sz="2400" dirty="0" smtClean="0"/>
          </a:p>
          <a:p>
            <a:r>
              <a:rPr lang="ko-KR" altLang="en-US" sz="2400" dirty="0" smtClean="0"/>
              <a:t>상관계수는 직선 주위에 점들이 밀집되어 있는 정도를 측정</a:t>
            </a:r>
            <a:r>
              <a:rPr lang="en-US" altLang="ko-KR" sz="2400" dirty="0" smtClean="0"/>
              <a:t>.</a:t>
            </a:r>
          </a:p>
          <a:p>
            <a:pPr lvl="1"/>
            <a:r>
              <a:rPr lang="ko-KR" altLang="en-US" sz="2000" dirty="0" smtClean="0"/>
              <a:t>곡선이나 서로 다른 점들의 그룹에 대한 관계는 적합하지 않음</a:t>
            </a:r>
            <a:endParaRPr lang="en-US" altLang="ko-KR" sz="2000" dirty="0" smtClean="0"/>
          </a:p>
          <a:p>
            <a:r>
              <a:rPr lang="ko-KR" altLang="en-US" sz="2400" dirty="0" smtClean="0"/>
              <a:t>다른 변수로부터 한 변수를 예측하기 위해 </a:t>
            </a:r>
            <a:r>
              <a:rPr lang="ko-KR" altLang="en-US" sz="2400" dirty="0" err="1" smtClean="0"/>
              <a:t>적합된</a:t>
            </a:r>
            <a:r>
              <a:rPr lang="ko-KR" altLang="en-US" sz="2400" dirty="0" smtClean="0"/>
              <a:t> 직선을 사용하기 전에 </a:t>
            </a:r>
            <a:r>
              <a:rPr lang="ko-KR" altLang="en-US" sz="2400" dirty="0" err="1" smtClean="0"/>
              <a:t>산점도를</a:t>
            </a:r>
            <a:r>
              <a:rPr lang="ko-KR" altLang="en-US" sz="2400" dirty="0" smtClean="0"/>
              <a:t> 작성하고 직선관계가 적합한지 형태를 살펴보라</a:t>
            </a:r>
            <a:r>
              <a:rPr lang="en-US" altLang="ko-KR" sz="2400" dirty="0" smtClean="0"/>
              <a:t>.</a:t>
            </a:r>
          </a:p>
          <a:p>
            <a:endParaRPr lang="en-US" altLang="ko-KR" sz="2400" dirty="0" smtClean="0"/>
          </a:p>
        </p:txBody>
      </p:sp>
    </p:spTree>
    <p:extLst>
      <p:ext uri="{BB962C8B-B14F-4D97-AF65-F5344CB8AC3E}">
        <p14:creationId xmlns:p14="http://schemas.microsoft.com/office/powerpoint/2010/main" val="3069807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</TotalTime>
  <Words>1482</Words>
  <Application>Microsoft Office PowerPoint</Application>
  <PresentationFormat>와이드스크린</PresentationFormat>
  <Paragraphs>503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1" baseType="lpstr">
      <vt:lpstr>맑은 고딕</vt:lpstr>
      <vt:lpstr>Arial</vt:lpstr>
      <vt:lpstr>Cambria Math</vt:lpstr>
      <vt:lpstr>Wingdings</vt:lpstr>
      <vt:lpstr>Office 테마</vt:lpstr>
      <vt:lpstr>이변량 데이터의 기술 연구</vt:lpstr>
      <vt:lpstr>서론</vt:lpstr>
      <vt:lpstr>이변량 범주형 데이터의 요약</vt:lpstr>
      <vt:lpstr>작업 시간의 교차 분류된 데이터</vt:lpstr>
      <vt:lpstr>심슨의 역설(Simpson's paradox)</vt:lpstr>
      <vt:lpstr>심슨의 역설(2)</vt:lpstr>
      <vt:lpstr>비교를 위한 실험 설계</vt:lpstr>
      <vt:lpstr>이변량 측정 데이터의 산점도</vt:lpstr>
      <vt:lpstr>산점도(scatter diagram, scatter plot)</vt:lpstr>
      <vt:lpstr>다중 산점도(multiple scatter plot)</vt:lpstr>
      <vt:lpstr>다중 산점도(2)</vt:lpstr>
      <vt:lpstr>상관계수-선형관계의 측도</vt:lpstr>
      <vt:lpstr>r과 산점도</vt:lpstr>
      <vt:lpstr>r의 계산</vt:lpstr>
      <vt:lpstr>표본상관계수의 계산식</vt:lpstr>
      <vt:lpstr>표본상관계수의 계산</vt:lpstr>
      <vt:lpstr>다른 공식으로 계산해 보기</vt:lpstr>
      <vt:lpstr>r의 특징</vt:lpstr>
      <vt:lpstr>상관과 인과관계</vt:lpstr>
      <vt:lpstr>예제 : 허위상관</vt:lpstr>
      <vt:lpstr>잠복변수</vt:lpstr>
      <vt:lpstr>선형회귀</vt:lpstr>
      <vt:lpstr>직선의 방정식</vt:lpstr>
      <vt:lpstr>최소제곱에 의해 적합된 직선의 계산</vt:lpstr>
      <vt:lpstr>표본상관계수와 선형회귀</vt:lpstr>
      <vt:lpstr>현명하게 통계 사용하기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이변량 데이터의 기술 연구</dc:title>
  <dc:creator>sw</dc:creator>
  <cp:lastModifiedBy>kyungsub@gmail.com</cp:lastModifiedBy>
  <cp:revision>101</cp:revision>
  <dcterms:created xsi:type="dcterms:W3CDTF">2016-02-29T01:19:31Z</dcterms:created>
  <dcterms:modified xsi:type="dcterms:W3CDTF">2017-02-27T06:20:09Z</dcterms:modified>
</cp:coreProperties>
</file>